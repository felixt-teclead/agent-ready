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talk: show how Matt Pocock proposes to fix the PR bottleneck, and what agent-ready already does about it.
Part 1 retells Matt's talk: three brakes and one feedback loop.
Part 2 compares Superpowers with Pocock's skills plus agent-ready, mechanism by mechanism.
The funnel is the whole idea in one picture: every layer below human review removes work before a person has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Matt's "software factory": more and more work is started by deterministic code, not by people. A classifier turns a bug report into a fix or a reproduction, a slow-query report triggers another run.
All of it pushes more code through the factory. The only thing that does not scale with it is human review.
Matt's warning: acceleration without brakes gives you a slop cannon. And because the codebase is the agent's environment, bad code begets more bad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 calls these "brakes": mechanisms that slow down and raise quality, so that the factory can go faster overall.
Layer 1, automated checks: deterministic, cost only CPU. Layer 2, automated review: agents, cost tokens. Layer 3, human review: the scarcest resource.
The goal is not to remove human review. It is to make it faster by leaning on the two layers below it. "Stop the slop": if the quality going in rises, humans intervene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examples come from Matt's own agents, "in good faith": the agent is not trying to cheat, it follows instructions and couples tests to structure.
Lie 1: Matt says Opus 5 "got addicted" to tautological tests.
Lie 2: the test never renders the page. It reads the module as text and checks that one string comes after another.
Lie 3: AudioContext has complicated error modes. Stubbing it means the tests can never hit them.
Question to the room: how often have we seen these in our own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Matt's first fix is design, not more rules. Deep modules (John Ousterhout, A Philosophy of Software Design): lots of behaviour behind a small interface.
If tests may only use the small interface, they cannot couple to the internals, so structure-sensitive tests become hard to write.
The shared words matter: "if you read up on structuring a codebase you find 20 approaches and they are all called DDD." Seam, depth, leverage, locality give the team one language.
/improve-codebase-architecture turns this into concrete candidates with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Matt's mental model: "implementation is overloaded". One context window must explore, change the files, and keep budget for debugging and checks. Add coding standards on top and it performs worse.
The reviewer gets the diff, explores a bit for context, and does not implement or debug. So it has room: "pile in a bunch of coding standards and it will do a much better job."
Uncomfortable but freeing: stop trying to get good code in one shot. Implement makes it work, review makes it good. Retro developers will recognise red, green, refactor.
Consequence for our files: coding standards do not go in AGENTS.md. They go in CODING_STANDARDS.md, which only the review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teams say "we use CodeRabbit or Bugbot". Matt tried to build a generic reviewer and found it is either too general, with false positives, or too specific, like TypeScript only.
So: build your own. Grow the standards file over time, share it across the team. If you have docs nobody reads, this is where they become useful.
Second rule: a reviewer that comments creates more work for the human. It should commit the fixes, so the human reviews a nice artifact. Comments only when it has a real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principle: some reviews matter more than others. Matt borrows AWS's door language.
A two-way door can be walked back: merge now, revert later. That is most PRs, and the benefit of being a software engineer instead of a civil engineer.
A one-way door cannot: an expensive migration, data loss, a change that accidentally emails 60,000 people. "Review the hell out of that PR."
Blast radius says how bad it gets if it goes wrong. Both end up in a "merge danger" line at the bottom of every PR.
Second principle: make the "what" fast to grasp. Pseudo-code and small diagrams beat paragraphs. Matt credits the show-me skill by Dex Horthy.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all collaborate on the same skill files and steering files, the process that produces the code matters as much as the code.
So a human review should review the system, not only the diff. Matt's test: you should never catch the agent doing the same thing in two PRs.
The mechanism is a new skill, /retro. Point it at a session, at a PR plus its session, or at a week of PRs and reviews. It suggests checks, standards, navigation pointers, tool economy and trims for bloat.
Its rule of thumb: a mechanical mistake gets a deterministic check. Only judgment calls go into CODING_STANDARDS.md.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talk in six rules. Colours match the layers: teal is the checks, indigo the automated review, orange the human review, violet the loop.
Matt's closing line: layer up checks, layer up automated review, and make human review as painless and as optional as you need it to be. Every one-way door still gets a real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agent-ready is our plugin. It installs Pocock's skills pinned to a tag, and adds what a company repo needs around them: setup, a scan, cleanup, comment review, a migration, and gates.
For each of Matt's mechanisms: what Superpowers does, what Pocock's skills plus agent-ready do, and where we are still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Superpowers: it is excellent inside one session. Its TDD and verification rules are stricter than ours.
The difference is where the rules live. Superpowers ships its process in the plugin, installed per person, loaded by a session-start hook. Its reviewers use a checklist from the plugin.
Pocock's skills plus agent-ready put the rules into the repo: AGENTS.md, CODING_STANDARDS.md, CONTEXT.md, ADRs, issues. They are versioned, and a human merges every change to them.
That matters for Matt's third brake: you can only review the system that writes the code if the system lives where you review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row by row, and be honest about where Superpowers wins.
Row 2: Superpowers' writing-good-tests.md is the sharpest text anywhere on lying tests. It names mirror asserts, change detectors like expect(MAX_RETRIES).toBe(5), and tests that grep source text. We should borrow from it.
Rows 5 to 7 are where the approaches split. Superpowers' reviewer uses its own generic checklist and never reads a repo standards file. That is the generic reviewer Matt warns against. Ours reads CODING_STANDARDS.md, which the team owns.
Neither side fully has "the reviewer commits": in both, the implementer fixes the findings. agent-ready's comment review is the one reviewer that commits.
Only agent-ready has a hard gate: a PreToolUse hook blocks git push and gh pr create until comment review stamped the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Brake 3 and the loop are where both sides are thinnest, and the slide says so.
Superpowers has no PR body template and no retro. Its per-plan ledger is deleted at the end, and its diagnosing skill files issues upstream at Superpowers, not in your repo.
Our PR bodies come from the AFK hand-back file. Door and blast radius arrive with Pocock's /pr, which is still in beta and not in the pinned version.
The governance rows are the strongest argument for the repo approach. A Superpowers update changes behaviour in every repo at once, and nobody reviews a diff. In agent-ready, a change to the rules is a steering diff, and a human merges it.
Fair footnote: agent-ready's plugin channel also auto-updates. Teams that want every update reviewed use the copies channel, where /update-codebase-for-agents opens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agent-ready's routing table, the core of the "every statement has one home" rule.
Brake 1: anything a tool can check goes to the tool. A steering line that restates what lint, types or tests enforce fails the scan.
Brake 2: review rules go to CODING_STANDARDS.md, which only review reads. AGENTS.md carries no pointer to it, so the implementer's context stays free.
The scan turns this into three numbers, so progress is visible: statements in their home, lines that pass, and how many lines every task loads.
Design: after a PR opens, a hook offers /improve-codebase-architecture when no architecture review merged within the team's window. We recommend 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Matt's brake 2 in practice. Two reviewers, both in fresh contexts.
comment-review is a hard gate. A PreToolUse hook blocks git push and gh pr create until the review stamped the current commit. Any later commit clears the stamp.
How it works: strip the new comments, then one blind Opus writer per file writes the comments from the code alone. The parent judges both sides against the rules and restores facts the code cannot carry. Then it commits, like Matt asks: no comment spam for the human.
/code-review is Pocock's. It runs a Standards reviewer and a Spec reviewer in parallel sub-agents, and reports both, unmerged, so one cannot hide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agent-ready already sorts PRs by risk, in three lanes.
Cleanup PRs change no behaviour and touch no steering file. With the review stamp on their head and the check command green, the agent merges them itself. That is Matt's "you don't need to review every two-way door".
Feature PRs go to a human. The AFK hand-back file shapes their body. Its stop rule catches one-way doors early: a data migration, a published artifact or deleted history stops the agent before it writes code.
Steering diffs change the rules every agent works by. A hook blocks the merge, so a person always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 "you're not just reviewing the code, you're reviewing the system that creates it". agent-ready makes that system a set of files in the repo.
The steering files are listed in AGENTS.md. Changing one is a steering diff, and the rule guards itself: a diff that edits the rule is a steering diff too.
Findings already feed back in four places. The fifth, a real retro over PR reviews, is the next step: Pocock's /retro is in beta.
Contrast: with Superpowers, the rules sit in each developer's plugin cache. When the plugin updates, every repo changes behaviour and nobody reviews a 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to take the whole thing at once.
Start: install the plugin and type /agent-ready:what-to-do. It reads the repo, recommends one next step and explains the tradeoffs.
Basic gives the three files and comment review. Stay Stubborn is for teams that want to keep Superpowers' plan-and-execute loop for now. Migrate retires the old setup and moves everything into one steering PR. Cleanup trims the docs and then rewrites comments in small PRs that agents merge.
Costs: we have numbers for setup and scan from one trial. We do not have numbers for the migration and the comment pass yet. Say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asks, one per layer.
One: install the plugin and let /what-to-do tell you where your repo stands.
Two: rules for the reviewer go where the reviewer reads them, not into AGENTS.md.
Three: the retro habit. The second time you write the same review comment, it becomes a lint rule, a test, or a line in CODING_STANDARDS.md.
Then ask: which repo goes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slideLayout" Target="../slideLayouts/slideLayout1.xml"/><Relationship Id="rId1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slideLayout" Target="../slideLayouts/slideLayout1.xml"/><Relationship Id="rId2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188720"/>
            <a:ext cx="5486400" cy="274320"/>
          </a:xfrm>
          <a:prstGeom prst="rect">
            <a:avLst/>
          </a:prstGeom>
          <a:noFill/>
          <a:ln/>
        </p:spPr>
        <p:txBody>
          <a:bodyPr wrap="square" lIns="0" tIns="0" rIns="0" bIns="0" rtlCol="0" anchor="t"/>
          <a:lstStyle/>
          <a:p>
            <a:pPr indent="0" marL="0">
              <a:buNone/>
            </a:pPr>
            <a:r>
              <a:rPr lang="en-US" sz="1200" b="1" spc="300" kern="0" dirty="0">
                <a:solidFill>
                  <a:srgbClr val="F26B38"/>
                </a:solidFill>
                <a:latin typeface="Arial" pitchFamily="34" charset="0"/>
                <a:ea typeface="Arial" pitchFamily="34" charset="-122"/>
                <a:cs typeface="Arial" pitchFamily="34" charset="-120"/>
              </a:rPr>
              <a:t>TECLEAD ENGINEERING</a:t>
            </a:r>
            <a:endParaRPr lang="en-US" sz="1200" dirty="0"/>
          </a:p>
        </p:txBody>
      </p:sp>
      <p:sp>
        <p:nvSpPr>
          <p:cNvPr id="3" name="Text 1"/>
          <p:cNvSpPr txBox="1"/>
          <p:nvPr/>
        </p:nvSpPr>
        <p:spPr>
          <a:xfrm>
            <a:off x="731520" y="1554480"/>
            <a:ext cx="6035040" cy="1874520"/>
          </a:xfrm>
          <a:prstGeom prst="rect">
            <a:avLst/>
          </a:prstGeom>
          <a:noFill/>
          <a:ln/>
        </p:spPr>
        <p:txBody>
          <a:bodyPr wrap="square" lIns="0" tIns="0" rIns="0" bIns="0" rtlCol="0" anchor="b"/>
          <a:lstStyle/>
          <a:p>
            <a:pPr indent="0" marL="0">
              <a:buNone/>
            </a:pPr>
            <a:r>
              <a:rPr lang="en-US" sz="4800" b="1" dirty="0">
                <a:solidFill>
                  <a:srgbClr val="FFFFFF"/>
                </a:solidFill>
                <a:latin typeface="Arial" pitchFamily="34" charset="0"/>
                <a:ea typeface="Arial" pitchFamily="34" charset="-122"/>
                <a:cs typeface="Arial" pitchFamily="34" charset="-120"/>
              </a:rPr>
              <a:t>Fixing the PR bottleneck</a:t>
            </a:r>
            <a:endParaRPr lang="en-US" sz="4800" dirty="0"/>
          </a:p>
        </p:txBody>
      </p:sp>
      <p:sp>
        <p:nvSpPr>
          <p:cNvPr id="4" name="Text 2"/>
          <p:cNvSpPr txBox="1"/>
          <p:nvPr/>
        </p:nvSpPr>
        <p:spPr>
          <a:xfrm>
            <a:off x="731520" y="3611880"/>
            <a:ext cx="5669280" cy="1005840"/>
          </a:xfrm>
          <a:prstGeom prst="rect">
            <a:avLst/>
          </a:prstGeom>
          <a:noFill/>
          <a:ln/>
        </p:spPr>
        <p:txBody>
          <a:bodyPr wrap="square" lIns="0" tIns="0" rIns="0" bIns="0" rtlCol="0" anchor="t"/>
          <a:lstStyle/>
          <a:p>
            <a:pPr indent="0" marL="0">
              <a:buNone/>
            </a:pPr>
            <a:r>
              <a:rPr lang="en-US" sz="1900" dirty="0">
                <a:solidFill>
                  <a:srgbClr val="C9D2E3"/>
                </a:solidFill>
                <a:latin typeface="Arial" pitchFamily="34" charset="0"/>
                <a:ea typeface="Arial" pitchFamily="34" charset="-122"/>
                <a:cs typeface="Arial" pitchFamily="34" charset="-120"/>
              </a:rPr>
              <a:t>Matt Pocock's three brakes for code that agents write, and how agent-ready builds them into our repos</a:t>
            </a:r>
            <a:endParaRPr lang="en-US" sz="1900" dirty="0"/>
          </a:p>
        </p:txBody>
      </p:sp>
      <p:sp>
        <p:nvSpPr>
          <p:cNvPr id="5" name="Shape 3"/>
          <p:cNvSpPr/>
          <p:nvPr/>
        </p:nvSpPr>
        <p:spPr>
          <a:xfrm>
            <a:off x="7406640" y="685800"/>
            <a:ext cx="603504" cy="347472"/>
          </a:xfrm>
          <a:prstGeom prst="roundRect">
            <a:avLst>
              <a:gd name="adj" fmla="val 15789"/>
            </a:avLst>
          </a:prstGeom>
          <a:solidFill>
            <a:srgbClr val="22305A"/>
          </a:solidFill>
          <a:ln w="12700">
            <a:solidFill>
              <a:srgbClr val="33436E"/>
            </a:solidFill>
            <a:prstDash val="solid"/>
          </a:ln>
        </p:spPr>
      </p:sp>
      <p:pic>
        <p:nvPicPr>
          <p:cNvPr id="6" name="Image 0" descr="preencoded.png">    </p:cNvPr>
          <p:cNvPicPr>
            <a:picLocks noChangeAspect="1"/>
          </p:cNvPicPr>
          <p:nvPr/>
        </p:nvPicPr>
        <p:blipFill>
          <a:blip r:embed="rId1"/>
          <a:stretch>
            <a:fillRect/>
          </a:stretch>
        </p:blipFill>
        <p:spPr>
          <a:xfrm>
            <a:off x="7479792" y="758952"/>
            <a:ext cx="201168" cy="201168"/>
          </a:xfrm>
          <a:prstGeom prst="rect">
            <a:avLst/>
          </a:prstGeom>
        </p:spPr>
      </p:pic>
      <p:sp>
        <p:nvSpPr>
          <p:cNvPr id="7" name="Shape 4"/>
          <p:cNvSpPr/>
          <p:nvPr/>
        </p:nvSpPr>
        <p:spPr>
          <a:xfrm>
            <a:off x="7735824" y="804672"/>
            <a:ext cx="201168" cy="36576"/>
          </a:xfrm>
          <a:prstGeom prst="rect">
            <a:avLst/>
          </a:prstGeom>
          <a:solidFill>
            <a:srgbClr val="5A6A93"/>
          </a:solidFill>
          <a:ln w="12700">
            <a:solidFill>
              <a:srgbClr val="5A6A93"/>
            </a:solidFill>
            <a:prstDash val="solid"/>
          </a:ln>
        </p:spPr>
      </p:sp>
      <p:sp>
        <p:nvSpPr>
          <p:cNvPr id="8" name="Shape 5"/>
          <p:cNvSpPr/>
          <p:nvPr/>
        </p:nvSpPr>
        <p:spPr>
          <a:xfrm>
            <a:off x="7735824" y="886968"/>
            <a:ext cx="137160" cy="36576"/>
          </a:xfrm>
          <a:prstGeom prst="rect">
            <a:avLst/>
          </a:prstGeom>
          <a:solidFill>
            <a:srgbClr val="5A6A93"/>
          </a:solidFill>
          <a:ln w="12700">
            <a:solidFill>
              <a:srgbClr val="5A6A93"/>
            </a:solidFill>
            <a:prstDash val="solid"/>
          </a:ln>
        </p:spPr>
      </p:sp>
      <p:sp>
        <p:nvSpPr>
          <p:cNvPr id="9" name="Shape 6"/>
          <p:cNvSpPr/>
          <p:nvPr/>
        </p:nvSpPr>
        <p:spPr>
          <a:xfrm>
            <a:off x="8183880" y="914400"/>
            <a:ext cx="603504" cy="347472"/>
          </a:xfrm>
          <a:prstGeom prst="roundRect">
            <a:avLst>
              <a:gd name="adj" fmla="val 15789"/>
            </a:avLst>
          </a:prstGeom>
          <a:solidFill>
            <a:srgbClr val="22305A"/>
          </a:solidFill>
          <a:ln w="12700">
            <a:solidFill>
              <a:srgbClr val="33436E"/>
            </a:solidFill>
            <a:prstDash val="solid"/>
          </a:ln>
        </p:spPr>
      </p:sp>
      <p:pic>
        <p:nvPicPr>
          <p:cNvPr id="10" name="Image 1" descr="preencoded.png">    </p:cNvPr>
          <p:cNvPicPr>
            <a:picLocks noChangeAspect="1"/>
          </p:cNvPicPr>
          <p:nvPr/>
        </p:nvPicPr>
        <p:blipFill>
          <a:blip r:embed="rId2"/>
          <a:stretch>
            <a:fillRect/>
          </a:stretch>
        </p:blipFill>
        <p:spPr>
          <a:xfrm>
            <a:off x="8257032" y="987552"/>
            <a:ext cx="201168" cy="201168"/>
          </a:xfrm>
          <a:prstGeom prst="rect">
            <a:avLst/>
          </a:prstGeom>
        </p:spPr>
      </p:pic>
      <p:sp>
        <p:nvSpPr>
          <p:cNvPr id="11" name="Shape 7"/>
          <p:cNvSpPr/>
          <p:nvPr/>
        </p:nvSpPr>
        <p:spPr>
          <a:xfrm>
            <a:off x="8513064" y="1033272"/>
            <a:ext cx="201168" cy="36576"/>
          </a:xfrm>
          <a:prstGeom prst="rect">
            <a:avLst/>
          </a:prstGeom>
          <a:solidFill>
            <a:srgbClr val="5A6A93"/>
          </a:solidFill>
          <a:ln w="12700">
            <a:solidFill>
              <a:srgbClr val="5A6A93"/>
            </a:solidFill>
            <a:prstDash val="solid"/>
          </a:ln>
        </p:spPr>
      </p:sp>
      <p:sp>
        <p:nvSpPr>
          <p:cNvPr id="12" name="Shape 8"/>
          <p:cNvSpPr/>
          <p:nvPr/>
        </p:nvSpPr>
        <p:spPr>
          <a:xfrm>
            <a:off x="8513064" y="1115568"/>
            <a:ext cx="137160" cy="36576"/>
          </a:xfrm>
          <a:prstGeom prst="rect">
            <a:avLst/>
          </a:prstGeom>
          <a:solidFill>
            <a:srgbClr val="5A6A93"/>
          </a:solidFill>
          <a:ln w="12700">
            <a:solidFill>
              <a:srgbClr val="5A6A93"/>
            </a:solidFill>
            <a:prstDash val="solid"/>
          </a:ln>
        </p:spPr>
      </p:sp>
      <p:sp>
        <p:nvSpPr>
          <p:cNvPr id="13" name="Shape 9"/>
          <p:cNvSpPr/>
          <p:nvPr/>
        </p:nvSpPr>
        <p:spPr>
          <a:xfrm>
            <a:off x="8961120" y="640080"/>
            <a:ext cx="603504" cy="347472"/>
          </a:xfrm>
          <a:prstGeom prst="roundRect">
            <a:avLst>
              <a:gd name="adj" fmla="val 15789"/>
            </a:avLst>
          </a:prstGeom>
          <a:solidFill>
            <a:srgbClr val="22305A"/>
          </a:solidFill>
          <a:ln w="12700">
            <a:solidFill>
              <a:srgbClr val="33436E"/>
            </a:solidFill>
            <a:prstDash val="solid"/>
          </a:ln>
        </p:spPr>
      </p:sp>
      <p:pic>
        <p:nvPicPr>
          <p:cNvPr id="14" name="Image 2" descr="preencoded.png">    </p:cNvPr>
          <p:cNvPicPr>
            <a:picLocks noChangeAspect="1"/>
          </p:cNvPicPr>
          <p:nvPr/>
        </p:nvPicPr>
        <p:blipFill>
          <a:blip r:embed="rId3"/>
          <a:stretch>
            <a:fillRect/>
          </a:stretch>
        </p:blipFill>
        <p:spPr>
          <a:xfrm>
            <a:off x="9034272" y="713232"/>
            <a:ext cx="201168" cy="201168"/>
          </a:xfrm>
          <a:prstGeom prst="rect">
            <a:avLst/>
          </a:prstGeom>
        </p:spPr>
      </p:pic>
      <p:sp>
        <p:nvSpPr>
          <p:cNvPr id="15" name="Shape 10"/>
          <p:cNvSpPr/>
          <p:nvPr/>
        </p:nvSpPr>
        <p:spPr>
          <a:xfrm>
            <a:off x="9290304" y="758952"/>
            <a:ext cx="201168" cy="36576"/>
          </a:xfrm>
          <a:prstGeom prst="rect">
            <a:avLst/>
          </a:prstGeom>
          <a:solidFill>
            <a:srgbClr val="5A6A93"/>
          </a:solidFill>
          <a:ln w="12700">
            <a:solidFill>
              <a:srgbClr val="5A6A93"/>
            </a:solidFill>
            <a:prstDash val="solid"/>
          </a:ln>
        </p:spPr>
      </p:sp>
      <p:sp>
        <p:nvSpPr>
          <p:cNvPr id="16" name="Shape 11"/>
          <p:cNvSpPr/>
          <p:nvPr/>
        </p:nvSpPr>
        <p:spPr>
          <a:xfrm>
            <a:off x="9290304" y="841248"/>
            <a:ext cx="137160" cy="36576"/>
          </a:xfrm>
          <a:prstGeom prst="rect">
            <a:avLst/>
          </a:prstGeom>
          <a:solidFill>
            <a:srgbClr val="5A6A93"/>
          </a:solidFill>
          <a:ln w="12700">
            <a:solidFill>
              <a:srgbClr val="5A6A93"/>
            </a:solidFill>
            <a:prstDash val="solid"/>
          </a:ln>
        </p:spPr>
      </p:sp>
      <p:sp>
        <p:nvSpPr>
          <p:cNvPr id="17" name="Shape 12"/>
          <p:cNvSpPr/>
          <p:nvPr/>
        </p:nvSpPr>
        <p:spPr>
          <a:xfrm>
            <a:off x="9738360" y="868680"/>
            <a:ext cx="603504" cy="347472"/>
          </a:xfrm>
          <a:prstGeom prst="roundRect">
            <a:avLst>
              <a:gd name="adj" fmla="val 15789"/>
            </a:avLst>
          </a:prstGeom>
          <a:solidFill>
            <a:srgbClr val="22305A"/>
          </a:solidFill>
          <a:ln w="12700">
            <a:solidFill>
              <a:srgbClr val="33436E"/>
            </a:solidFill>
            <a:prstDash val="solid"/>
          </a:ln>
        </p:spPr>
      </p:sp>
      <p:pic>
        <p:nvPicPr>
          <p:cNvPr id="18" name="Image 3" descr="preencoded.png">    </p:cNvPr>
          <p:cNvPicPr>
            <a:picLocks noChangeAspect="1"/>
          </p:cNvPicPr>
          <p:nvPr/>
        </p:nvPicPr>
        <p:blipFill>
          <a:blip r:embed="rId4"/>
          <a:stretch>
            <a:fillRect/>
          </a:stretch>
        </p:blipFill>
        <p:spPr>
          <a:xfrm>
            <a:off x="9811512" y="941832"/>
            <a:ext cx="201168" cy="201168"/>
          </a:xfrm>
          <a:prstGeom prst="rect">
            <a:avLst/>
          </a:prstGeom>
        </p:spPr>
      </p:pic>
      <p:sp>
        <p:nvSpPr>
          <p:cNvPr id="19" name="Shape 13"/>
          <p:cNvSpPr/>
          <p:nvPr/>
        </p:nvSpPr>
        <p:spPr>
          <a:xfrm>
            <a:off x="10067544" y="987552"/>
            <a:ext cx="201168" cy="36576"/>
          </a:xfrm>
          <a:prstGeom prst="rect">
            <a:avLst/>
          </a:prstGeom>
          <a:solidFill>
            <a:srgbClr val="5A6A93"/>
          </a:solidFill>
          <a:ln w="12700">
            <a:solidFill>
              <a:srgbClr val="5A6A93"/>
            </a:solidFill>
            <a:prstDash val="solid"/>
          </a:ln>
        </p:spPr>
      </p:sp>
      <p:sp>
        <p:nvSpPr>
          <p:cNvPr id="20" name="Shape 14"/>
          <p:cNvSpPr/>
          <p:nvPr/>
        </p:nvSpPr>
        <p:spPr>
          <a:xfrm>
            <a:off x="10067544" y="1069848"/>
            <a:ext cx="137160" cy="36576"/>
          </a:xfrm>
          <a:prstGeom prst="rect">
            <a:avLst/>
          </a:prstGeom>
          <a:solidFill>
            <a:srgbClr val="5A6A93"/>
          </a:solidFill>
          <a:ln w="12700">
            <a:solidFill>
              <a:srgbClr val="5A6A93"/>
            </a:solidFill>
            <a:prstDash val="solid"/>
          </a:ln>
        </p:spPr>
      </p:sp>
      <p:sp>
        <p:nvSpPr>
          <p:cNvPr id="21" name="Shape 15"/>
          <p:cNvSpPr/>
          <p:nvPr/>
        </p:nvSpPr>
        <p:spPr>
          <a:xfrm>
            <a:off x="10515600" y="658368"/>
            <a:ext cx="603504" cy="347472"/>
          </a:xfrm>
          <a:prstGeom prst="roundRect">
            <a:avLst>
              <a:gd name="adj" fmla="val 15789"/>
            </a:avLst>
          </a:prstGeom>
          <a:solidFill>
            <a:srgbClr val="22305A"/>
          </a:solidFill>
          <a:ln w="12700">
            <a:solidFill>
              <a:srgbClr val="33436E"/>
            </a:solidFill>
            <a:prstDash val="solid"/>
          </a:ln>
        </p:spPr>
      </p:sp>
      <p:pic>
        <p:nvPicPr>
          <p:cNvPr id="22" name="Image 4" descr="preencoded.png">    </p:cNvPr>
          <p:cNvPicPr>
            <a:picLocks noChangeAspect="1"/>
          </p:cNvPicPr>
          <p:nvPr/>
        </p:nvPicPr>
        <p:blipFill>
          <a:blip r:embed="rId5"/>
          <a:stretch>
            <a:fillRect/>
          </a:stretch>
        </p:blipFill>
        <p:spPr>
          <a:xfrm>
            <a:off x="10588752" y="731520"/>
            <a:ext cx="201168" cy="201168"/>
          </a:xfrm>
          <a:prstGeom prst="rect">
            <a:avLst/>
          </a:prstGeom>
        </p:spPr>
      </p:pic>
      <p:sp>
        <p:nvSpPr>
          <p:cNvPr id="23" name="Shape 16"/>
          <p:cNvSpPr/>
          <p:nvPr/>
        </p:nvSpPr>
        <p:spPr>
          <a:xfrm>
            <a:off x="10844784" y="777240"/>
            <a:ext cx="201168" cy="36576"/>
          </a:xfrm>
          <a:prstGeom prst="rect">
            <a:avLst/>
          </a:prstGeom>
          <a:solidFill>
            <a:srgbClr val="5A6A93"/>
          </a:solidFill>
          <a:ln w="12700">
            <a:solidFill>
              <a:srgbClr val="5A6A93"/>
            </a:solidFill>
            <a:prstDash val="solid"/>
          </a:ln>
        </p:spPr>
      </p:sp>
      <p:sp>
        <p:nvSpPr>
          <p:cNvPr id="24" name="Shape 17"/>
          <p:cNvSpPr/>
          <p:nvPr/>
        </p:nvSpPr>
        <p:spPr>
          <a:xfrm>
            <a:off x="10844784" y="859536"/>
            <a:ext cx="137160" cy="36576"/>
          </a:xfrm>
          <a:prstGeom prst="rect">
            <a:avLst/>
          </a:prstGeom>
          <a:solidFill>
            <a:srgbClr val="5A6A93"/>
          </a:solidFill>
          <a:ln w="12700">
            <a:solidFill>
              <a:srgbClr val="5A6A93"/>
            </a:solidFill>
            <a:prstDash val="solid"/>
          </a:ln>
        </p:spPr>
      </p:sp>
      <p:sp>
        <p:nvSpPr>
          <p:cNvPr id="25" name="Shape 18"/>
          <p:cNvSpPr/>
          <p:nvPr/>
        </p:nvSpPr>
        <p:spPr>
          <a:xfrm>
            <a:off x="7772400" y="1325880"/>
            <a:ext cx="603504" cy="347472"/>
          </a:xfrm>
          <a:prstGeom prst="roundRect">
            <a:avLst>
              <a:gd name="adj" fmla="val 15789"/>
            </a:avLst>
          </a:prstGeom>
          <a:solidFill>
            <a:srgbClr val="22305A"/>
          </a:solidFill>
          <a:ln w="12700">
            <a:solidFill>
              <a:srgbClr val="33436E"/>
            </a:solidFill>
            <a:prstDash val="solid"/>
          </a:ln>
        </p:spPr>
      </p:sp>
      <p:pic>
        <p:nvPicPr>
          <p:cNvPr id="26" name="Image 5" descr="preencoded.png">    </p:cNvPr>
          <p:cNvPicPr>
            <a:picLocks noChangeAspect="1"/>
          </p:cNvPicPr>
          <p:nvPr/>
        </p:nvPicPr>
        <p:blipFill>
          <a:blip r:embed="rId6"/>
          <a:stretch>
            <a:fillRect/>
          </a:stretch>
        </p:blipFill>
        <p:spPr>
          <a:xfrm>
            <a:off x="7845552" y="1399032"/>
            <a:ext cx="201168" cy="201168"/>
          </a:xfrm>
          <a:prstGeom prst="rect">
            <a:avLst/>
          </a:prstGeom>
        </p:spPr>
      </p:pic>
      <p:sp>
        <p:nvSpPr>
          <p:cNvPr id="27" name="Shape 19"/>
          <p:cNvSpPr/>
          <p:nvPr/>
        </p:nvSpPr>
        <p:spPr>
          <a:xfrm>
            <a:off x="8101584" y="1444752"/>
            <a:ext cx="201168" cy="36576"/>
          </a:xfrm>
          <a:prstGeom prst="rect">
            <a:avLst/>
          </a:prstGeom>
          <a:solidFill>
            <a:srgbClr val="5A6A93"/>
          </a:solidFill>
          <a:ln w="12700">
            <a:solidFill>
              <a:srgbClr val="5A6A93"/>
            </a:solidFill>
            <a:prstDash val="solid"/>
          </a:ln>
        </p:spPr>
      </p:sp>
      <p:sp>
        <p:nvSpPr>
          <p:cNvPr id="28" name="Shape 20"/>
          <p:cNvSpPr/>
          <p:nvPr/>
        </p:nvSpPr>
        <p:spPr>
          <a:xfrm>
            <a:off x="8101584" y="1527048"/>
            <a:ext cx="137160" cy="36576"/>
          </a:xfrm>
          <a:prstGeom prst="rect">
            <a:avLst/>
          </a:prstGeom>
          <a:solidFill>
            <a:srgbClr val="5A6A93"/>
          </a:solidFill>
          <a:ln w="12700">
            <a:solidFill>
              <a:srgbClr val="5A6A93"/>
            </a:solidFill>
            <a:prstDash val="solid"/>
          </a:ln>
        </p:spPr>
      </p:sp>
      <p:sp>
        <p:nvSpPr>
          <p:cNvPr id="29" name="Shape 21"/>
          <p:cNvSpPr/>
          <p:nvPr/>
        </p:nvSpPr>
        <p:spPr>
          <a:xfrm>
            <a:off x="8549640" y="1463040"/>
            <a:ext cx="603504" cy="347472"/>
          </a:xfrm>
          <a:prstGeom prst="roundRect">
            <a:avLst>
              <a:gd name="adj" fmla="val 15789"/>
            </a:avLst>
          </a:prstGeom>
          <a:solidFill>
            <a:srgbClr val="22305A"/>
          </a:solidFill>
          <a:ln w="12700">
            <a:solidFill>
              <a:srgbClr val="33436E"/>
            </a:solidFill>
            <a:prstDash val="solid"/>
          </a:ln>
        </p:spPr>
      </p:sp>
      <p:pic>
        <p:nvPicPr>
          <p:cNvPr id="30" name="Image 6" descr="preencoded.png">    </p:cNvPr>
          <p:cNvPicPr>
            <a:picLocks noChangeAspect="1"/>
          </p:cNvPicPr>
          <p:nvPr/>
        </p:nvPicPr>
        <p:blipFill>
          <a:blip r:embed="rId7"/>
          <a:stretch>
            <a:fillRect/>
          </a:stretch>
        </p:blipFill>
        <p:spPr>
          <a:xfrm>
            <a:off x="8622792" y="1536192"/>
            <a:ext cx="201168" cy="201168"/>
          </a:xfrm>
          <a:prstGeom prst="rect">
            <a:avLst/>
          </a:prstGeom>
        </p:spPr>
      </p:pic>
      <p:sp>
        <p:nvSpPr>
          <p:cNvPr id="31" name="Shape 22"/>
          <p:cNvSpPr/>
          <p:nvPr/>
        </p:nvSpPr>
        <p:spPr>
          <a:xfrm>
            <a:off x="8878824" y="1581912"/>
            <a:ext cx="201168" cy="36576"/>
          </a:xfrm>
          <a:prstGeom prst="rect">
            <a:avLst/>
          </a:prstGeom>
          <a:solidFill>
            <a:srgbClr val="5A6A93"/>
          </a:solidFill>
          <a:ln w="12700">
            <a:solidFill>
              <a:srgbClr val="5A6A93"/>
            </a:solidFill>
            <a:prstDash val="solid"/>
          </a:ln>
        </p:spPr>
      </p:sp>
      <p:sp>
        <p:nvSpPr>
          <p:cNvPr id="32" name="Shape 23"/>
          <p:cNvSpPr/>
          <p:nvPr/>
        </p:nvSpPr>
        <p:spPr>
          <a:xfrm>
            <a:off x="8878824" y="1664208"/>
            <a:ext cx="137160" cy="36576"/>
          </a:xfrm>
          <a:prstGeom prst="rect">
            <a:avLst/>
          </a:prstGeom>
          <a:solidFill>
            <a:srgbClr val="5A6A93"/>
          </a:solidFill>
          <a:ln w="12700">
            <a:solidFill>
              <a:srgbClr val="5A6A93"/>
            </a:solidFill>
            <a:prstDash val="solid"/>
          </a:ln>
        </p:spPr>
      </p:sp>
      <p:sp>
        <p:nvSpPr>
          <p:cNvPr id="33" name="Shape 24"/>
          <p:cNvSpPr/>
          <p:nvPr/>
        </p:nvSpPr>
        <p:spPr>
          <a:xfrm>
            <a:off x="9326880" y="1280160"/>
            <a:ext cx="603504" cy="347472"/>
          </a:xfrm>
          <a:prstGeom prst="roundRect">
            <a:avLst>
              <a:gd name="adj" fmla="val 15789"/>
            </a:avLst>
          </a:prstGeom>
          <a:solidFill>
            <a:srgbClr val="22305A"/>
          </a:solidFill>
          <a:ln w="12700">
            <a:solidFill>
              <a:srgbClr val="33436E"/>
            </a:solidFill>
            <a:prstDash val="solid"/>
          </a:ln>
        </p:spPr>
      </p:sp>
      <p:pic>
        <p:nvPicPr>
          <p:cNvPr id="34" name="Image 7" descr="preencoded.png">    </p:cNvPr>
          <p:cNvPicPr>
            <a:picLocks noChangeAspect="1"/>
          </p:cNvPicPr>
          <p:nvPr/>
        </p:nvPicPr>
        <p:blipFill>
          <a:blip r:embed="rId8"/>
          <a:stretch>
            <a:fillRect/>
          </a:stretch>
        </p:blipFill>
        <p:spPr>
          <a:xfrm>
            <a:off x="9400032" y="1353312"/>
            <a:ext cx="201168" cy="201168"/>
          </a:xfrm>
          <a:prstGeom prst="rect">
            <a:avLst/>
          </a:prstGeom>
        </p:spPr>
      </p:pic>
      <p:sp>
        <p:nvSpPr>
          <p:cNvPr id="35" name="Shape 25"/>
          <p:cNvSpPr/>
          <p:nvPr/>
        </p:nvSpPr>
        <p:spPr>
          <a:xfrm>
            <a:off x="9656064" y="1399032"/>
            <a:ext cx="201168" cy="36576"/>
          </a:xfrm>
          <a:prstGeom prst="rect">
            <a:avLst/>
          </a:prstGeom>
          <a:solidFill>
            <a:srgbClr val="5A6A93"/>
          </a:solidFill>
          <a:ln w="12700">
            <a:solidFill>
              <a:srgbClr val="5A6A93"/>
            </a:solidFill>
            <a:prstDash val="solid"/>
          </a:ln>
        </p:spPr>
      </p:sp>
      <p:sp>
        <p:nvSpPr>
          <p:cNvPr id="36" name="Shape 26"/>
          <p:cNvSpPr/>
          <p:nvPr/>
        </p:nvSpPr>
        <p:spPr>
          <a:xfrm>
            <a:off x="9656064" y="1481328"/>
            <a:ext cx="137160" cy="36576"/>
          </a:xfrm>
          <a:prstGeom prst="rect">
            <a:avLst/>
          </a:prstGeom>
          <a:solidFill>
            <a:srgbClr val="5A6A93"/>
          </a:solidFill>
          <a:ln w="12700">
            <a:solidFill>
              <a:srgbClr val="5A6A93"/>
            </a:solidFill>
            <a:prstDash val="solid"/>
          </a:ln>
        </p:spPr>
      </p:sp>
      <p:sp>
        <p:nvSpPr>
          <p:cNvPr id="37" name="Shape 27"/>
          <p:cNvSpPr/>
          <p:nvPr/>
        </p:nvSpPr>
        <p:spPr>
          <a:xfrm>
            <a:off x="10104120" y="1417320"/>
            <a:ext cx="603504" cy="347472"/>
          </a:xfrm>
          <a:prstGeom prst="roundRect">
            <a:avLst>
              <a:gd name="adj" fmla="val 15789"/>
            </a:avLst>
          </a:prstGeom>
          <a:solidFill>
            <a:srgbClr val="22305A"/>
          </a:solidFill>
          <a:ln w="12700">
            <a:solidFill>
              <a:srgbClr val="33436E"/>
            </a:solidFill>
            <a:prstDash val="solid"/>
          </a:ln>
        </p:spPr>
      </p:sp>
      <p:pic>
        <p:nvPicPr>
          <p:cNvPr id="38" name="Image 8" descr="preencoded.png">    </p:cNvPr>
          <p:cNvPicPr>
            <a:picLocks noChangeAspect="1"/>
          </p:cNvPicPr>
          <p:nvPr/>
        </p:nvPicPr>
        <p:blipFill>
          <a:blip r:embed="rId9"/>
          <a:stretch>
            <a:fillRect/>
          </a:stretch>
        </p:blipFill>
        <p:spPr>
          <a:xfrm>
            <a:off x="10177272" y="1490472"/>
            <a:ext cx="201168" cy="201168"/>
          </a:xfrm>
          <a:prstGeom prst="rect">
            <a:avLst/>
          </a:prstGeom>
        </p:spPr>
      </p:pic>
      <p:sp>
        <p:nvSpPr>
          <p:cNvPr id="39" name="Shape 28"/>
          <p:cNvSpPr/>
          <p:nvPr/>
        </p:nvSpPr>
        <p:spPr>
          <a:xfrm>
            <a:off x="10433304" y="1536192"/>
            <a:ext cx="201168" cy="36576"/>
          </a:xfrm>
          <a:prstGeom prst="rect">
            <a:avLst/>
          </a:prstGeom>
          <a:solidFill>
            <a:srgbClr val="5A6A93"/>
          </a:solidFill>
          <a:ln w="12700">
            <a:solidFill>
              <a:srgbClr val="5A6A93"/>
            </a:solidFill>
            <a:prstDash val="solid"/>
          </a:ln>
        </p:spPr>
      </p:sp>
      <p:sp>
        <p:nvSpPr>
          <p:cNvPr id="40" name="Shape 29"/>
          <p:cNvSpPr/>
          <p:nvPr/>
        </p:nvSpPr>
        <p:spPr>
          <a:xfrm>
            <a:off x="10433304" y="1618488"/>
            <a:ext cx="137160" cy="36576"/>
          </a:xfrm>
          <a:prstGeom prst="rect">
            <a:avLst/>
          </a:prstGeom>
          <a:solidFill>
            <a:srgbClr val="5A6A93"/>
          </a:solidFill>
          <a:ln w="12700">
            <a:solidFill>
              <a:srgbClr val="5A6A93"/>
            </a:solidFill>
            <a:prstDash val="solid"/>
          </a:ln>
        </p:spPr>
      </p:sp>
      <p:sp>
        <p:nvSpPr>
          <p:cNvPr id="41" name="Text 30"/>
          <p:cNvSpPr/>
          <p:nvPr/>
        </p:nvSpPr>
        <p:spPr>
          <a:xfrm>
            <a:off x="7223760" y="2194560"/>
            <a:ext cx="3931920" cy="640080"/>
          </a:xfrm>
          <a:prstGeom prst="roundRect">
            <a:avLst>
              <a:gd name="adj" fmla="val 14286"/>
            </a:avLst>
          </a:prstGeom>
          <a:solidFill>
            <a:srgbClr val="1F9E89"/>
          </a:solidFill>
          <a:ln>
            <a:solidFill>
              <a:srgbClr val="1F9E89"/>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Automated checks</a:t>
            </a:r>
            <a:endParaRPr lang="en-US" sz="1500" dirty="0"/>
          </a:p>
        </p:txBody>
      </p:sp>
      <p:sp>
        <p:nvSpPr>
          <p:cNvPr id="42" name="Text 31"/>
          <p:cNvSpPr/>
          <p:nvPr/>
        </p:nvSpPr>
        <p:spPr>
          <a:xfrm>
            <a:off x="7772400" y="2971800"/>
            <a:ext cx="2834640" cy="640080"/>
          </a:xfrm>
          <a:prstGeom prst="roundRect">
            <a:avLst>
              <a:gd name="adj" fmla="val 14286"/>
            </a:avLst>
          </a:prstGeom>
          <a:solidFill>
            <a:srgbClr val="4F5BD5"/>
          </a:solidFill>
          <a:ln>
            <a:solidFill>
              <a:srgbClr val="4F5BD5"/>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Automated review</a:t>
            </a:r>
            <a:endParaRPr lang="en-US" sz="1500" dirty="0"/>
          </a:p>
        </p:txBody>
      </p:sp>
      <p:sp>
        <p:nvSpPr>
          <p:cNvPr id="43" name="Text 32"/>
          <p:cNvSpPr/>
          <p:nvPr/>
        </p:nvSpPr>
        <p:spPr>
          <a:xfrm>
            <a:off x="8321040" y="3749040"/>
            <a:ext cx="1737360" cy="640080"/>
          </a:xfrm>
          <a:prstGeom prst="roundRect">
            <a:avLst>
              <a:gd name="adj" fmla="val 14286"/>
            </a:avLst>
          </a:prstGeom>
          <a:solidFill>
            <a:srgbClr val="F26B38"/>
          </a:solidFill>
          <a:ln>
            <a:solidFill>
              <a:srgbClr val="F26B38"/>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Human review</a:t>
            </a:r>
            <a:endParaRPr lang="en-US" sz="1500" dirty="0"/>
          </a:p>
        </p:txBody>
      </p:sp>
      <p:sp>
        <p:nvSpPr>
          <p:cNvPr id="44" name="Shape 33"/>
          <p:cNvSpPr/>
          <p:nvPr/>
        </p:nvSpPr>
        <p:spPr>
          <a:xfrm>
            <a:off x="8942832" y="4572000"/>
            <a:ext cx="493776" cy="493776"/>
          </a:xfrm>
          <a:prstGeom prst="ellipse">
            <a:avLst/>
          </a:prstGeom>
          <a:solidFill>
            <a:srgbClr val="2E9E5B"/>
          </a:solidFill>
          <a:ln w="12700">
            <a:solidFill>
              <a:srgbClr val="2E9E5B"/>
            </a:solidFill>
            <a:prstDash val="solid"/>
          </a:ln>
        </p:spPr>
      </p:sp>
      <p:pic>
        <p:nvPicPr>
          <p:cNvPr id="45" name="Image 9" descr="preencoded.png">    </p:cNvPr>
          <p:cNvPicPr>
            <a:picLocks noChangeAspect="1"/>
          </p:cNvPicPr>
          <p:nvPr/>
        </p:nvPicPr>
        <p:blipFill>
          <a:blip r:embed="rId10"/>
          <a:stretch>
            <a:fillRect/>
          </a:stretch>
        </p:blipFill>
        <p:spPr>
          <a:xfrm>
            <a:off x="9061338" y="4690506"/>
            <a:ext cx="256764" cy="256764"/>
          </a:xfrm>
          <a:prstGeom prst="rect">
            <a:avLst/>
          </a:prstGeom>
        </p:spPr>
      </p:pic>
      <p:sp>
        <p:nvSpPr>
          <p:cNvPr id="46" name="Text 34"/>
          <p:cNvSpPr txBox="1"/>
          <p:nvPr/>
        </p:nvSpPr>
        <p:spPr>
          <a:xfrm>
            <a:off x="8549640" y="5138928"/>
            <a:ext cx="1280160" cy="274320"/>
          </a:xfrm>
          <a:prstGeom prst="rect">
            <a:avLst/>
          </a:prstGeom>
          <a:noFill/>
          <a:ln/>
        </p:spPr>
        <p:txBody>
          <a:bodyPr wrap="square" lIns="0" tIns="0" rIns="0" bIns="0" rtlCol="0" anchor="t"/>
          <a:lstStyle/>
          <a:p>
            <a:pPr algn="ctr" indent="0" marL="0">
              <a:buNone/>
            </a:pPr>
            <a:r>
              <a:rPr lang="en-US" sz="1200" dirty="0">
                <a:solidFill>
                  <a:srgbClr val="C9D2E3"/>
                </a:solidFill>
                <a:latin typeface="Arial" pitchFamily="34" charset="0"/>
                <a:ea typeface="Arial" pitchFamily="34" charset="-122"/>
                <a:cs typeface="Arial" pitchFamily="34" charset="-120"/>
              </a:rPr>
              <a:t>merged</a:t>
            </a:r>
            <a:endParaRPr lang="en-US" sz="1200" dirty="0"/>
          </a:p>
        </p:txBody>
      </p:sp>
      <p:sp>
        <p:nvSpPr>
          <p:cNvPr id="47" name="Text 35"/>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7F8BA8"/>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48" name="Text 36"/>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7F8BA8"/>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9184"/>
            <a:ext cx="1375258" cy="274320"/>
          </a:xfrm>
          <a:prstGeom prst="roundRect">
            <a:avLst>
              <a:gd name="adj" fmla="val 50000"/>
            </a:avLst>
          </a:prstGeom>
          <a:solidFill>
            <a:srgbClr val="4A5468"/>
          </a:solidFill>
          <a:ln>
            <a:solidFill>
              <a:srgbClr val="4A5468"/>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Agents multiply the PRs. The reviewers stay the same.</a:t>
            </a:r>
            <a:endParaRPr lang="en-US" sz="2800" dirty="0"/>
          </a:p>
        </p:txBody>
      </p:sp>
      <p:sp>
        <p:nvSpPr>
          <p:cNvPr id="4" name="Text 2"/>
          <p:cNvSpPr txBox="1"/>
          <p:nvPr/>
        </p:nvSpPr>
        <p:spPr>
          <a:xfrm>
            <a:off x="548640" y="1481328"/>
            <a:ext cx="2377440" cy="274320"/>
          </a:xfrm>
          <a:prstGeom prst="rect">
            <a:avLst/>
          </a:prstGeom>
          <a:noFill/>
          <a:ln/>
        </p:spPr>
        <p:txBody>
          <a:bodyPr wrap="square" lIns="0" tIns="0" rIns="0" bIns="0" rtlCol="0" anchor="t"/>
          <a:lstStyle/>
          <a:p>
            <a:pPr indent="0" marL="0">
              <a:buNone/>
            </a:pPr>
            <a:r>
              <a:rPr lang="en-US" sz="1100" b="1" spc="100" kern="0" dirty="0">
                <a:solidFill>
                  <a:srgbClr val="8D99B3"/>
                </a:solidFill>
                <a:latin typeface="Arial" pitchFamily="34" charset="0"/>
                <a:ea typeface="Arial" pitchFamily="34" charset="-122"/>
                <a:cs typeface="Arial" pitchFamily="34" charset="-120"/>
              </a:rPr>
              <a:t>Who starts the work</a:t>
            </a:r>
            <a:endParaRPr lang="en-US" sz="1100" dirty="0"/>
          </a:p>
        </p:txBody>
      </p:sp>
      <p:sp>
        <p:nvSpPr>
          <p:cNvPr id="5" name="Shape 3"/>
          <p:cNvSpPr/>
          <p:nvPr/>
        </p:nvSpPr>
        <p:spPr>
          <a:xfrm>
            <a:off x="548640" y="1828800"/>
            <a:ext cx="2331720" cy="457200"/>
          </a:xfrm>
          <a:prstGeom prst="roundRect">
            <a:avLst>
              <a:gd name="adj" fmla="val 20000"/>
            </a:avLst>
          </a:prstGeom>
          <a:solidFill>
            <a:srgbClr val="F1F4F9"/>
          </a:solidFill>
          <a:ln w="12700">
            <a:solidFill>
              <a:srgbClr val="F1F4F9"/>
            </a:solidFill>
            <a:prstDash val="solid"/>
          </a:ln>
        </p:spPr>
      </p:sp>
      <p:sp>
        <p:nvSpPr>
          <p:cNvPr id="6" name="Shape 4"/>
          <p:cNvSpPr/>
          <p:nvPr/>
        </p:nvSpPr>
        <p:spPr>
          <a:xfrm>
            <a:off x="621792" y="1892808"/>
            <a:ext cx="329184" cy="329184"/>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1"/>
          <a:stretch>
            <a:fillRect/>
          </a:stretch>
        </p:blipFill>
        <p:spPr>
          <a:xfrm>
            <a:off x="700796" y="1971812"/>
            <a:ext cx="171176" cy="171176"/>
          </a:xfrm>
          <a:prstGeom prst="rect">
            <a:avLst/>
          </a:prstGeom>
        </p:spPr>
      </p:pic>
      <p:sp>
        <p:nvSpPr>
          <p:cNvPr id="8" name="Text 5"/>
          <p:cNvSpPr txBox="1"/>
          <p:nvPr/>
        </p:nvSpPr>
        <p:spPr>
          <a:xfrm>
            <a:off x="1060704" y="1828800"/>
            <a:ext cx="178308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Developers</a:t>
            </a:r>
            <a:endParaRPr lang="en-US" sz="1300" dirty="0"/>
          </a:p>
        </p:txBody>
      </p:sp>
      <p:sp>
        <p:nvSpPr>
          <p:cNvPr id="9" name="Shape 6"/>
          <p:cNvSpPr/>
          <p:nvPr/>
        </p:nvSpPr>
        <p:spPr>
          <a:xfrm>
            <a:off x="2880360" y="2057400"/>
            <a:ext cx="548640" cy="1143000"/>
          </a:xfrm>
          <a:prstGeom prst="line">
            <a:avLst/>
          </a:prstGeom>
          <a:noFill/>
          <a:ln w="15875">
            <a:solidFill>
              <a:srgbClr val="8D99B3"/>
            </a:solidFill>
            <a:prstDash val="solid"/>
            <a:tailEnd type="triangle"/>
          </a:ln>
        </p:spPr>
      </p:sp>
      <p:sp>
        <p:nvSpPr>
          <p:cNvPr id="10" name="Shape 7"/>
          <p:cNvSpPr/>
          <p:nvPr/>
        </p:nvSpPr>
        <p:spPr>
          <a:xfrm>
            <a:off x="548640" y="2395728"/>
            <a:ext cx="2331720" cy="457200"/>
          </a:xfrm>
          <a:prstGeom prst="roundRect">
            <a:avLst>
              <a:gd name="adj" fmla="val 20000"/>
            </a:avLst>
          </a:prstGeom>
          <a:solidFill>
            <a:srgbClr val="F1F4F9"/>
          </a:solidFill>
          <a:ln w="12700">
            <a:solidFill>
              <a:srgbClr val="F1F4F9"/>
            </a:solidFill>
            <a:prstDash val="solid"/>
          </a:ln>
        </p:spPr>
      </p:sp>
      <p:sp>
        <p:nvSpPr>
          <p:cNvPr id="11" name="Shape 8"/>
          <p:cNvSpPr/>
          <p:nvPr/>
        </p:nvSpPr>
        <p:spPr>
          <a:xfrm>
            <a:off x="621792" y="2459736"/>
            <a:ext cx="329184" cy="329184"/>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700796" y="2538740"/>
            <a:ext cx="171176" cy="171176"/>
          </a:xfrm>
          <a:prstGeom prst="rect">
            <a:avLst/>
          </a:prstGeom>
        </p:spPr>
      </p:pic>
      <p:sp>
        <p:nvSpPr>
          <p:cNvPr id="13" name="Text 9"/>
          <p:cNvSpPr txBox="1"/>
          <p:nvPr/>
        </p:nvSpPr>
        <p:spPr>
          <a:xfrm>
            <a:off x="1060704" y="2395728"/>
            <a:ext cx="178308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Agents</a:t>
            </a:r>
            <a:endParaRPr lang="en-US" sz="1300" dirty="0"/>
          </a:p>
        </p:txBody>
      </p:sp>
      <p:sp>
        <p:nvSpPr>
          <p:cNvPr id="14" name="Shape 10"/>
          <p:cNvSpPr/>
          <p:nvPr/>
        </p:nvSpPr>
        <p:spPr>
          <a:xfrm>
            <a:off x="2880360" y="2624328"/>
            <a:ext cx="548640" cy="576072"/>
          </a:xfrm>
          <a:prstGeom prst="line">
            <a:avLst/>
          </a:prstGeom>
          <a:noFill/>
          <a:ln w="15875">
            <a:solidFill>
              <a:srgbClr val="8D99B3"/>
            </a:solidFill>
            <a:prstDash val="solid"/>
            <a:tailEnd type="triangle"/>
          </a:ln>
        </p:spPr>
      </p:sp>
      <p:sp>
        <p:nvSpPr>
          <p:cNvPr id="15" name="Shape 11"/>
          <p:cNvSpPr/>
          <p:nvPr/>
        </p:nvSpPr>
        <p:spPr>
          <a:xfrm>
            <a:off x="548640" y="2962656"/>
            <a:ext cx="2331720" cy="457200"/>
          </a:xfrm>
          <a:prstGeom prst="roundRect">
            <a:avLst>
              <a:gd name="adj" fmla="val 20000"/>
            </a:avLst>
          </a:prstGeom>
          <a:solidFill>
            <a:srgbClr val="F1F4F9"/>
          </a:solidFill>
          <a:ln w="12700">
            <a:solidFill>
              <a:srgbClr val="F1F4F9"/>
            </a:solidFill>
            <a:prstDash val="solid"/>
          </a:ln>
        </p:spPr>
      </p:sp>
      <p:sp>
        <p:nvSpPr>
          <p:cNvPr id="16" name="Shape 12"/>
          <p:cNvSpPr/>
          <p:nvPr/>
        </p:nvSpPr>
        <p:spPr>
          <a:xfrm>
            <a:off x="621792" y="3026664"/>
            <a:ext cx="329184" cy="329184"/>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700796" y="3105668"/>
            <a:ext cx="171176" cy="171176"/>
          </a:xfrm>
          <a:prstGeom prst="rect">
            <a:avLst/>
          </a:prstGeom>
        </p:spPr>
      </p:pic>
      <p:sp>
        <p:nvSpPr>
          <p:cNvPr id="18" name="Text 13"/>
          <p:cNvSpPr txBox="1"/>
          <p:nvPr/>
        </p:nvSpPr>
        <p:spPr>
          <a:xfrm>
            <a:off x="1060704" y="2962656"/>
            <a:ext cx="178308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Bug reports</a:t>
            </a:r>
            <a:endParaRPr lang="en-US" sz="1300" dirty="0"/>
          </a:p>
        </p:txBody>
      </p:sp>
      <p:sp>
        <p:nvSpPr>
          <p:cNvPr id="19" name="Shape 14"/>
          <p:cNvSpPr/>
          <p:nvPr/>
        </p:nvSpPr>
        <p:spPr>
          <a:xfrm>
            <a:off x="2880360" y="3191256"/>
            <a:ext cx="548640" cy="9144"/>
          </a:xfrm>
          <a:prstGeom prst="line">
            <a:avLst/>
          </a:prstGeom>
          <a:noFill/>
          <a:ln w="15875">
            <a:solidFill>
              <a:srgbClr val="8D99B3"/>
            </a:solidFill>
            <a:prstDash val="solid"/>
            <a:tailEnd type="triangle"/>
          </a:ln>
        </p:spPr>
      </p:sp>
      <p:sp>
        <p:nvSpPr>
          <p:cNvPr id="20" name="Shape 15"/>
          <p:cNvSpPr/>
          <p:nvPr/>
        </p:nvSpPr>
        <p:spPr>
          <a:xfrm>
            <a:off x="548640" y="3529584"/>
            <a:ext cx="2331720" cy="457200"/>
          </a:xfrm>
          <a:prstGeom prst="roundRect">
            <a:avLst>
              <a:gd name="adj" fmla="val 20000"/>
            </a:avLst>
          </a:prstGeom>
          <a:solidFill>
            <a:srgbClr val="F1F4F9"/>
          </a:solidFill>
          <a:ln w="12700">
            <a:solidFill>
              <a:srgbClr val="F1F4F9"/>
            </a:solidFill>
            <a:prstDash val="solid"/>
          </a:ln>
        </p:spPr>
      </p:sp>
      <p:sp>
        <p:nvSpPr>
          <p:cNvPr id="21" name="Shape 16"/>
          <p:cNvSpPr/>
          <p:nvPr/>
        </p:nvSpPr>
        <p:spPr>
          <a:xfrm>
            <a:off x="621792" y="3593592"/>
            <a:ext cx="329184" cy="329184"/>
          </a:xfrm>
          <a:prstGeom prst="ellipse">
            <a:avLst/>
          </a:prstGeom>
          <a:solidFill>
            <a:srgbClr val="14213D"/>
          </a:solidFill>
          <a:ln w="12700">
            <a:solidFill>
              <a:srgbClr val="14213D"/>
            </a:solidFill>
            <a:prstDash val="solid"/>
          </a:ln>
        </p:spPr>
      </p:sp>
      <p:pic>
        <p:nvPicPr>
          <p:cNvPr id="22" name="Image 3" descr="preencoded.png">    </p:cNvPr>
          <p:cNvPicPr>
            <a:picLocks noChangeAspect="1"/>
          </p:cNvPicPr>
          <p:nvPr/>
        </p:nvPicPr>
        <p:blipFill>
          <a:blip r:embed="rId4"/>
          <a:stretch>
            <a:fillRect/>
          </a:stretch>
        </p:blipFill>
        <p:spPr>
          <a:xfrm>
            <a:off x="700796" y="3672596"/>
            <a:ext cx="171176" cy="171176"/>
          </a:xfrm>
          <a:prstGeom prst="rect">
            <a:avLst/>
          </a:prstGeom>
        </p:spPr>
      </p:pic>
      <p:sp>
        <p:nvSpPr>
          <p:cNvPr id="23" name="Text 17"/>
          <p:cNvSpPr txBox="1"/>
          <p:nvPr/>
        </p:nvSpPr>
        <p:spPr>
          <a:xfrm>
            <a:off x="1060704" y="3529584"/>
            <a:ext cx="178308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Error alerts</a:t>
            </a:r>
            <a:endParaRPr lang="en-US" sz="1300" dirty="0"/>
          </a:p>
        </p:txBody>
      </p:sp>
      <p:sp>
        <p:nvSpPr>
          <p:cNvPr id="24" name="Shape 18"/>
          <p:cNvSpPr/>
          <p:nvPr/>
        </p:nvSpPr>
        <p:spPr>
          <a:xfrm flipV="1">
            <a:off x="2880360" y="3200400"/>
            <a:ext cx="548640" cy="557784"/>
          </a:xfrm>
          <a:prstGeom prst="line">
            <a:avLst/>
          </a:prstGeom>
          <a:noFill/>
          <a:ln w="15875">
            <a:solidFill>
              <a:srgbClr val="8D99B3"/>
            </a:solidFill>
            <a:prstDash val="solid"/>
            <a:tailEnd type="triangle"/>
          </a:ln>
        </p:spPr>
      </p:sp>
      <p:sp>
        <p:nvSpPr>
          <p:cNvPr id="25" name="Shape 19"/>
          <p:cNvSpPr/>
          <p:nvPr/>
        </p:nvSpPr>
        <p:spPr>
          <a:xfrm>
            <a:off x="548640" y="4096512"/>
            <a:ext cx="2331720" cy="457200"/>
          </a:xfrm>
          <a:prstGeom prst="roundRect">
            <a:avLst>
              <a:gd name="adj" fmla="val 20000"/>
            </a:avLst>
          </a:prstGeom>
          <a:solidFill>
            <a:srgbClr val="F1F4F9"/>
          </a:solidFill>
          <a:ln w="12700">
            <a:solidFill>
              <a:srgbClr val="F1F4F9"/>
            </a:solidFill>
            <a:prstDash val="solid"/>
          </a:ln>
        </p:spPr>
      </p:sp>
      <p:sp>
        <p:nvSpPr>
          <p:cNvPr id="26" name="Shape 20"/>
          <p:cNvSpPr/>
          <p:nvPr/>
        </p:nvSpPr>
        <p:spPr>
          <a:xfrm>
            <a:off x="621792" y="4160520"/>
            <a:ext cx="329184" cy="329184"/>
          </a:xfrm>
          <a:prstGeom prst="ellipse">
            <a:avLst/>
          </a:prstGeom>
          <a:solidFill>
            <a:srgbClr val="14213D"/>
          </a:solidFill>
          <a:ln w="12700">
            <a:solidFill>
              <a:srgbClr val="14213D"/>
            </a:solidFill>
            <a:prstDash val="solid"/>
          </a:ln>
        </p:spPr>
      </p:sp>
      <p:pic>
        <p:nvPicPr>
          <p:cNvPr id="27" name="Image 4" descr="preencoded.png">    </p:cNvPr>
          <p:cNvPicPr>
            <a:picLocks noChangeAspect="1"/>
          </p:cNvPicPr>
          <p:nvPr/>
        </p:nvPicPr>
        <p:blipFill>
          <a:blip r:embed="rId5"/>
          <a:stretch>
            <a:fillRect/>
          </a:stretch>
        </p:blipFill>
        <p:spPr>
          <a:xfrm>
            <a:off x="700796" y="4239524"/>
            <a:ext cx="171176" cy="171176"/>
          </a:xfrm>
          <a:prstGeom prst="rect">
            <a:avLst/>
          </a:prstGeom>
        </p:spPr>
      </p:pic>
      <p:sp>
        <p:nvSpPr>
          <p:cNvPr id="28" name="Text 21"/>
          <p:cNvSpPr txBox="1"/>
          <p:nvPr/>
        </p:nvSpPr>
        <p:spPr>
          <a:xfrm>
            <a:off x="1060704" y="4096512"/>
            <a:ext cx="1783080" cy="457200"/>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Slow-query reports</a:t>
            </a:r>
            <a:endParaRPr lang="en-US" sz="1300" dirty="0"/>
          </a:p>
        </p:txBody>
      </p:sp>
      <p:sp>
        <p:nvSpPr>
          <p:cNvPr id="29" name="Shape 22"/>
          <p:cNvSpPr/>
          <p:nvPr/>
        </p:nvSpPr>
        <p:spPr>
          <a:xfrm flipV="1">
            <a:off x="2880360" y="3200400"/>
            <a:ext cx="548640" cy="1124712"/>
          </a:xfrm>
          <a:prstGeom prst="line">
            <a:avLst/>
          </a:prstGeom>
          <a:noFill/>
          <a:ln w="15875">
            <a:solidFill>
              <a:srgbClr val="8D99B3"/>
            </a:solidFill>
            <a:prstDash val="solid"/>
            <a:tailEnd type="triangle"/>
          </a:ln>
        </p:spPr>
      </p:sp>
      <p:sp>
        <p:nvSpPr>
          <p:cNvPr id="30" name="Shape 23"/>
          <p:cNvSpPr/>
          <p:nvPr/>
        </p:nvSpPr>
        <p:spPr>
          <a:xfrm>
            <a:off x="3429000" y="2148840"/>
            <a:ext cx="2286000" cy="2103120"/>
          </a:xfrm>
          <a:prstGeom prst="roundRect">
            <a:avLst>
              <a:gd name="adj" fmla="val 4348"/>
            </a:avLst>
          </a:prstGeom>
          <a:solidFill>
            <a:srgbClr val="14213D"/>
          </a:solidFill>
          <a:ln w="12700">
            <a:solidFill>
              <a:srgbClr val="14213D"/>
            </a:solidFill>
            <a:prstDash val="solid"/>
          </a:ln>
        </p:spPr>
      </p:sp>
      <p:pic>
        <p:nvPicPr>
          <p:cNvPr id="31" name="Image 5" descr="preencoded.png">    </p:cNvPr>
          <p:cNvPicPr>
            <a:picLocks noChangeAspect="1"/>
          </p:cNvPicPr>
          <p:nvPr/>
        </p:nvPicPr>
        <p:blipFill>
          <a:blip r:embed="rId6"/>
          <a:stretch>
            <a:fillRect/>
          </a:stretch>
        </p:blipFill>
        <p:spPr>
          <a:xfrm>
            <a:off x="4315968" y="2331720"/>
            <a:ext cx="512064" cy="512064"/>
          </a:xfrm>
          <a:prstGeom prst="rect">
            <a:avLst/>
          </a:prstGeom>
        </p:spPr>
      </p:pic>
      <p:sp>
        <p:nvSpPr>
          <p:cNvPr id="32" name="Text 24"/>
          <p:cNvSpPr txBox="1"/>
          <p:nvPr/>
        </p:nvSpPr>
        <p:spPr>
          <a:xfrm>
            <a:off x="3520440" y="2926080"/>
            <a:ext cx="2103120" cy="32004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Software factory</a:t>
            </a:r>
            <a:endParaRPr lang="en-US" sz="1600" dirty="0"/>
          </a:p>
        </p:txBody>
      </p:sp>
      <p:sp>
        <p:nvSpPr>
          <p:cNvPr id="33" name="Text 25"/>
          <p:cNvSpPr txBox="1"/>
          <p:nvPr/>
        </p:nvSpPr>
        <p:spPr>
          <a:xfrm>
            <a:off x="3611880" y="3291840"/>
            <a:ext cx="1920240" cy="822960"/>
          </a:xfrm>
          <a:prstGeom prst="rect">
            <a:avLst/>
          </a:prstGeom>
          <a:noFill/>
          <a:ln/>
        </p:spPr>
        <p:txBody>
          <a:bodyPr wrap="square" lIns="0" tIns="0" rIns="0" bIns="0" rtlCol="0" anchor="t"/>
          <a:lstStyle/>
          <a:p>
            <a:pPr algn="ctr" indent="0" marL="0">
              <a:buNone/>
            </a:pPr>
            <a:r>
              <a:rPr lang="en-US" sz="1100" dirty="0">
                <a:solidFill>
                  <a:srgbClr val="C9D2E3"/>
                </a:solidFill>
                <a:latin typeface="Arial" pitchFamily="34" charset="0"/>
                <a:ea typeface="Arial" pitchFamily="34" charset="-122"/>
                <a:cs typeface="Arial" pitchFamily="34" charset="-120"/>
              </a:rPr>
              <a:t>Agents implement. Code, not people, starts more and more of the work.</a:t>
            </a:r>
            <a:endParaRPr lang="en-US" sz="1100" dirty="0"/>
          </a:p>
        </p:txBody>
      </p:sp>
      <p:sp>
        <p:nvSpPr>
          <p:cNvPr id="34" name="Shape 26"/>
          <p:cNvSpPr/>
          <p:nvPr/>
        </p:nvSpPr>
        <p:spPr>
          <a:xfrm>
            <a:off x="5715000" y="3200400"/>
            <a:ext cx="548640" cy="0"/>
          </a:xfrm>
          <a:prstGeom prst="line">
            <a:avLst/>
          </a:prstGeom>
          <a:noFill/>
          <a:ln w="25400">
            <a:solidFill>
              <a:srgbClr val="4A5468"/>
            </a:solidFill>
            <a:prstDash val="solid"/>
            <a:tailEnd type="triangle"/>
          </a:ln>
        </p:spPr>
      </p:sp>
      <p:sp>
        <p:nvSpPr>
          <p:cNvPr id="35" name="Shape 27"/>
          <p:cNvSpPr/>
          <p:nvPr/>
        </p:nvSpPr>
        <p:spPr>
          <a:xfrm>
            <a:off x="6355080" y="1920240"/>
            <a:ext cx="1600200" cy="301752"/>
          </a:xfrm>
          <a:prstGeom prst="roundRect">
            <a:avLst>
              <a:gd name="adj" fmla="val 15152"/>
            </a:avLst>
          </a:prstGeom>
          <a:solidFill>
            <a:srgbClr val="FFFFFF"/>
          </a:solidFill>
          <a:ln w="12700">
            <a:solidFill>
              <a:srgbClr val="D7DDE8"/>
            </a:solidFill>
            <a:prstDash val="solid"/>
          </a:ln>
        </p:spPr>
      </p:sp>
      <p:pic>
        <p:nvPicPr>
          <p:cNvPr id="36" name="Image 6" descr="preencoded.png">    </p:cNvPr>
          <p:cNvPicPr>
            <a:picLocks noChangeAspect="1"/>
          </p:cNvPicPr>
          <p:nvPr/>
        </p:nvPicPr>
        <p:blipFill>
          <a:blip r:embed="rId7"/>
          <a:stretch>
            <a:fillRect/>
          </a:stretch>
        </p:blipFill>
        <p:spPr>
          <a:xfrm>
            <a:off x="6428232" y="1984248"/>
            <a:ext cx="173736" cy="173736"/>
          </a:xfrm>
          <a:prstGeom prst="rect">
            <a:avLst/>
          </a:prstGeom>
        </p:spPr>
      </p:pic>
      <p:sp>
        <p:nvSpPr>
          <p:cNvPr id="37" name="Text 28"/>
          <p:cNvSpPr txBox="1"/>
          <p:nvPr/>
        </p:nvSpPr>
        <p:spPr>
          <a:xfrm>
            <a:off x="6675120" y="192024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#481</a:t>
            </a:r>
            <a:endParaRPr lang="en-US" sz="1100" dirty="0"/>
          </a:p>
        </p:txBody>
      </p:sp>
      <p:sp>
        <p:nvSpPr>
          <p:cNvPr id="38" name="Shape 29"/>
          <p:cNvSpPr/>
          <p:nvPr/>
        </p:nvSpPr>
        <p:spPr>
          <a:xfrm>
            <a:off x="6355080" y="2286000"/>
            <a:ext cx="1600200" cy="301752"/>
          </a:xfrm>
          <a:prstGeom prst="roundRect">
            <a:avLst>
              <a:gd name="adj" fmla="val 15152"/>
            </a:avLst>
          </a:prstGeom>
          <a:solidFill>
            <a:srgbClr val="FFFFFF"/>
          </a:solidFill>
          <a:ln w="12700">
            <a:solidFill>
              <a:srgbClr val="D7DDE8"/>
            </a:solidFill>
            <a:prstDash val="solid"/>
          </a:ln>
        </p:spPr>
      </p:sp>
      <p:pic>
        <p:nvPicPr>
          <p:cNvPr id="39" name="Image 7" descr="preencoded.png">    </p:cNvPr>
          <p:cNvPicPr>
            <a:picLocks noChangeAspect="1"/>
          </p:cNvPicPr>
          <p:nvPr/>
        </p:nvPicPr>
        <p:blipFill>
          <a:blip r:embed="rId8"/>
          <a:stretch>
            <a:fillRect/>
          </a:stretch>
        </p:blipFill>
        <p:spPr>
          <a:xfrm>
            <a:off x="6428232" y="2350008"/>
            <a:ext cx="173736" cy="173736"/>
          </a:xfrm>
          <a:prstGeom prst="rect">
            <a:avLst/>
          </a:prstGeom>
        </p:spPr>
      </p:pic>
      <p:sp>
        <p:nvSpPr>
          <p:cNvPr id="40" name="Text 30"/>
          <p:cNvSpPr txBox="1"/>
          <p:nvPr/>
        </p:nvSpPr>
        <p:spPr>
          <a:xfrm>
            <a:off x="6675120" y="228600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#482</a:t>
            </a:r>
            <a:endParaRPr lang="en-US" sz="1100" dirty="0"/>
          </a:p>
        </p:txBody>
      </p:sp>
      <p:sp>
        <p:nvSpPr>
          <p:cNvPr id="41" name="Shape 31"/>
          <p:cNvSpPr/>
          <p:nvPr/>
        </p:nvSpPr>
        <p:spPr>
          <a:xfrm>
            <a:off x="6355080" y="2651760"/>
            <a:ext cx="1600200" cy="301752"/>
          </a:xfrm>
          <a:prstGeom prst="roundRect">
            <a:avLst>
              <a:gd name="adj" fmla="val 15152"/>
            </a:avLst>
          </a:prstGeom>
          <a:solidFill>
            <a:srgbClr val="FFFFFF"/>
          </a:solidFill>
          <a:ln w="12700">
            <a:solidFill>
              <a:srgbClr val="D7DDE8"/>
            </a:solidFill>
            <a:prstDash val="solid"/>
          </a:ln>
        </p:spPr>
      </p:sp>
      <p:pic>
        <p:nvPicPr>
          <p:cNvPr id="42" name="Image 8" descr="preencoded.png">    </p:cNvPr>
          <p:cNvPicPr>
            <a:picLocks noChangeAspect="1"/>
          </p:cNvPicPr>
          <p:nvPr/>
        </p:nvPicPr>
        <p:blipFill>
          <a:blip r:embed="rId9"/>
          <a:stretch>
            <a:fillRect/>
          </a:stretch>
        </p:blipFill>
        <p:spPr>
          <a:xfrm>
            <a:off x="6428232" y="2715768"/>
            <a:ext cx="173736" cy="173736"/>
          </a:xfrm>
          <a:prstGeom prst="rect">
            <a:avLst/>
          </a:prstGeom>
        </p:spPr>
      </p:pic>
      <p:sp>
        <p:nvSpPr>
          <p:cNvPr id="43" name="Text 32"/>
          <p:cNvSpPr txBox="1"/>
          <p:nvPr/>
        </p:nvSpPr>
        <p:spPr>
          <a:xfrm>
            <a:off x="6675120" y="265176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#483</a:t>
            </a:r>
            <a:endParaRPr lang="en-US" sz="1100" dirty="0"/>
          </a:p>
        </p:txBody>
      </p:sp>
      <p:sp>
        <p:nvSpPr>
          <p:cNvPr id="44" name="Shape 33"/>
          <p:cNvSpPr/>
          <p:nvPr/>
        </p:nvSpPr>
        <p:spPr>
          <a:xfrm>
            <a:off x="6355080" y="3017520"/>
            <a:ext cx="1600200" cy="301752"/>
          </a:xfrm>
          <a:prstGeom prst="roundRect">
            <a:avLst>
              <a:gd name="adj" fmla="val 15152"/>
            </a:avLst>
          </a:prstGeom>
          <a:solidFill>
            <a:srgbClr val="FFFFFF"/>
          </a:solidFill>
          <a:ln w="12700">
            <a:solidFill>
              <a:srgbClr val="D7DDE8"/>
            </a:solidFill>
            <a:prstDash val="solid"/>
          </a:ln>
        </p:spPr>
      </p:sp>
      <p:pic>
        <p:nvPicPr>
          <p:cNvPr id="45" name="Image 9" descr="preencoded.png">    </p:cNvPr>
          <p:cNvPicPr>
            <a:picLocks noChangeAspect="1"/>
          </p:cNvPicPr>
          <p:nvPr/>
        </p:nvPicPr>
        <p:blipFill>
          <a:blip r:embed="rId10"/>
          <a:stretch>
            <a:fillRect/>
          </a:stretch>
        </p:blipFill>
        <p:spPr>
          <a:xfrm>
            <a:off x="6428232" y="3081528"/>
            <a:ext cx="173736" cy="173736"/>
          </a:xfrm>
          <a:prstGeom prst="rect">
            <a:avLst/>
          </a:prstGeom>
        </p:spPr>
      </p:pic>
      <p:sp>
        <p:nvSpPr>
          <p:cNvPr id="46" name="Text 34"/>
          <p:cNvSpPr txBox="1"/>
          <p:nvPr/>
        </p:nvSpPr>
        <p:spPr>
          <a:xfrm>
            <a:off x="6675120" y="301752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#484</a:t>
            </a:r>
            <a:endParaRPr lang="en-US" sz="1100" dirty="0"/>
          </a:p>
        </p:txBody>
      </p:sp>
      <p:sp>
        <p:nvSpPr>
          <p:cNvPr id="47" name="Shape 35"/>
          <p:cNvSpPr/>
          <p:nvPr/>
        </p:nvSpPr>
        <p:spPr>
          <a:xfrm>
            <a:off x="6355080" y="3383280"/>
            <a:ext cx="1600200" cy="301752"/>
          </a:xfrm>
          <a:prstGeom prst="roundRect">
            <a:avLst>
              <a:gd name="adj" fmla="val 15152"/>
            </a:avLst>
          </a:prstGeom>
          <a:solidFill>
            <a:srgbClr val="FFFFFF"/>
          </a:solidFill>
          <a:ln w="12700">
            <a:solidFill>
              <a:srgbClr val="D7DDE8"/>
            </a:solidFill>
            <a:prstDash val="solid"/>
          </a:ln>
        </p:spPr>
      </p:sp>
      <p:pic>
        <p:nvPicPr>
          <p:cNvPr id="48" name="Image 10" descr="preencoded.png">    </p:cNvPr>
          <p:cNvPicPr>
            <a:picLocks noChangeAspect="1"/>
          </p:cNvPicPr>
          <p:nvPr/>
        </p:nvPicPr>
        <p:blipFill>
          <a:blip r:embed="rId11"/>
          <a:stretch>
            <a:fillRect/>
          </a:stretch>
        </p:blipFill>
        <p:spPr>
          <a:xfrm>
            <a:off x="6428232" y="3447288"/>
            <a:ext cx="173736" cy="173736"/>
          </a:xfrm>
          <a:prstGeom prst="rect">
            <a:avLst/>
          </a:prstGeom>
        </p:spPr>
      </p:pic>
      <p:sp>
        <p:nvSpPr>
          <p:cNvPr id="49" name="Text 36"/>
          <p:cNvSpPr txBox="1"/>
          <p:nvPr/>
        </p:nvSpPr>
        <p:spPr>
          <a:xfrm>
            <a:off x="6675120" y="338328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#485</a:t>
            </a:r>
            <a:endParaRPr lang="en-US" sz="1100" dirty="0"/>
          </a:p>
        </p:txBody>
      </p:sp>
      <p:sp>
        <p:nvSpPr>
          <p:cNvPr id="50" name="Shape 37"/>
          <p:cNvSpPr/>
          <p:nvPr/>
        </p:nvSpPr>
        <p:spPr>
          <a:xfrm>
            <a:off x="6355080" y="3749040"/>
            <a:ext cx="1600200" cy="301752"/>
          </a:xfrm>
          <a:prstGeom prst="roundRect">
            <a:avLst>
              <a:gd name="adj" fmla="val 15152"/>
            </a:avLst>
          </a:prstGeom>
          <a:solidFill>
            <a:srgbClr val="FFFFFF"/>
          </a:solidFill>
          <a:ln w="12700">
            <a:solidFill>
              <a:srgbClr val="D7DDE8"/>
            </a:solidFill>
            <a:prstDash val="solid"/>
          </a:ln>
        </p:spPr>
      </p:sp>
      <p:pic>
        <p:nvPicPr>
          <p:cNvPr id="51" name="Image 11" descr="preencoded.png">    </p:cNvPr>
          <p:cNvPicPr>
            <a:picLocks noChangeAspect="1"/>
          </p:cNvPicPr>
          <p:nvPr/>
        </p:nvPicPr>
        <p:blipFill>
          <a:blip r:embed="rId12"/>
          <a:stretch>
            <a:fillRect/>
          </a:stretch>
        </p:blipFill>
        <p:spPr>
          <a:xfrm>
            <a:off x="6428232" y="3813048"/>
            <a:ext cx="173736" cy="173736"/>
          </a:xfrm>
          <a:prstGeom prst="rect">
            <a:avLst/>
          </a:prstGeom>
        </p:spPr>
      </p:pic>
      <p:sp>
        <p:nvSpPr>
          <p:cNvPr id="52" name="Text 38"/>
          <p:cNvSpPr txBox="1"/>
          <p:nvPr/>
        </p:nvSpPr>
        <p:spPr>
          <a:xfrm>
            <a:off x="6675120" y="374904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#486</a:t>
            </a:r>
            <a:endParaRPr lang="en-US" sz="1100" dirty="0"/>
          </a:p>
        </p:txBody>
      </p:sp>
      <p:sp>
        <p:nvSpPr>
          <p:cNvPr id="53" name="Shape 39"/>
          <p:cNvSpPr/>
          <p:nvPr/>
        </p:nvSpPr>
        <p:spPr>
          <a:xfrm>
            <a:off x="6355080" y="4114800"/>
            <a:ext cx="1600200" cy="301752"/>
          </a:xfrm>
          <a:prstGeom prst="roundRect">
            <a:avLst>
              <a:gd name="adj" fmla="val 15152"/>
            </a:avLst>
          </a:prstGeom>
          <a:solidFill>
            <a:srgbClr val="FFFFFF"/>
          </a:solidFill>
          <a:ln w="12700">
            <a:solidFill>
              <a:srgbClr val="D7DDE8"/>
            </a:solidFill>
            <a:prstDash val="solid"/>
          </a:ln>
        </p:spPr>
      </p:sp>
      <p:pic>
        <p:nvPicPr>
          <p:cNvPr id="54" name="Image 12" descr="preencoded.png">    </p:cNvPr>
          <p:cNvPicPr>
            <a:picLocks noChangeAspect="1"/>
          </p:cNvPicPr>
          <p:nvPr/>
        </p:nvPicPr>
        <p:blipFill>
          <a:blip r:embed="rId13"/>
          <a:stretch>
            <a:fillRect/>
          </a:stretch>
        </p:blipFill>
        <p:spPr>
          <a:xfrm>
            <a:off x="6428232" y="4178808"/>
            <a:ext cx="173736" cy="173736"/>
          </a:xfrm>
          <a:prstGeom prst="rect">
            <a:avLst/>
          </a:prstGeom>
        </p:spPr>
      </p:pic>
      <p:sp>
        <p:nvSpPr>
          <p:cNvPr id="55" name="Text 40"/>
          <p:cNvSpPr txBox="1"/>
          <p:nvPr/>
        </p:nvSpPr>
        <p:spPr>
          <a:xfrm>
            <a:off x="6675120" y="4114800"/>
            <a:ext cx="1188720" cy="3017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 #487</a:t>
            </a:r>
            <a:endParaRPr lang="en-US" sz="1100" dirty="0"/>
          </a:p>
        </p:txBody>
      </p:sp>
      <p:sp>
        <p:nvSpPr>
          <p:cNvPr id="56" name="Shape 41"/>
          <p:cNvSpPr/>
          <p:nvPr/>
        </p:nvSpPr>
        <p:spPr>
          <a:xfrm>
            <a:off x="8046720" y="3200400"/>
            <a:ext cx="594360" cy="0"/>
          </a:xfrm>
          <a:prstGeom prst="line">
            <a:avLst/>
          </a:prstGeom>
          <a:noFill/>
          <a:ln w="25400">
            <a:solidFill>
              <a:srgbClr val="4A5468"/>
            </a:solidFill>
            <a:prstDash val="solid"/>
            <a:tailEnd type="triangle"/>
          </a:ln>
        </p:spPr>
      </p:sp>
      <p:sp>
        <p:nvSpPr>
          <p:cNvPr id="57" name="Shape 42"/>
          <p:cNvSpPr/>
          <p:nvPr/>
        </p:nvSpPr>
        <p:spPr>
          <a:xfrm rot="5400000">
            <a:off x="8686800" y="2606040"/>
            <a:ext cx="1188720" cy="1188720"/>
          </a:xfrm>
          <a:prstGeom prst="trapezoid">
            <a:avLst/>
          </a:prstGeom>
          <a:solidFill>
            <a:srgbClr val="FDE7DD"/>
          </a:solidFill>
          <a:ln w="19050">
            <a:solidFill>
              <a:srgbClr val="F26B38"/>
            </a:solidFill>
            <a:prstDash val="solid"/>
          </a:ln>
        </p:spPr>
      </p:sp>
      <p:sp>
        <p:nvSpPr>
          <p:cNvPr id="58" name="Shape 43"/>
          <p:cNvSpPr/>
          <p:nvPr/>
        </p:nvSpPr>
        <p:spPr>
          <a:xfrm>
            <a:off x="9921240" y="3200400"/>
            <a:ext cx="365760" cy="0"/>
          </a:xfrm>
          <a:prstGeom prst="line">
            <a:avLst/>
          </a:prstGeom>
          <a:noFill/>
          <a:ln w="25400">
            <a:solidFill>
              <a:srgbClr val="F26B38"/>
            </a:solidFill>
            <a:prstDash val="solid"/>
            <a:tailEnd type="triangle"/>
          </a:ln>
        </p:spPr>
      </p:sp>
      <p:sp>
        <p:nvSpPr>
          <p:cNvPr id="59" name="Shape 44"/>
          <p:cNvSpPr/>
          <p:nvPr/>
        </p:nvSpPr>
        <p:spPr>
          <a:xfrm>
            <a:off x="10332720" y="2743200"/>
            <a:ext cx="914400" cy="914400"/>
          </a:xfrm>
          <a:prstGeom prst="ellipse">
            <a:avLst/>
          </a:prstGeom>
          <a:solidFill>
            <a:srgbClr val="F26B38"/>
          </a:solidFill>
          <a:ln w="12700">
            <a:solidFill>
              <a:srgbClr val="F26B38"/>
            </a:solidFill>
            <a:prstDash val="solid"/>
          </a:ln>
        </p:spPr>
      </p:sp>
      <p:pic>
        <p:nvPicPr>
          <p:cNvPr id="60" name="Image 13" descr="preencoded.png">    </p:cNvPr>
          <p:cNvPicPr>
            <a:picLocks noChangeAspect="1"/>
          </p:cNvPicPr>
          <p:nvPr/>
        </p:nvPicPr>
        <p:blipFill>
          <a:blip r:embed="rId14"/>
          <a:stretch>
            <a:fillRect/>
          </a:stretch>
        </p:blipFill>
        <p:spPr>
          <a:xfrm>
            <a:off x="10552176" y="2962656"/>
            <a:ext cx="475488" cy="475488"/>
          </a:xfrm>
          <a:prstGeom prst="rect">
            <a:avLst/>
          </a:prstGeom>
        </p:spPr>
      </p:pic>
      <p:sp>
        <p:nvSpPr>
          <p:cNvPr id="61" name="Text 45"/>
          <p:cNvSpPr txBox="1"/>
          <p:nvPr/>
        </p:nvSpPr>
        <p:spPr>
          <a:xfrm>
            <a:off x="9829800" y="3749040"/>
            <a:ext cx="1920240" cy="274320"/>
          </a:xfrm>
          <a:prstGeom prst="rect">
            <a:avLst/>
          </a:prstGeom>
          <a:noFill/>
          <a:ln/>
        </p:spPr>
        <p:txBody>
          <a:bodyPr wrap="square" lIns="0" tIns="0" rIns="0" bIns="0" rtlCol="0" anchor="t"/>
          <a:lstStyle/>
          <a:p>
            <a:pPr algn="ctr" indent="0" marL="0">
              <a:buNone/>
            </a:pPr>
            <a:r>
              <a:rPr lang="en-US" sz="1300" b="1" dirty="0">
                <a:solidFill>
                  <a:srgbClr val="F26B38"/>
                </a:solidFill>
                <a:latin typeface="Arial" pitchFamily="34" charset="0"/>
                <a:ea typeface="Arial" pitchFamily="34" charset="-122"/>
                <a:cs typeface="Arial" pitchFamily="34" charset="-120"/>
              </a:rPr>
              <a:t>Human review</a:t>
            </a:r>
            <a:endParaRPr lang="en-US" sz="1300" dirty="0"/>
          </a:p>
        </p:txBody>
      </p:sp>
      <p:sp>
        <p:nvSpPr>
          <p:cNvPr id="62" name="Text 46"/>
          <p:cNvSpPr txBox="1"/>
          <p:nvPr/>
        </p:nvSpPr>
        <p:spPr>
          <a:xfrm>
            <a:off x="9829800" y="4023360"/>
            <a:ext cx="1920240" cy="27432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Same people, same hours</a:t>
            </a:r>
            <a:endParaRPr lang="en-US" sz="1100" dirty="0"/>
          </a:p>
        </p:txBody>
      </p:sp>
      <p:sp>
        <p:nvSpPr>
          <p:cNvPr id="63" name="Shape 47"/>
          <p:cNvSpPr/>
          <p:nvPr/>
        </p:nvSpPr>
        <p:spPr>
          <a:xfrm>
            <a:off x="548640" y="4846320"/>
            <a:ext cx="3611880" cy="1417320"/>
          </a:xfrm>
          <a:prstGeom prst="roundRect">
            <a:avLst>
              <a:gd name="adj" fmla="val 6452"/>
            </a:avLst>
          </a:prstGeom>
          <a:solidFill>
            <a:srgbClr val="F1F4F9"/>
          </a:solidFill>
          <a:ln w="12700">
            <a:solidFill>
              <a:srgbClr val="F1F4F9"/>
            </a:solidFill>
            <a:prstDash val="solid"/>
          </a:ln>
        </p:spPr>
      </p:sp>
      <p:sp>
        <p:nvSpPr>
          <p:cNvPr id="64" name="Text 48"/>
          <p:cNvSpPr txBox="1"/>
          <p:nvPr/>
        </p:nvSpPr>
        <p:spPr>
          <a:xfrm>
            <a:off x="777240" y="4983480"/>
            <a:ext cx="3200400" cy="548640"/>
          </a:xfrm>
          <a:prstGeom prst="rect">
            <a:avLst/>
          </a:prstGeom>
          <a:noFill/>
          <a:ln/>
        </p:spPr>
        <p:txBody>
          <a:bodyPr wrap="square" lIns="0" tIns="0" rIns="0" bIns="0" rtlCol="0" anchor="b"/>
          <a:lstStyle/>
          <a:p>
            <a:pPr indent="0" marL="0">
              <a:buNone/>
            </a:pPr>
            <a:r>
              <a:rPr lang="en-US" sz="1500" b="1" dirty="0">
                <a:solidFill>
                  <a:srgbClr val="14213D"/>
                </a:solidFill>
                <a:latin typeface="Arial" pitchFamily="34" charset="0"/>
                <a:ea typeface="Arial" pitchFamily="34" charset="-122"/>
                <a:cs typeface="Arial" pitchFamily="34" charset="-120"/>
              </a:rPr>
              <a:t>Speed means more PRs.</a:t>
            </a:r>
            <a:endParaRPr lang="en-US" sz="1500" dirty="0"/>
          </a:p>
        </p:txBody>
      </p:sp>
      <p:sp>
        <p:nvSpPr>
          <p:cNvPr id="65" name="Text 49"/>
          <p:cNvSpPr txBox="1"/>
          <p:nvPr/>
        </p:nvSpPr>
        <p:spPr>
          <a:xfrm>
            <a:off x="777240" y="5596128"/>
            <a:ext cx="3200400" cy="548640"/>
          </a:xfrm>
          <a:prstGeom prst="rect">
            <a:avLst/>
          </a:prstGeom>
          <a:noFill/>
          <a:ln/>
        </p:spPr>
        <p:txBody>
          <a:bodyPr wrap="square" lIns="0" tIns="0" rIns="0" bIns="0" rtlCol="0" anchor="t"/>
          <a:lstStyle/>
          <a:p>
            <a:pPr indent="0" marL="0">
              <a:buNone/>
            </a:pPr>
            <a:r>
              <a:rPr lang="en-US" sz="1200" dirty="0">
                <a:solidFill>
                  <a:srgbClr val="4A5468"/>
                </a:solidFill>
                <a:latin typeface="Arial" pitchFamily="34" charset="0"/>
                <a:ea typeface="Arial" pitchFamily="34" charset="-122"/>
                <a:cs typeface="Arial" pitchFamily="34" charset="-120"/>
              </a:rPr>
              <a:t>Every new trigger adds PRs to the pile.</a:t>
            </a:r>
            <a:endParaRPr lang="en-US" sz="1200" dirty="0"/>
          </a:p>
        </p:txBody>
      </p:sp>
      <p:sp>
        <p:nvSpPr>
          <p:cNvPr id="66" name="Shape 50"/>
          <p:cNvSpPr/>
          <p:nvPr/>
        </p:nvSpPr>
        <p:spPr>
          <a:xfrm>
            <a:off x="4315968" y="4846320"/>
            <a:ext cx="3611880" cy="1417320"/>
          </a:xfrm>
          <a:prstGeom prst="roundRect">
            <a:avLst>
              <a:gd name="adj" fmla="val 6452"/>
            </a:avLst>
          </a:prstGeom>
          <a:solidFill>
            <a:srgbClr val="F1F4F9"/>
          </a:solidFill>
          <a:ln w="12700">
            <a:solidFill>
              <a:srgbClr val="F1F4F9"/>
            </a:solidFill>
            <a:prstDash val="solid"/>
          </a:ln>
        </p:spPr>
      </p:sp>
      <p:sp>
        <p:nvSpPr>
          <p:cNvPr id="67" name="Text 51"/>
          <p:cNvSpPr txBox="1"/>
          <p:nvPr/>
        </p:nvSpPr>
        <p:spPr>
          <a:xfrm>
            <a:off x="4544568" y="4983480"/>
            <a:ext cx="3200400" cy="548640"/>
          </a:xfrm>
          <a:prstGeom prst="rect">
            <a:avLst/>
          </a:prstGeom>
          <a:noFill/>
          <a:ln/>
        </p:spPr>
        <p:txBody>
          <a:bodyPr wrap="square" lIns="0" tIns="0" rIns="0" bIns="0" rtlCol="0" anchor="b"/>
          <a:lstStyle/>
          <a:p>
            <a:pPr indent="0" marL="0">
              <a:buNone/>
            </a:pPr>
            <a:r>
              <a:rPr lang="en-US" sz="1500" b="1" dirty="0">
                <a:solidFill>
                  <a:srgbClr val="14213D"/>
                </a:solidFill>
                <a:latin typeface="Arial" pitchFamily="34" charset="0"/>
                <a:ea typeface="Arial" pitchFamily="34" charset="-122"/>
                <a:cs typeface="Arial" pitchFamily="34" charset="-120"/>
              </a:rPr>
              <a:t>Without brakes, the factory is a slop cannon.</a:t>
            </a:r>
            <a:endParaRPr lang="en-US" sz="1500" dirty="0"/>
          </a:p>
        </p:txBody>
      </p:sp>
      <p:sp>
        <p:nvSpPr>
          <p:cNvPr id="68" name="Text 52"/>
          <p:cNvSpPr txBox="1"/>
          <p:nvPr/>
        </p:nvSpPr>
        <p:spPr>
          <a:xfrm>
            <a:off x="4544568" y="5596128"/>
            <a:ext cx="3200400" cy="548640"/>
          </a:xfrm>
          <a:prstGeom prst="rect">
            <a:avLst/>
          </a:prstGeom>
          <a:noFill/>
          <a:ln/>
        </p:spPr>
        <p:txBody>
          <a:bodyPr wrap="square" lIns="0" tIns="0" rIns="0" bIns="0" rtlCol="0" anchor="t"/>
          <a:lstStyle/>
          <a:p>
            <a:pPr indent="0" marL="0">
              <a:buNone/>
            </a:pPr>
            <a:r>
              <a:rPr lang="en-US" sz="1200" dirty="0">
                <a:solidFill>
                  <a:srgbClr val="4A5468"/>
                </a:solidFill>
                <a:latin typeface="Arial" pitchFamily="34" charset="0"/>
                <a:ea typeface="Arial" pitchFamily="34" charset="-122"/>
                <a:cs typeface="Arial" pitchFamily="34" charset="-120"/>
              </a:rPr>
              <a:t>A pile of PRs nobody can review, or even read.</a:t>
            </a:r>
            <a:endParaRPr lang="en-US" sz="1200" dirty="0"/>
          </a:p>
        </p:txBody>
      </p:sp>
      <p:sp>
        <p:nvSpPr>
          <p:cNvPr id="69" name="Shape 53"/>
          <p:cNvSpPr/>
          <p:nvPr/>
        </p:nvSpPr>
        <p:spPr>
          <a:xfrm>
            <a:off x="8083296" y="4846320"/>
            <a:ext cx="3611880" cy="1417320"/>
          </a:xfrm>
          <a:prstGeom prst="roundRect">
            <a:avLst>
              <a:gd name="adj" fmla="val 6452"/>
            </a:avLst>
          </a:prstGeom>
          <a:solidFill>
            <a:srgbClr val="F1F4F9"/>
          </a:solidFill>
          <a:ln w="12700">
            <a:solidFill>
              <a:srgbClr val="F1F4F9"/>
            </a:solidFill>
            <a:prstDash val="solid"/>
          </a:ln>
        </p:spPr>
      </p:sp>
      <p:sp>
        <p:nvSpPr>
          <p:cNvPr id="70" name="Text 54"/>
          <p:cNvSpPr txBox="1"/>
          <p:nvPr/>
        </p:nvSpPr>
        <p:spPr>
          <a:xfrm>
            <a:off x="8311896" y="4983480"/>
            <a:ext cx="3200400" cy="548640"/>
          </a:xfrm>
          <a:prstGeom prst="rect">
            <a:avLst/>
          </a:prstGeom>
          <a:noFill/>
          <a:ln/>
        </p:spPr>
        <p:txBody>
          <a:bodyPr wrap="square" lIns="0" tIns="0" rIns="0" bIns="0" rtlCol="0" anchor="b"/>
          <a:lstStyle/>
          <a:p>
            <a:pPr indent="0" marL="0">
              <a:buNone/>
            </a:pPr>
            <a:r>
              <a:rPr lang="en-US" sz="1500" b="1" dirty="0">
                <a:solidFill>
                  <a:srgbClr val="14213D"/>
                </a:solidFill>
                <a:latin typeface="Arial" pitchFamily="34" charset="0"/>
                <a:ea typeface="Arial" pitchFamily="34" charset="-122"/>
                <a:cs typeface="Arial" pitchFamily="34" charset="-120"/>
              </a:rPr>
              <a:t>Bad code begets bad code.</a:t>
            </a:r>
            <a:endParaRPr lang="en-US" sz="1500" dirty="0"/>
          </a:p>
        </p:txBody>
      </p:sp>
      <p:sp>
        <p:nvSpPr>
          <p:cNvPr id="71" name="Text 55"/>
          <p:cNvSpPr txBox="1"/>
          <p:nvPr/>
        </p:nvSpPr>
        <p:spPr>
          <a:xfrm>
            <a:off x="8311896" y="5596128"/>
            <a:ext cx="3200400" cy="548640"/>
          </a:xfrm>
          <a:prstGeom prst="rect">
            <a:avLst/>
          </a:prstGeom>
          <a:noFill/>
          <a:ln/>
        </p:spPr>
        <p:txBody>
          <a:bodyPr wrap="square" lIns="0" tIns="0" rIns="0" bIns="0" rtlCol="0" anchor="t"/>
          <a:lstStyle/>
          <a:p>
            <a:pPr indent="0" marL="0">
              <a:buNone/>
            </a:pPr>
            <a:r>
              <a:rPr lang="en-US" sz="1200" dirty="0">
                <a:solidFill>
                  <a:srgbClr val="4A5468"/>
                </a:solidFill>
                <a:latin typeface="Arial" pitchFamily="34" charset="0"/>
                <a:ea typeface="Arial" pitchFamily="34" charset="-122"/>
                <a:cs typeface="Arial" pitchFamily="34" charset="-120"/>
              </a:rPr>
              <a:t>The codebase is the environment the next agent works in.</a:t>
            </a:r>
            <a:endParaRPr lang="en-US" sz="1200" dirty="0"/>
          </a:p>
        </p:txBody>
      </p:sp>
      <p:sp>
        <p:nvSpPr>
          <p:cNvPr id="72" name="Text 56"/>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73" name="Text 57"/>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9184"/>
            <a:ext cx="1185062"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THE MODEL</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Three layers of review. Catch each finding in the cheapest one.</a:t>
            </a:r>
            <a:endParaRPr lang="en-US" sz="2800" dirty="0"/>
          </a:p>
        </p:txBody>
      </p:sp>
      <p:sp>
        <p:nvSpPr>
          <p:cNvPr id="4" name="Text 2"/>
          <p:cNvSpPr txBox="1"/>
          <p:nvPr/>
        </p:nvSpPr>
        <p:spPr>
          <a:xfrm>
            <a:off x="6629400" y="1481328"/>
            <a:ext cx="1737360" cy="274320"/>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COST PER FINDING</a:t>
            </a:r>
            <a:endParaRPr lang="en-US" sz="1000" dirty="0"/>
          </a:p>
        </p:txBody>
      </p:sp>
      <p:sp>
        <p:nvSpPr>
          <p:cNvPr id="5" name="Text 3"/>
          <p:cNvSpPr/>
          <p:nvPr/>
        </p:nvSpPr>
        <p:spPr>
          <a:xfrm>
            <a:off x="1920240" y="1828800"/>
            <a:ext cx="2926080" cy="960120"/>
          </a:xfrm>
          <a:prstGeom prst="roundRect">
            <a:avLst>
              <a:gd name="adj" fmla="val 9524"/>
            </a:avLst>
          </a:prstGeom>
          <a:solidFill>
            <a:srgbClr val="F26B38"/>
          </a:solidFill>
          <a:ln>
            <a:solidFill>
              <a:srgbClr val="F26B38"/>
            </a:solidFill>
          </a:ln>
        </p:spPr>
        <p:txBody>
          <a:bodyPr wrap="square" lIns="50800" tIns="50800" rIns="50800" bIns="5080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Human review</a:t>
            </a:r>
            <a:endParaRPr lang="en-US" sz="1900" dirty="0"/>
          </a:p>
        </p:txBody>
      </p:sp>
      <p:pic>
        <p:nvPicPr>
          <p:cNvPr id="6" name="Image 0" descr="preencoded.png">    </p:cNvPr>
          <p:cNvPicPr>
            <a:picLocks noChangeAspect="1"/>
          </p:cNvPicPr>
          <p:nvPr/>
        </p:nvPicPr>
        <p:blipFill>
          <a:blip r:embed="rId1"/>
          <a:stretch>
            <a:fillRect/>
          </a:stretch>
        </p:blipFill>
        <p:spPr>
          <a:xfrm>
            <a:off x="6629400" y="2139696"/>
            <a:ext cx="329184" cy="329184"/>
          </a:xfrm>
          <a:prstGeom prst="rect">
            <a:avLst/>
          </a:prstGeom>
        </p:spPr>
      </p:pic>
      <p:pic>
        <p:nvPicPr>
          <p:cNvPr id="7" name="Image 1" descr="preencoded.png">    </p:cNvPr>
          <p:cNvPicPr>
            <a:picLocks noChangeAspect="1"/>
          </p:cNvPicPr>
          <p:nvPr/>
        </p:nvPicPr>
        <p:blipFill>
          <a:blip r:embed="rId2"/>
          <a:stretch>
            <a:fillRect/>
          </a:stretch>
        </p:blipFill>
        <p:spPr>
          <a:xfrm>
            <a:off x="7013448" y="2139696"/>
            <a:ext cx="329184" cy="329184"/>
          </a:xfrm>
          <a:prstGeom prst="rect">
            <a:avLst/>
          </a:prstGeom>
        </p:spPr>
      </p:pic>
      <p:pic>
        <p:nvPicPr>
          <p:cNvPr id="8" name="Image 2" descr="preencoded.png">    </p:cNvPr>
          <p:cNvPicPr>
            <a:picLocks noChangeAspect="1"/>
          </p:cNvPicPr>
          <p:nvPr/>
        </p:nvPicPr>
        <p:blipFill>
          <a:blip r:embed="rId3"/>
          <a:stretch>
            <a:fillRect/>
          </a:stretch>
        </p:blipFill>
        <p:spPr>
          <a:xfrm>
            <a:off x="7397496" y="2139696"/>
            <a:ext cx="329184" cy="329184"/>
          </a:xfrm>
          <a:prstGeom prst="rect">
            <a:avLst/>
          </a:prstGeom>
        </p:spPr>
      </p:pic>
      <p:sp>
        <p:nvSpPr>
          <p:cNvPr id="9" name="Text 4"/>
          <p:cNvSpPr txBox="1"/>
          <p:nvPr/>
        </p:nvSpPr>
        <p:spPr>
          <a:xfrm>
            <a:off x="8001000" y="1938528"/>
            <a:ext cx="3657600" cy="320040"/>
          </a:xfrm>
          <a:prstGeom prst="rect">
            <a:avLst/>
          </a:prstGeom>
          <a:noFill/>
          <a:ln/>
        </p:spPr>
        <p:txBody>
          <a:bodyPr wrap="square" lIns="0" tIns="0" rIns="0" bIns="0" rtlCol="0" anchor="t"/>
          <a:lstStyle/>
          <a:p>
            <a:pPr indent="0" marL="0">
              <a:buNone/>
            </a:pPr>
            <a:r>
              <a:rPr lang="en-US" sz="1600" b="1" dirty="0">
                <a:solidFill>
                  <a:srgbClr val="F26B38"/>
                </a:solidFill>
                <a:latin typeface="Arial" pitchFamily="34" charset="0"/>
                <a:ea typeface="Arial" pitchFamily="34" charset="-122"/>
                <a:cs typeface="Arial" pitchFamily="34" charset="-120"/>
              </a:rPr>
              <a:t>People's time</a:t>
            </a:r>
            <a:endParaRPr lang="en-US" sz="1600" dirty="0"/>
          </a:p>
        </p:txBody>
      </p:sp>
      <p:sp>
        <p:nvSpPr>
          <p:cNvPr id="10" name="Text 5"/>
          <p:cNvSpPr txBox="1"/>
          <p:nvPr/>
        </p:nvSpPr>
        <p:spPr>
          <a:xfrm>
            <a:off x="8001000" y="2267712"/>
            <a:ext cx="3657600" cy="502920"/>
          </a:xfrm>
          <a:prstGeom prst="rect">
            <a:avLst/>
          </a:prstGeom>
          <a:noFill/>
          <a:ln/>
        </p:spPr>
        <p:txBody>
          <a:bodyPr wrap="square" lIns="0" tIns="0" rIns="0" bIns="0" rtlCol="0" anchor="t"/>
          <a:lstStyle/>
          <a:p>
            <a:pPr indent="0" marL="0">
              <a:buNone/>
            </a:pPr>
            <a:r>
              <a:rPr lang="en-US" sz="1250" dirty="0">
                <a:solidFill>
                  <a:srgbClr val="4A5468"/>
                </a:solidFill>
                <a:latin typeface="Arial" pitchFamily="34" charset="0"/>
                <a:ea typeface="Arial" pitchFamily="34" charset="-122"/>
                <a:cs typeface="Arial" pitchFamily="34" charset="-120"/>
              </a:rPr>
              <a:t>People read the PR and decide whether it merges.</a:t>
            </a:r>
            <a:endParaRPr lang="en-US" sz="1250" dirty="0"/>
          </a:p>
        </p:txBody>
      </p:sp>
      <p:sp>
        <p:nvSpPr>
          <p:cNvPr id="11" name="Text 6"/>
          <p:cNvSpPr/>
          <p:nvPr/>
        </p:nvSpPr>
        <p:spPr>
          <a:xfrm>
            <a:off x="1234440" y="2898648"/>
            <a:ext cx="4297680" cy="960120"/>
          </a:xfrm>
          <a:prstGeom prst="roundRect">
            <a:avLst>
              <a:gd name="adj" fmla="val 9524"/>
            </a:avLst>
          </a:prstGeom>
          <a:solidFill>
            <a:srgbClr val="4F5BD5"/>
          </a:solidFill>
          <a:ln>
            <a:solidFill>
              <a:srgbClr val="4F5BD5"/>
            </a:solidFill>
          </a:ln>
        </p:spPr>
        <p:txBody>
          <a:bodyPr wrap="square" lIns="50800" tIns="50800" rIns="50800" bIns="5080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Automated review</a:t>
            </a:r>
            <a:endParaRPr lang="en-US" sz="1900" dirty="0"/>
          </a:p>
        </p:txBody>
      </p:sp>
      <p:pic>
        <p:nvPicPr>
          <p:cNvPr id="12" name="Image 3" descr="preencoded.png">    </p:cNvPr>
          <p:cNvPicPr>
            <a:picLocks noChangeAspect="1"/>
          </p:cNvPicPr>
          <p:nvPr/>
        </p:nvPicPr>
        <p:blipFill>
          <a:blip r:embed="rId4"/>
          <a:stretch>
            <a:fillRect/>
          </a:stretch>
        </p:blipFill>
        <p:spPr>
          <a:xfrm>
            <a:off x="6629400" y="3209544"/>
            <a:ext cx="329184" cy="329184"/>
          </a:xfrm>
          <a:prstGeom prst="rect">
            <a:avLst/>
          </a:prstGeom>
        </p:spPr>
      </p:pic>
      <p:pic>
        <p:nvPicPr>
          <p:cNvPr id="13" name="Image 4" descr="preencoded.png">    </p:cNvPr>
          <p:cNvPicPr>
            <a:picLocks noChangeAspect="1"/>
          </p:cNvPicPr>
          <p:nvPr/>
        </p:nvPicPr>
        <p:blipFill>
          <a:blip r:embed="rId5"/>
          <a:stretch>
            <a:fillRect/>
          </a:stretch>
        </p:blipFill>
        <p:spPr>
          <a:xfrm>
            <a:off x="7013448" y="3209544"/>
            <a:ext cx="329184" cy="329184"/>
          </a:xfrm>
          <a:prstGeom prst="rect">
            <a:avLst/>
          </a:prstGeom>
        </p:spPr>
      </p:pic>
      <p:pic>
        <p:nvPicPr>
          <p:cNvPr id="14" name="Image 5" descr="preencoded.png">    </p:cNvPr>
          <p:cNvPicPr>
            <a:picLocks noChangeAspect="1"/>
          </p:cNvPicPr>
          <p:nvPr/>
        </p:nvPicPr>
        <p:blipFill>
          <a:blip r:embed="rId6"/>
          <a:stretch>
            <a:fillRect/>
          </a:stretch>
        </p:blipFill>
        <p:spPr>
          <a:xfrm>
            <a:off x="7397496" y="3209544"/>
            <a:ext cx="329184" cy="329184"/>
          </a:xfrm>
          <a:prstGeom prst="rect">
            <a:avLst/>
          </a:prstGeom>
        </p:spPr>
      </p:pic>
      <p:sp>
        <p:nvSpPr>
          <p:cNvPr id="15" name="Text 7"/>
          <p:cNvSpPr txBox="1"/>
          <p:nvPr/>
        </p:nvSpPr>
        <p:spPr>
          <a:xfrm>
            <a:off x="8001000" y="3008376"/>
            <a:ext cx="3657600" cy="320040"/>
          </a:xfrm>
          <a:prstGeom prst="rect">
            <a:avLst/>
          </a:prstGeom>
          <a:noFill/>
          <a:ln/>
        </p:spPr>
        <p:txBody>
          <a:bodyPr wrap="square" lIns="0" tIns="0" rIns="0" bIns="0" rtlCol="0" anchor="t"/>
          <a:lstStyle/>
          <a:p>
            <a:pPr indent="0" marL="0">
              <a:buNone/>
            </a:pPr>
            <a:r>
              <a:rPr lang="en-US" sz="1600" b="1" dirty="0">
                <a:solidFill>
                  <a:srgbClr val="4F5BD5"/>
                </a:solidFill>
                <a:latin typeface="Arial" pitchFamily="34" charset="0"/>
                <a:ea typeface="Arial" pitchFamily="34" charset="-122"/>
                <a:cs typeface="Arial" pitchFamily="34" charset="-120"/>
              </a:rPr>
              <a:t>Tokens</a:t>
            </a:r>
            <a:endParaRPr lang="en-US" sz="1600" dirty="0"/>
          </a:p>
        </p:txBody>
      </p:sp>
      <p:sp>
        <p:nvSpPr>
          <p:cNvPr id="16" name="Text 8"/>
          <p:cNvSpPr txBox="1"/>
          <p:nvPr/>
        </p:nvSpPr>
        <p:spPr>
          <a:xfrm>
            <a:off x="8001000" y="3337560"/>
            <a:ext cx="3657600" cy="502920"/>
          </a:xfrm>
          <a:prstGeom prst="rect">
            <a:avLst/>
          </a:prstGeom>
          <a:noFill/>
          <a:ln/>
        </p:spPr>
        <p:txBody>
          <a:bodyPr wrap="square" lIns="0" tIns="0" rIns="0" bIns="0" rtlCol="0" anchor="t"/>
          <a:lstStyle/>
          <a:p>
            <a:pPr indent="0" marL="0">
              <a:buNone/>
            </a:pPr>
            <a:r>
              <a:rPr lang="en-US" sz="1250" dirty="0">
                <a:solidFill>
                  <a:srgbClr val="4A5468"/>
                </a:solidFill>
                <a:latin typeface="Arial" pitchFamily="34" charset="0"/>
                <a:ea typeface="Arial" pitchFamily="34" charset="-122"/>
                <a:cs typeface="Arial" pitchFamily="34" charset="-120"/>
              </a:rPr>
              <a:t>An agent looks for what the tests missed, and at the structure of the code.</a:t>
            </a:r>
            <a:endParaRPr lang="en-US" sz="1250" dirty="0"/>
          </a:p>
        </p:txBody>
      </p:sp>
      <p:sp>
        <p:nvSpPr>
          <p:cNvPr id="17" name="Text 9"/>
          <p:cNvSpPr/>
          <p:nvPr/>
        </p:nvSpPr>
        <p:spPr>
          <a:xfrm>
            <a:off x="548640" y="3968496"/>
            <a:ext cx="5669280" cy="960120"/>
          </a:xfrm>
          <a:prstGeom prst="roundRect">
            <a:avLst>
              <a:gd name="adj" fmla="val 9524"/>
            </a:avLst>
          </a:prstGeom>
          <a:solidFill>
            <a:srgbClr val="1F9E89"/>
          </a:solidFill>
          <a:ln>
            <a:solidFill>
              <a:srgbClr val="1F9E89"/>
            </a:solidFill>
          </a:ln>
        </p:spPr>
        <p:txBody>
          <a:bodyPr wrap="square" lIns="50800" tIns="50800" rIns="50800" bIns="5080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Automated checks</a:t>
            </a:r>
            <a:endParaRPr lang="en-US" sz="1900" dirty="0"/>
          </a:p>
        </p:txBody>
      </p:sp>
      <p:pic>
        <p:nvPicPr>
          <p:cNvPr id="18" name="Image 6" descr="preencoded.png">    </p:cNvPr>
          <p:cNvPicPr>
            <a:picLocks noChangeAspect="1"/>
          </p:cNvPicPr>
          <p:nvPr/>
        </p:nvPicPr>
        <p:blipFill>
          <a:blip r:embed="rId7"/>
          <a:stretch>
            <a:fillRect/>
          </a:stretch>
        </p:blipFill>
        <p:spPr>
          <a:xfrm>
            <a:off x="6629400" y="4279392"/>
            <a:ext cx="329184" cy="329184"/>
          </a:xfrm>
          <a:prstGeom prst="rect">
            <a:avLst/>
          </a:prstGeom>
        </p:spPr>
      </p:pic>
      <p:pic>
        <p:nvPicPr>
          <p:cNvPr id="19" name="Image 7" descr="preencoded.png">    </p:cNvPr>
          <p:cNvPicPr>
            <a:picLocks noChangeAspect="1"/>
          </p:cNvPicPr>
          <p:nvPr/>
        </p:nvPicPr>
        <p:blipFill>
          <a:blip r:embed="rId8"/>
          <a:stretch>
            <a:fillRect/>
          </a:stretch>
        </p:blipFill>
        <p:spPr>
          <a:xfrm>
            <a:off x="7013448" y="4279392"/>
            <a:ext cx="329184" cy="329184"/>
          </a:xfrm>
          <a:prstGeom prst="rect">
            <a:avLst/>
          </a:prstGeom>
        </p:spPr>
      </p:pic>
      <p:pic>
        <p:nvPicPr>
          <p:cNvPr id="20" name="Image 8" descr="preencoded.png">    </p:cNvPr>
          <p:cNvPicPr>
            <a:picLocks noChangeAspect="1"/>
          </p:cNvPicPr>
          <p:nvPr/>
        </p:nvPicPr>
        <p:blipFill>
          <a:blip r:embed="rId9"/>
          <a:stretch>
            <a:fillRect/>
          </a:stretch>
        </p:blipFill>
        <p:spPr>
          <a:xfrm>
            <a:off x="7397496" y="4279392"/>
            <a:ext cx="329184" cy="329184"/>
          </a:xfrm>
          <a:prstGeom prst="rect">
            <a:avLst/>
          </a:prstGeom>
        </p:spPr>
      </p:pic>
      <p:sp>
        <p:nvSpPr>
          <p:cNvPr id="21" name="Text 10"/>
          <p:cNvSpPr txBox="1"/>
          <p:nvPr/>
        </p:nvSpPr>
        <p:spPr>
          <a:xfrm>
            <a:off x="8001000" y="4078224"/>
            <a:ext cx="3657600" cy="320040"/>
          </a:xfrm>
          <a:prstGeom prst="rect">
            <a:avLst/>
          </a:prstGeom>
          <a:noFill/>
          <a:ln/>
        </p:spPr>
        <p:txBody>
          <a:bodyPr wrap="square" lIns="0" tIns="0" rIns="0" bIns="0" rtlCol="0" anchor="t"/>
          <a:lstStyle/>
          <a:p>
            <a:pPr indent="0" marL="0">
              <a:buNone/>
            </a:pPr>
            <a:r>
              <a:rPr lang="en-US" sz="1600" b="1" dirty="0">
                <a:solidFill>
                  <a:srgbClr val="1F9E89"/>
                </a:solidFill>
                <a:latin typeface="Arial" pitchFamily="34" charset="0"/>
                <a:ea typeface="Arial" pitchFamily="34" charset="-122"/>
                <a:cs typeface="Arial" pitchFamily="34" charset="-120"/>
              </a:rPr>
              <a:t>CPU cycles</a:t>
            </a:r>
            <a:endParaRPr lang="en-US" sz="1600" dirty="0"/>
          </a:p>
        </p:txBody>
      </p:sp>
      <p:sp>
        <p:nvSpPr>
          <p:cNvPr id="22" name="Text 11"/>
          <p:cNvSpPr txBox="1"/>
          <p:nvPr/>
        </p:nvSpPr>
        <p:spPr>
          <a:xfrm>
            <a:off x="8001000" y="4407408"/>
            <a:ext cx="3657600" cy="502920"/>
          </a:xfrm>
          <a:prstGeom prst="rect">
            <a:avLst/>
          </a:prstGeom>
          <a:noFill/>
          <a:ln/>
        </p:spPr>
        <p:txBody>
          <a:bodyPr wrap="square" lIns="0" tIns="0" rIns="0" bIns="0" rtlCol="0" anchor="t"/>
          <a:lstStyle/>
          <a:p>
            <a:pPr indent="0" marL="0">
              <a:buNone/>
            </a:pPr>
            <a:r>
              <a:rPr lang="en-US" sz="1250" dirty="0">
                <a:solidFill>
                  <a:srgbClr val="4A5468"/>
                </a:solidFill>
                <a:latin typeface="Arial" pitchFamily="34" charset="0"/>
                <a:ea typeface="Arial" pitchFamily="34" charset="-122"/>
                <a:cs typeface="Arial" pitchFamily="34" charset="-120"/>
              </a:rPr>
              <a:t>Lint, types, tests and code-quality metrics. Same result every time.</a:t>
            </a:r>
            <a:endParaRPr lang="en-US" sz="1250" dirty="0"/>
          </a:p>
        </p:txBody>
      </p:sp>
      <p:sp>
        <p:nvSpPr>
          <p:cNvPr id="23" name="Shape 12"/>
          <p:cNvSpPr/>
          <p:nvPr/>
        </p:nvSpPr>
        <p:spPr>
          <a:xfrm>
            <a:off x="548640" y="5230368"/>
            <a:ext cx="11094415" cy="960120"/>
          </a:xfrm>
          <a:prstGeom prst="roundRect">
            <a:avLst>
              <a:gd name="adj" fmla="val 9524"/>
            </a:avLst>
          </a:prstGeom>
          <a:solidFill>
            <a:srgbClr val="F1F4F9"/>
          </a:solidFill>
          <a:ln w="12700">
            <a:solidFill>
              <a:srgbClr val="F1F4F9"/>
            </a:solidFill>
            <a:prstDash val="solid"/>
          </a:ln>
        </p:spPr>
      </p:sp>
      <p:sp>
        <p:nvSpPr>
          <p:cNvPr id="24" name="Shape 13"/>
          <p:cNvSpPr/>
          <p:nvPr/>
        </p:nvSpPr>
        <p:spPr>
          <a:xfrm>
            <a:off x="777240" y="5458968"/>
            <a:ext cx="502920" cy="502920"/>
          </a:xfrm>
          <a:prstGeom prst="ellipse">
            <a:avLst/>
          </a:prstGeom>
          <a:solidFill>
            <a:srgbClr val="14213D"/>
          </a:solidFill>
          <a:ln w="12700">
            <a:solidFill>
              <a:srgbClr val="14213D"/>
            </a:solidFill>
            <a:prstDash val="solid"/>
          </a:ln>
        </p:spPr>
      </p:sp>
      <p:pic>
        <p:nvPicPr>
          <p:cNvPr id="25" name="Image 9" descr="preencoded.png">    </p:cNvPr>
          <p:cNvPicPr>
            <a:picLocks noChangeAspect="1"/>
          </p:cNvPicPr>
          <p:nvPr/>
        </p:nvPicPr>
        <p:blipFill>
          <a:blip r:embed="rId10"/>
          <a:stretch>
            <a:fillRect/>
          </a:stretch>
        </p:blipFill>
        <p:spPr>
          <a:xfrm>
            <a:off x="897941" y="5579669"/>
            <a:ext cx="261518" cy="261518"/>
          </a:xfrm>
          <a:prstGeom prst="rect">
            <a:avLst/>
          </a:prstGeom>
        </p:spPr>
      </p:pic>
      <p:sp>
        <p:nvSpPr>
          <p:cNvPr id="26" name="Text 14"/>
          <p:cNvSpPr txBox="1"/>
          <p:nvPr/>
        </p:nvSpPr>
        <p:spPr>
          <a:xfrm>
            <a:off x="1463040" y="5230368"/>
            <a:ext cx="9966960" cy="96012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Stop the slop. </a:t>
            </a:r>
            <a:pPr indent="0" marL="0">
              <a:buNone/>
            </a:pPr>
            <a:r>
              <a:rPr lang="en-US" sz="1500" dirty="0">
                <a:solidFill>
                  <a:srgbClr val="14213D"/>
                </a:solidFill>
                <a:latin typeface="Arial" pitchFamily="34" charset="0"/>
                <a:ea typeface="Arial" pitchFamily="34" charset="-122"/>
                <a:cs typeface="Arial" pitchFamily="34" charset="-120"/>
              </a:rPr>
              <a:t>Better code going in means fewer human interventions coming out. The two lower layers exist to make the top one fast.</a:t>
            </a:r>
            <a:endParaRPr lang="en-US" sz="1500" dirty="0"/>
          </a:p>
        </p:txBody>
      </p:sp>
      <p:sp>
        <p:nvSpPr>
          <p:cNvPr id="27" name="Text 15"/>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28" name="Text 16"/>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9184"/>
            <a:ext cx="2801722" cy="274320"/>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BRAKE 1 · AUTOMATED CHECKS</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Checks are cheap. But a green CI can lie.</a:t>
            </a:r>
            <a:endParaRPr lang="en-US" sz="2800" dirty="0"/>
          </a:p>
        </p:txBody>
      </p:sp>
      <p:sp>
        <p:nvSpPr>
          <p:cNvPr id="4" name="Shape 2"/>
          <p:cNvSpPr/>
          <p:nvPr/>
        </p:nvSpPr>
        <p:spPr>
          <a:xfrm>
            <a:off x="548640" y="1600200"/>
            <a:ext cx="3611880" cy="4069080"/>
          </a:xfrm>
          <a:prstGeom prst="roundRect">
            <a:avLst>
              <a:gd name="adj" fmla="val 2532"/>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77240" y="1810512"/>
            <a:ext cx="457200" cy="457200"/>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886968" y="1920240"/>
            <a:ext cx="237744" cy="237744"/>
          </a:xfrm>
          <a:prstGeom prst="rect">
            <a:avLst/>
          </a:prstGeom>
        </p:spPr>
      </p:pic>
      <p:sp>
        <p:nvSpPr>
          <p:cNvPr id="7" name="Text 4"/>
          <p:cNvSpPr txBox="1"/>
          <p:nvPr/>
        </p:nvSpPr>
        <p:spPr>
          <a:xfrm>
            <a:off x="1371600" y="1810512"/>
            <a:ext cx="2560320" cy="201168"/>
          </a:xfrm>
          <a:prstGeom prst="rect">
            <a:avLst/>
          </a:prstGeom>
          <a:noFill/>
          <a:ln/>
        </p:spPr>
        <p:txBody>
          <a:bodyPr wrap="square" lIns="0" tIns="0" rIns="0" bIns="0" rtlCol="0" anchor="t"/>
          <a:lstStyle/>
          <a:p>
            <a:pPr indent="0" marL="0">
              <a:buNone/>
            </a:pPr>
            <a:r>
              <a:rPr lang="en-US" sz="1000" b="1" spc="100" kern="0" dirty="0">
                <a:solidFill>
                  <a:srgbClr val="D64545"/>
                </a:solidFill>
                <a:latin typeface="Arial" pitchFamily="34" charset="0"/>
                <a:ea typeface="Arial" pitchFamily="34" charset="-122"/>
                <a:cs typeface="Arial" pitchFamily="34" charset="-120"/>
              </a:rPr>
              <a:t>LIE 1</a:t>
            </a:r>
            <a:endParaRPr lang="en-US" sz="1000" dirty="0"/>
          </a:p>
        </p:txBody>
      </p:sp>
      <p:sp>
        <p:nvSpPr>
          <p:cNvPr id="8" name="Text 5"/>
          <p:cNvSpPr txBox="1"/>
          <p:nvPr/>
        </p:nvSpPr>
        <p:spPr>
          <a:xfrm>
            <a:off x="1371600" y="2011680"/>
            <a:ext cx="265176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Tautological test</a:t>
            </a:r>
            <a:endParaRPr lang="en-US" sz="1700" dirty="0"/>
          </a:p>
        </p:txBody>
      </p:sp>
      <p:sp>
        <p:nvSpPr>
          <p:cNvPr id="9" name="Shape 6"/>
          <p:cNvSpPr/>
          <p:nvPr/>
        </p:nvSpPr>
        <p:spPr>
          <a:xfrm>
            <a:off x="731520" y="2487168"/>
            <a:ext cx="3246120" cy="1188720"/>
          </a:xfrm>
          <a:prstGeom prst="roundRect">
            <a:avLst>
              <a:gd name="adj" fmla="val 4615"/>
            </a:avLst>
          </a:prstGeom>
          <a:solidFill>
            <a:srgbClr val="1B2440"/>
          </a:solidFill>
          <a:ln w="12700">
            <a:solidFill>
              <a:srgbClr val="1B2440"/>
            </a:solidFill>
            <a:prstDash val="solid"/>
          </a:ln>
        </p:spPr>
      </p:sp>
      <p:sp>
        <p:nvSpPr>
          <p:cNvPr id="10" name="Text 7"/>
          <p:cNvSpPr txBox="1"/>
          <p:nvPr/>
        </p:nvSpPr>
        <p:spPr>
          <a:xfrm>
            <a:off x="731520" y="2487168"/>
            <a:ext cx="3246120" cy="1188720"/>
          </a:xfrm>
          <a:prstGeom prst="rect">
            <a:avLst/>
          </a:prstGeom>
          <a:noFill/>
          <a:ln/>
        </p:spPr>
        <p:txBody>
          <a:bodyPr wrap="square" lIns="101600" tIns="127000" rIns="127000" bIns="101600" rtlCol="0" anchor="t"/>
          <a:lstStyle/>
          <a:p>
            <a:pPr indent="0" marL="0">
              <a:lnSpc>
                <a:spcPct val="105000"/>
              </a:lnSpc>
              <a:buNone/>
            </a:pPr>
            <a:r>
              <a:rPr lang="en-US" sz="1050" b="1" dirty="0">
                <a:solidFill>
                  <a:srgbClr val="8894B0"/>
                </a:solidFill>
                <a:latin typeface="Courier New" pitchFamily="34" charset="0"/>
                <a:ea typeface="Courier New" pitchFamily="34" charset="-122"/>
                <a:cs typeface="Courier New" pitchFamily="34" charset="-120"/>
              </a:rPr>
              <a:t>// x-post.ts</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export const X_POST_CHAR_LIMIT = 280;</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 </a:t>
            </a:r>
            <a:endParaRPr lang="en-US" sz="1050" dirty="0"/>
          </a:p>
          <a:p>
            <a:pPr indent="0" marL="0">
              <a:lnSpc>
                <a:spcPct val="105000"/>
              </a:lnSpc>
              <a:buNone/>
            </a:pPr>
            <a:r>
              <a:rPr lang="en-US" sz="1050" b="1" dirty="0">
                <a:solidFill>
                  <a:srgbClr val="8894B0"/>
                </a:solidFill>
                <a:latin typeface="Courier New" pitchFamily="34" charset="0"/>
                <a:ea typeface="Courier New" pitchFamily="34" charset="-122"/>
                <a:cs typeface="Courier New" pitchFamily="34" charset="-120"/>
              </a:rPr>
              <a:t>// x-post.test.ts</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expect(X_POST_CHAR_LIMIT).toBe(280);</a:t>
            </a:r>
            <a:endParaRPr lang="en-US" sz="1050" dirty="0"/>
          </a:p>
        </p:txBody>
      </p:sp>
      <p:sp>
        <p:nvSpPr>
          <p:cNvPr id="11" name="Text 8"/>
          <p:cNvSpPr txBox="1"/>
          <p:nvPr/>
        </p:nvSpPr>
        <p:spPr>
          <a:xfrm>
            <a:off x="777240" y="3794760"/>
            <a:ext cx="3154680" cy="777240"/>
          </a:xfrm>
          <a:prstGeom prst="rect">
            <a:avLst/>
          </a:prstGeom>
          <a:noFill/>
          <a:ln/>
        </p:spPr>
        <p:txBody>
          <a:bodyPr wrap="square" lIns="0" tIns="0" rIns="0" bIns="0" rtlCol="0" anchor="t"/>
          <a:lstStyle/>
          <a:p>
            <a:pPr indent="0" marL="0">
              <a:buNone/>
            </a:pPr>
            <a:r>
              <a:rPr lang="en-US" sz="1250" dirty="0">
                <a:solidFill>
                  <a:srgbClr val="14213D"/>
                </a:solidFill>
                <a:latin typeface="Arial" pitchFamily="34" charset="0"/>
                <a:ea typeface="Arial" pitchFamily="34" charset="-122"/>
                <a:cs typeface="Arial" pitchFamily="34" charset="-120"/>
              </a:rPr>
              <a:t>The test restates the code. A rename breaks it, and a wrong limit still passes.</a:t>
            </a:r>
            <a:endParaRPr lang="en-US" sz="1250" dirty="0"/>
          </a:p>
        </p:txBody>
      </p:sp>
      <p:sp>
        <p:nvSpPr>
          <p:cNvPr id="12" name="Shape 9"/>
          <p:cNvSpPr/>
          <p:nvPr/>
        </p:nvSpPr>
        <p:spPr>
          <a:xfrm>
            <a:off x="777240" y="4645152"/>
            <a:ext cx="3154680" cy="9144"/>
          </a:xfrm>
          <a:prstGeom prst="rect">
            <a:avLst/>
          </a:prstGeom>
          <a:solidFill>
            <a:srgbClr val="D7DDE8"/>
          </a:solidFill>
          <a:ln w="12700">
            <a:solidFill>
              <a:srgbClr val="D7DDE8"/>
            </a:solidFill>
            <a:prstDash val="solid"/>
          </a:ln>
        </p:spPr>
      </p:sp>
      <p:sp>
        <p:nvSpPr>
          <p:cNvPr id="13" name="Text 10"/>
          <p:cNvSpPr txBox="1"/>
          <p:nvPr/>
        </p:nvSpPr>
        <p:spPr>
          <a:xfrm>
            <a:off x="777240" y="4754880"/>
            <a:ext cx="3154680" cy="777240"/>
          </a:xfrm>
          <a:prstGeom prst="rect">
            <a:avLst/>
          </a:prstGeom>
          <a:noFill/>
          <a:ln/>
        </p:spPr>
        <p:txBody>
          <a:bodyPr wrap="square" lIns="0" tIns="0" rIns="0" bIns="0" rtlCol="0" anchor="t"/>
          <a:lstStyle/>
          <a:p>
            <a:pPr indent="0" marL="0">
              <a:buNone/>
            </a:pPr>
            <a:r>
              <a:rPr lang="en-US" sz="1200" b="1" dirty="0">
                <a:solidFill>
                  <a:srgbClr val="2E9E5B"/>
                </a:solidFill>
                <a:latin typeface="Arial" pitchFamily="34" charset="0"/>
                <a:ea typeface="Arial" pitchFamily="34" charset="-122"/>
                <a:cs typeface="Arial" pitchFamily="34" charset="-120"/>
              </a:rPr>
              <a:t>Better: </a:t>
            </a:r>
            <a:pPr indent="0" marL="0">
              <a:buNone/>
            </a:pPr>
            <a:r>
              <a:rPr lang="en-US" sz="1200" dirty="0">
                <a:solidFill>
                  <a:srgbClr val="4A5468"/>
                </a:solidFill>
                <a:latin typeface="Arial" pitchFamily="34" charset="0"/>
                <a:ea typeface="Arial" pitchFamily="34" charset="-122"/>
                <a:cs typeface="Arial" pitchFamily="34" charset="-120"/>
              </a:rPr>
              <a:t>Assert behaviour: a post of 281 characters is rejected.</a:t>
            </a:r>
            <a:endParaRPr lang="en-US" sz="1200" dirty="0"/>
          </a:p>
        </p:txBody>
      </p:sp>
      <p:sp>
        <p:nvSpPr>
          <p:cNvPr id="14" name="Shape 11"/>
          <p:cNvSpPr/>
          <p:nvPr/>
        </p:nvSpPr>
        <p:spPr>
          <a:xfrm>
            <a:off x="4315968" y="1600200"/>
            <a:ext cx="3611880" cy="4069080"/>
          </a:xfrm>
          <a:prstGeom prst="roundRect">
            <a:avLst>
              <a:gd name="adj" fmla="val 2532"/>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4544568" y="1810512"/>
            <a:ext cx="457200" cy="457200"/>
          </a:xfrm>
          <a:prstGeom prst="ellipse">
            <a:avLst/>
          </a:prstGeom>
          <a:solidFill>
            <a:srgbClr val="D64545"/>
          </a:solidFill>
          <a:ln w="12700">
            <a:solidFill>
              <a:srgbClr val="D64545"/>
            </a:solidFill>
            <a:prstDash val="solid"/>
          </a:ln>
        </p:spPr>
      </p:sp>
      <p:pic>
        <p:nvPicPr>
          <p:cNvPr id="16" name="Image 1" descr="preencoded.png">    </p:cNvPr>
          <p:cNvPicPr>
            <a:picLocks noChangeAspect="1"/>
          </p:cNvPicPr>
          <p:nvPr/>
        </p:nvPicPr>
        <p:blipFill>
          <a:blip r:embed="rId2"/>
          <a:stretch>
            <a:fillRect/>
          </a:stretch>
        </p:blipFill>
        <p:spPr>
          <a:xfrm>
            <a:off x="4654296" y="1920240"/>
            <a:ext cx="237744" cy="237744"/>
          </a:xfrm>
          <a:prstGeom prst="rect">
            <a:avLst/>
          </a:prstGeom>
        </p:spPr>
      </p:pic>
      <p:sp>
        <p:nvSpPr>
          <p:cNvPr id="17" name="Text 13"/>
          <p:cNvSpPr txBox="1"/>
          <p:nvPr/>
        </p:nvSpPr>
        <p:spPr>
          <a:xfrm>
            <a:off x="5138928" y="1810512"/>
            <a:ext cx="2560320" cy="201168"/>
          </a:xfrm>
          <a:prstGeom prst="rect">
            <a:avLst/>
          </a:prstGeom>
          <a:noFill/>
          <a:ln/>
        </p:spPr>
        <p:txBody>
          <a:bodyPr wrap="square" lIns="0" tIns="0" rIns="0" bIns="0" rtlCol="0" anchor="t"/>
          <a:lstStyle/>
          <a:p>
            <a:pPr indent="0" marL="0">
              <a:buNone/>
            </a:pPr>
            <a:r>
              <a:rPr lang="en-US" sz="1000" b="1" spc="100" kern="0" dirty="0">
                <a:solidFill>
                  <a:srgbClr val="D64545"/>
                </a:solidFill>
                <a:latin typeface="Arial" pitchFamily="34" charset="0"/>
                <a:ea typeface="Arial" pitchFamily="34" charset="-122"/>
                <a:cs typeface="Arial" pitchFamily="34" charset="-120"/>
              </a:rPr>
              <a:t>LIE 2</a:t>
            </a:r>
            <a:endParaRPr lang="en-US" sz="1000" dirty="0"/>
          </a:p>
        </p:txBody>
      </p:sp>
      <p:sp>
        <p:nvSpPr>
          <p:cNvPr id="18" name="Text 14"/>
          <p:cNvSpPr txBox="1"/>
          <p:nvPr/>
        </p:nvSpPr>
        <p:spPr>
          <a:xfrm>
            <a:off x="5138928" y="2011680"/>
            <a:ext cx="265176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Structure-sensitive test</a:t>
            </a:r>
            <a:endParaRPr lang="en-US" sz="1700" dirty="0"/>
          </a:p>
        </p:txBody>
      </p:sp>
      <p:sp>
        <p:nvSpPr>
          <p:cNvPr id="19" name="Shape 15"/>
          <p:cNvSpPr/>
          <p:nvPr/>
        </p:nvSpPr>
        <p:spPr>
          <a:xfrm>
            <a:off x="4498848" y="2487168"/>
            <a:ext cx="3246120" cy="1188720"/>
          </a:xfrm>
          <a:prstGeom prst="roundRect">
            <a:avLst>
              <a:gd name="adj" fmla="val 4615"/>
            </a:avLst>
          </a:prstGeom>
          <a:solidFill>
            <a:srgbClr val="1B2440"/>
          </a:solidFill>
          <a:ln w="12700">
            <a:solidFill>
              <a:srgbClr val="1B2440"/>
            </a:solidFill>
            <a:prstDash val="solid"/>
          </a:ln>
        </p:spPr>
      </p:sp>
      <p:sp>
        <p:nvSpPr>
          <p:cNvPr id="20" name="Text 16"/>
          <p:cNvSpPr txBox="1"/>
          <p:nvPr/>
        </p:nvSpPr>
        <p:spPr>
          <a:xfrm>
            <a:off x="4498848" y="2487168"/>
            <a:ext cx="3246120" cy="1188720"/>
          </a:xfrm>
          <a:prstGeom prst="rect">
            <a:avLst/>
          </a:prstGeom>
          <a:noFill/>
          <a:ln/>
        </p:spPr>
        <p:txBody>
          <a:bodyPr wrap="square" lIns="101600" tIns="127000" rIns="127000" bIns="101600" rtlCol="0" anchor="t"/>
          <a:lstStyle/>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const src = read('PitchDetail.tsx');</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const a = src.indexOf('&lt;ContentPlan');</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const b = src.indexOf('&lt;Videos');</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expect(b).toBeGreaterThan(a);</a:t>
            </a:r>
            <a:endParaRPr lang="en-US" sz="1050" dirty="0"/>
          </a:p>
        </p:txBody>
      </p:sp>
      <p:sp>
        <p:nvSpPr>
          <p:cNvPr id="21" name="Text 17"/>
          <p:cNvSpPr txBox="1"/>
          <p:nvPr/>
        </p:nvSpPr>
        <p:spPr>
          <a:xfrm>
            <a:off x="4544568" y="3794760"/>
            <a:ext cx="3154680" cy="777240"/>
          </a:xfrm>
          <a:prstGeom prst="rect">
            <a:avLst/>
          </a:prstGeom>
          <a:noFill/>
          <a:ln/>
        </p:spPr>
        <p:txBody>
          <a:bodyPr wrap="square" lIns="0" tIns="0" rIns="0" bIns="0" rtlCol="0" anchor="t"/>
          <a:lstStyle/>
          <a:p>
            <a:pPr indent="0" marL="0">
              <a:buNone/>
            </a:pPr>
            <a:r>
              <a:rPr lang="en-US" sz="1250" dirty="0">
                <a:solidFill>
                  <a:srgbClr val="14213D"/>
                </a:solidFill>
                <a:latin typeface="Arial" pitchFamily="34" charset="0"/>
                <a:ea typeface="Arial" pitchFamily="34" charset="-122"/>
                <a:cs typeface="Arial" pitchFamily="34" charset="-120"/>
              </a:rPr>
              <a:t>It reads the source text instead of rendering the page. Any reformat breaks it.</a:t>
            </a:r>
            <a:endParaRPr lang="en-US" sz="1250" dirty="0"/>
          </a:p>
        </p:txBody>
      </p:sp>
      <p:sp>
        <p:nvSpPr>
          <p:cNvPr id="22" name="Shape 18"/>
          <p:cNvSpPr/>
          <p:nvPr/>
        </p:nvSpPr>
        <p:spPr>
          <a:xfrm>
            <a:off x="4544568" y="4645152"/>
            <a:ext cx="3154680" cy="9144"/>
          </a:xfrm>
          <a:prstGeom prst="rect">
            <a:avLst/>
          </a:prstGeom>
          <a:solidFill>
            <a:srgbClr val="D7DDE8"/>
          </a:solidFill>
          <a:ln w="12700">
            <a:solidFill>
              <a:srgbClr val="D7DDE8"/>
            </a:solidFill>
            <a:prstDash val="solid"/>
          </a:ln>
        </p:spPr>
      </p:sp>
      <p:sp>
        <p:nvSpPr>
          <p:cNvPr id="23" name="Text 19"/>
          <p:cNvSpPr txBox="1"/>
          <p:nvPr/>
        </p:nvSpPr>
        <p:spPr>
          <a:xfrm>
            <a:off x="4544568" y="4754880"/>
            <a:ext cx="3154680" cy="777240"/>
          </a:xfrm>
          <a:prstGeom prst="rect">
            <a:avLst/>
          </a:prstGeom>
          <a:noFill/>
          <a:ln/>
        </p:spPr>
        <p:txBody>
          <a:bodyPr wrap="square" lIns="0" tIns="0" rIns="0" bIns="0" rtlCol="0" anchor="t"/>
          <a:lstStyle/>
          <a:p>
            <a:pPr indent="0" marL="0">
              <a:buNone/>
            </a:pPr>
            <a:r>
              <a:rPr lang="en-US" sz="1200" b="1" dirty="0">
                <a:solidFill>
                  <a:srgbClr val="2E9E5B"/>
                </a:solidFill>
                <a:latin typeface="Arial" pitchFamily="34" charset="0"/>
                <a:ea typeface="Arial" pitchFamily="34" charset="-122"/>
                <a:cs typeface="Arial" pitchFamily="34" charset="-120"/>
              </a:rPr>
              <a:t>Better: </a:t>
            </a:r>
            <a:pPr indent="0" marL="0">
              <a:buNone/>
            </a:pPr>
            <a:r>
              <a:rPr lang="en-US" sz="1200" dirty="0">
                <a:solidFill>
                  <a:srgbClr val="4A5468"/>
                </a:solidFill>
                <a:latin typeface="Arial" pitchFamily="34" charset="0"/>
                <a:ea typeface="Arial" pitchFamily="34" charset="-122"/>
                <a:cs typeface="Arial" pitchFamily="34" charset="-120"/>
              </a:rPr>
              <a:t>Render the page and check the order the user sees.</a:t>
            </a:r>
            <a:endParaRPr lang="en-US" sz="1200" dirty="0"/>
          </a:p>
        </p:txBody>
      </p:sp>
      <p:sp>
        <p:nvSpPr>
          <p:cNvPr id="24" name="Shape 20"/>
          <p:cNvSpPr/>
          <p:nvPr/>
        </p:nvSpPr>
        <p:spPr>
          <a:xfrm>
            <a:off x="8083296" y="1600200"/>
            <a:ext cx="3611880" cy="4069080"/>
          </a:xfrm>
          <a:prstGeom prst="roundRect">
            <a:avLst>
              <a:gd name="adj" fmla="val 2532"/>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25" name="Shape 21"/>
          <p:cNvSpPr/>
          <p:nvPr/>
        </p:nvSpPr>
        <p:spPr>
          <a:xfrm>
            <a:off x="8311896" y="1810512"/>
            <a:ext cx="457200" cy="457200"/>
          </a:xfrm>
          <a:prstGeom prst="ellipse">
            <a:avLst/>
          </a:prstGeom>
          <a:solidFill>
            <a:srgbClr val="D64545"/>
          </a:solidFill>
          <a:ln w="12700">
            <a:solidFill>
              <a:srgbClr val="D64545"/>
            </a:solidFill>
            <a:prstDash val="solid"/>
          </a:ln>
        </p:spPr>
      </p:sp>
      <p:pic>
        <p:nvPicPr>
          <p:cNvPr id="26" name="Image 2" descr="preencoded.png">    </p:cNvPr>
          <p:cNvPicPr>
            <a:picLocks noChangeAspect="1"/>
          </p:cNvPicPr>
          <p:nvPr/>
        </p:nvPicPr>
        <p:blipFill>
          <a:blip r:embed="rId3"/>
          <a:stretch>
            <a:fillRect/>
          </a:stretch>
        </p:blipFill>
        <p:spPr>
          <a:xfrm>
            <a:off x="8421624" y="1920240"/>
            <a:ext cx="237744" cy="237744"/>
          </a:xfrm>
          <a:prstGeom prst="rect">
            <a:avLst/>
          </a:prstGeom>
        </p:spPr>
      </p:pic>
      <p:sp>
        <p:nvSpPr>
          <p:cNvPr id="27" name="Text 22"/>
          <p:cNvSpPr txBox="1"/>
          <p:nvPr/>
        </p:nvSpPr>
        <p:spPr>
          <a:xfrm>
            <a:off x="8906256" y="1810512"/>
            <a:ext cx="2560320" cy="201168"/>
          </a:xfrm>
          <a:prstGeom prst="rect">
            <a:avLst/>
          </a:prstGeom>
          <a:noFill/>
          <a:ln/>
        </p:spPr>
        <p:txBody>
          <a:bodyPr wrap="square" lIns="0" tIns="0" rIns="0" bIns="0" rtlCol="0" anchor="t"/>
          <a:lstStyle/>
          <a:p>
            <a:pPr indent="0" marL="0">
              <a:buNone/>
            </a:pPr>
            <a:r>
              <a:rPr lang="en-US" sz="1000" b="1" spc="100" kern="0" dirty="0">
                <a:solidFill>
                  <a:srgbClr val="D64545"/>
                </a:solidFill>
                <a:latin typeface="Arial" pitchFamily="34" charset="0"/>
                <a:ea typeface="Arial" pitchFamily="34" charset="-122"/>
                <a:cs typeface="Arial" pitchFamily="34" charset="-120"/>
              </a:rPr>
              <a:t>LIE 3</a:t>
            </a:r>
            <a:endParaRPr lang="en-US" sz="1000" dirty="0"/>
          </a:p>
        </p:txBody>
      </p:sp>
      <p:sp>
        <p:nvSpPr>
          <p:cNvPr id="28" name="Text 23"/>
          <p:cNvSpPr txBox="1"/>
          <p:nvPr/>
        </p:nvSpPr>
        <p:spPr>
          <a:xfrm>
            <a:off x="8906256" y="2011680"/>
            <a:ext cx="2651760" cy="32004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Test that cannot fail</a:t>
            </a:r>
            <a:endParaRPr lang="en-US" sz="1700" dirty="0"/>
          </a:p>
        </p:txBody>
      </p:sp>
      <p:sp>
        <p:nvSpPr>
          <p:cNvPr id="29" name="Shape 24"/>
          <p:cNvSpPr/>
          <p:nvPr/>
        </p:nvSpPr>
        <p:spPr>
          <a:xfrm>
            <a:off x="8266176" y="2487168"/>
            <a:ext cx="3246120" cy="1188720"/>
          </a:xfrm>
          <a:prstGeom prst="roundRect">
            <a:avLst>
              <a:gd name="adj" fmla="val 4615"/>
            </a:avLst>
          </a:prstGeom>
          <a:solidFill>
            <a:srgbClr val="1B2440"/>
          </a:solidFill>
          <a:ln w="12700">
            <a:solidFill>
              <a:srgbClr val="1B2440"/>
            </a:solidFill>
            <a:prstDash val="solid"/>
          </a:ln>
        </p:spPr>
      </p:sp>
      <p:sp>
        <p:nvSpPr>
          <p:cNvPr id="30" name="Text 25"/>
          <p:cNvSpPr txBox="1"/>
          <p:nvPr/>
        </p:nvSpPr>
        <p:spPr>
          <a:xfrm>
            <a:off x="8266176" y="2487168"/>
            <a:ext cx="3246120" cy="1188720"/>
          </a:xfrm>
          <a:prstGeom prst="rect">
            <a:avLst/>
          </a:prstGeom>
          <a:noFill/>
          <a:ln/>
        </p:spPr>
        <p:txBody>
          <a:bodyPr wrap="square" lIns="101600" tIns="127000" rIns="127000" bIns="101600" rtlCol="0" anchor="t"/>
          <a:lstStyle/>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vi.stubGlobal('AudioContext', class {</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  createGain() { return fakeGain; }</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b="1" dirty="0">
                <a:solidFill>
                  <a:srgbClr val="E6EAF2"/>
                </a:solidFill>
                <a:latin typeface="Courier New" pitchFamily="34" charset="0"/>
                <a:ea typeface="Courier New" pitchFamily="34" charset="-122"/>
                <a:cs typeface="Courier New" pitchFamily="34" charset="-120"/>
              </a:rPr>
              <a:t>renderHook(() =&gt; useAudioBoost());</a:t>
            </a:r>
            <a:endParaRPr lang="en-US" sz="1050" dirty="0"/>
          </a:p>
        </p:txBody>
      </p:sp>
      <p:sp>
        <p:nvSpPr>
          <p:cNvPr id="31" name="Text 26"/>
          <p:cNvSpPr txBox="1"/>
          <p:nvPr/>
        </p:nvSpPr>
        <p:spPr>
          <a:xfrm>
            <a:off x="8311896" y="3794760"/>
            <a:ext cx="3154680" cy="777240"/>
          </a:xfrm>
          <a:prstGeom prst="rect">
            <a:avLst/>
          </a:prstGeom>
          <a:noFill/>
          <a:ln/>
        </p:spPr>
        <p:txBody>
          <a:bodyPr wrap="square" lIns="0" tIns="0" rIns="0" bIns="0" rtlCol="0" anchor="t"/>
          <a:lstStyle/>
          <a:p>
            <a:pPr indent="0" marL="0">
              <a:buNone/>
            </a:pPr>
            <a:r>
              <a:rPr lang="en-US" sz="1250" dirty="0">
                <a:solidFill>
                  <a:srgbClr val="14213D"/>
                </a:solidFill>
                <a:latin typeface="Arial" pitchFamily="34" charset="0"/>
                <a:ea typeface="Arial" pitchFamily="34" charset="-122"/>
                <a:cs typeface="Arial" pitchFamily="34" charset="-120"/>
              </a:rPr>
              <a:t>The stub removes the real AudioContext and its error modes. Those errors reach production untested.</a:t>
            </a:r>
            <a:endParaRPr lang="en-US" sz="1250" dirty="0"/>
          </a:p>
        </p:txBody>
      </p:sp>
      <p:sp>
        <p:nvSpPr>
          <p:cNvPr id="32" name="Shape 27"/>
          <p:cNvSpPr/>
          <p:nvPr/>
        </p:nvSpPr>
        <p:spPr>
          <a:xfrm>
            <a:off x="8311896" y="4645152"/>
            <a:ext cx="3154680" cy="9144"/>
          </a:xfrm>
          <a:prstGeom prst="rect">
            <a:avLst/>
          </a:prstGeom>
          <a:solidFill>
            <a:srgbClr val="D7DDE8"/>
          </a:solidFill>
          <a:ln w="12700">
            <a:solidFill>
              <a:srgbClr val="D7DDE8"/>
            </a:solidFill>
            <a:prstDash val="solid"/>
          </a:ln>
        </p:spPr>
      </p:sp>
      <p:sp>
        <p:nvSpPr>
          <p:cNvPr id="33" name="Text 28"/>
          <p:cNvSpPr txBox="1"/>
          <p:nvPr/>
        </p:nvSpPr>
        <p:spPr>
          <a:xfrm>
            <a:off x="8311896" y="4754880"/>
            <a:ext cx="3154680" cy="777240"/>
          </a:xfrm>
          <a:prstGeom prst="rect">
            <a:avLst/>
          </a:prstGeom>
          <a:noFill/>
          <a:ln/>
        </p:spPr>
        <p:txBody>
          <a:bodyPr wrap="square" lIns="0" tIns="0" rIns="0" bIns="0" rtlCol="0" anchor="t"/>
          <a:lstStyle/>
          <a:p>
            <a:pPr indent="0" marL="0">
              <a:buNone/>
            </a:pPr>
            <a:r>
              <a:rPr lang="en-US" sz="1200" b="1" dirty="0">
                <a:solidFill>
                  <a:srgbClr val="2E9E5B"/>
                </a:solidFill>
                <a:latin typeface="Arial" pitchFamily="34" charset="0"/>
                <a:ea typeface="Arial" pitchFamily="34" charset="-122"/>
                <a:cs typeface="Arial" pitchFamily="34" charset="-120"/>
              </a:rPr>
              <a:t>Better: </a:t>
            </a:r>
            <a:pPr indent="0" marL="0">
              <a:buNone/>
            </a:pPr>
            <a:r>
              <a:rPr lang="en-US" sz="1200" dirty="0">
                <a:solidFill>
                  <a:srgbClr val="4A5468"/>
                </a:solidFill>
                <a:latin typeface="Arial" pitchFamily="34" charset="0"/>
                <a:ea typeface="Arial" pitchFamily="34" charset="-122"/>
                <a:cs typeface="Arial" pitchFamily="34" charset="-120"/>
              </a:rPr>
              <a:t>Put the platform behind a seam you own, and test the seam against the real API.</a:t>
            </a:r>
            <a:endParaRPr lang="en-US" sz="1200" dirty="0"/>
          </a:p>
        </p:txBody>
      </p:sp>
      <p:sp>
        <p:nvSpPr>
          <p:cNvPr id="34" name="Shape 29"/>
          <p:cNvSpPr/>
          <p:nvPr/>
        </p:nvSpPr>
        <p:spPr>
          <a:xfrm>
            <a:off x="548640" y="5833872"/>
            <a:ext cx="438912" cy="438912"/>
          </a:xfrm>
          <a:prstGeom prst="ellipse">
            <a:avLst/>
          </a:prstGeom>
          <a:solidFill>
            <a:srgbClr val="1F9E89"/>
          </a:solidFill>
          <a:ln w="12700">
            <a:solidFill>
              <a:srgbClr val="1F9E89"/>
            </a:solidFill>
            <a:prstDash val="solid"/>
          </a:ln>
        </p:spPr>
      </p:sp>
      <p:pic>
        <p:nvPicPr>
          <p:cNvPr id="35" name="Image 3" descr="preencoded.png">    </p:cNvPr>
          <p:cNvPicPr>
            <a:picLocks noChangeAspect="1"/>
          </p:cNvPicPr>
          <p:nvPr/>
        </p:nvPicPr>
        <p:blipFill>
          <a:blip r:embed="rId4"/>
          <a:stretch>
            <a:fillRect/>
          </a:stretch>
        </p:blipFill>
        <p:spPr>
          <a:xfrm>
            <a:off x="653979" y="5939211"/>
            <a:ext cx="228234" cy="228234"/>
          </a:xfrm>
          <a:prstGeom prst="rect">
            <a:avLst/>
          </a:prstGeom>
        </p:spPr>
      </p:pic>
      <p:sp>
        <p:nvSpPr>
          <p:cNvPr id="36" name="Text 30"/>
          <p:cNvSpPr txBox="1"/>
          <p:nvPr/>
        </p:nvSpPr>
        <p:spPr>
          <a:xfrm>
            <a:off x="1143000" y="5788152"/>
            <a:ext cx="10424160" cy="548640"/>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A green CI is no proof that code is ready to merge. Automated and human review are the lie detectors.</a:t>
            </a:r>
            <a:endParaRPr lang="en-US" sz="1400" dirty="0"/>
          </a:p>
        </p:txBody>
      </p:sp>
      <p:sp>
        <p:nvSpPr>
          <p:cNvPr id="37" name="Text 31"/>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 Code reconstructed from the talk.</a:t>
            </a:r>
            <a:endParaRPr lang="en-US" sz="900" dirty="0"/>
          </a:p>
        </p:txBody>
      </p:sp>
      <p:sp>
        <p:nvSpPr>
          <p:cNvPr id="38" name="Text 32"/>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9184"/>
            <a:ext cx="2801722" cy="274320"/>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BRAKE 1 · AUTOMATED CHECKS</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Design your way out: deep modules keep tests honest.</a:t>
            </a:r>
            <a:endParaRPr lang="en-US" sz="2800" dirty="0"/>
          </a:p>
        </p:txBody>
      </p:sp>
      <p:sp>
        <p:nvSpPr>
          <p:cNvPr id="4" name="Text 2"/>
          <p:cNvSpPr txBox="1"/>
          <p:nvPr/>
        </p:nvSpPr>
        <p:spPr>
          <a:xfrm>
            <a:off x="822960" y="1554480"/>
            <a:ext cx="2468880" cy="274320"/>
          </a:xfrm>
          <a:prstGeom prst="rect">
            <a:avLst/>
          </a:prstGeom>
          <a:noFill/>
          <a:ln/>
        </p:spPr>
        <p:txBody>
          <a:bodyPr wrap="square" lIns="0" tIns="0" rIns="0" bIns="0" rtlCol="0" anchor="t"/>
          <a:lstStyle/>
          <a:p>
            <a:pPr algn="ctr" indent="0" marL="0">
              <a:buNone/>
            </a:pPr>
            <a:r>
              <a:rPr lang="en-US" sz="1400" b="1" dirty="0">
                <a:solidFill>
                  <a:srgbClr val="1F9E89"/>
                </a:solidFill>
                <a:latin typeface="Arial" pitchFamily="34" charset="0"/>
                <a:ea typeface="Arial" pitchFamily="34" charset="-122"/>
                <a:cs typeface="Arial" pitchFamily="34" charset="-120"/>
              </a:rPr>
              <a:t>Deep module</a:t>
            </a:r>
            <a:endParaRPr lang="en-US" sz="1400" dirty="0"/>
          </a:p>
        </p:txBody>
      </p:sp>
      <p:sp>
        <p:nvSpPr>
          <p:cNvPr id="5" name="Text 3"/>
          <p:cNvSpPr/>
          <p:nvPr/>
        </p:nvSpPr>
        <p:spPr>
          <a:xfrm>
            <a:off x="1170432" y="1901952"/>
            <a:ext cx="512064" cy="274320"/>
          </a:xfrm>
          <a:prstGeom prst="roundRect">
            <a:avLst>
              <a:gd name="adj" fmla="val 26667"/>
            </a:avLst>
          </a:prstGeom>
          <a:solidFill>
            <a:srgbClr val="DDF2EE"/>
          </a:solidFill>
          <a:ln>
            <a:solidFill>
              <a:srgbClr val="DDF2EE"/>
            </a:solidFill>
          </a:ln>
        </p:spPr>
        <p:txBody>
          <a:bodyPr wrap="square" lIns="0" tIns="0" rIns="0" bIns="0" rtlCol="0" anchor="ctr"/>
          <a:lstStyle/>
          <a:p>
            <a:pPr algn="ctr" indent="0" marL="0">
              <a:buNone/>
            </a:pPr>
            <a:r>
              <a:rPr lang="en-US" sz="1000" b="1" dirty="0">
                <a:solidFill>
                  <a:srgbClr val="1F9E89"/>
                </a:solidFill>
                <a:latin typeface="Arial" pitchFamily="34" charset="0"/>
                <a:ea typeface="Arial" pitchFamily="34" charset="-122"/>
                <a:cs typeface="Arial" pitchFamily="34" charset="-120"/>
              </a:rPr>
              <a:t>test</a:t>
            </a:r>
            <a:endParaRPr lang="en-US" sz="1000" dirty="0"/>
          </a:p>
        </p:txBody>
      </p:sp>
      <p:sp>
        <p:nvSpPr>
          <p:cNvPr id="6" name="Shape 4"/>
          <p:cNvSpPr/>
          <p:nvPr/>
        </p:nvSpPr>
        <p:spPr>
          <a:xfrm>
            <a:off x="1426464" y="2176272"/>
            <a:ext cx="630936" cy="457200"/>
          </a:xfrm>
          <a:prstGeom prst="line">
            <a:avLst/>
          </a:prstGeom>
          <a:noFill/>
          <a:ln w="15875">
            <a:solidFill>
              <a:srgbClr val="1F9E89"/>
            </a:solidFill>
            <a:prstDash val="solid"/>
            <a:tailEnd type="triangle"/>
          </a:ln>
        </p:spPr>
      </p:sp>
      <p:sp>
        <p:nvSpPr>
          <p:cNvPr id="7" name="Text 5"/>
          <p:cNvSpPr/>
          <p:nvPr/>
        </p:nvSpPr>
        <p:spPr>
          <a:xfrm>
            <a:off x="1773936" y="1901952"/>
            <a:ext cx="512064" cy="274320"/>
          </a:xfrm>
          <a:prstGeom prst="roundRect">
            <a:avLst>
              <a:gd name="adj" fmla="val 26667"/>
            </a:avLst>
          </a:prstGeom>
          <a:solidFill>
            <a:srgbClr val="DDF2EE"/>
          </a:solidFill>
          <a:ln>
            <a:solidFill>
              <a:srgbClr val="DDF2EE"/>
            </a:solidFill>
          </a:ln>
        </p:spPr>
        <p:txBody>
          <a:bodyPr wrap="square" lIns="0" tIns="0" rIns="0" bIns="0" rtlCol="0" anchor="ctr"/>
          <a:lstStyle/>
          <a:p>
            <a:pPr algn="ctr" indent="0" marL="0">
              <a:buNone/>
            </a:pPr>
            <a:r>
              <a:rPr lang="en-US" sz="1000" b="1" dirty="0">
                <a:solidFill>
                  <a:srgbClr val="1F9E89"/>
                </a:solidFill>
                <a:latin typeface="Arial" pitchFamily="34" charset="0"/>
                <a:ea typeface="Arial" pitchFamily="34" charset="-122"/>
                <a:cs typeface="Arial" pitchFamily="34" charset="-120"/>
              </a:rPr>
              <a:t>test</a:t>
            </a:r>
            <a:endParaRPr lang="en-US" sz="1000" dirty="0"/>
          </a:p>
        </p:txBody>
      </p:sp>
      <p:sp>
        <p:nvSpPr>
          <p:cNvPr id="8" name="Shape 6"/>
          <p:cNvSpPr/>
          <p:nvPr/>
        </p:nvSpPr>
        <p:spPr>
          <a:xfrm>
            <a:off x="2029968" y="2176272"/>
            <a:ext cx="27432" cy="457200"/>
          </a:xfrm>
          <a:prstGeom prst="line">
            <a:avLst/>
          </a:prstGeom>
          <a:noFill/>
          <a:ln w="15875">
            <a:solidFill>
              <a:srgbClr val="1F9E89"/>
            </a:solidFill>
            <a:prstDash val="solid"/>
            <a:tailEnd type="triangle"/>
          </a:ln>
        </p:spPr>
      </p:sp>
      <p:sp>
        <p:nvSpPr>
          <p:cNvPr id="9" name="Text 7"/>
          <p:cNvSpPr/>
          <p:nvPr/>
        </p:nvSpPr>
        <p:spPr>
          <a:xfrm>
            <a:off x="2377440" y="1901952"/>
            <a:ext cx="512064" cy="274320"/>
          </a:xfrm>
          <a:prstGeom prst="roundRect">
            <a:avLst>
              <a:gd name="adj" fmla="val 26667"/>
            </a:avLst>
          </a:prstGeom>
          <a:solidFill>
            <a:srgbClr val="DDF2EE"/>
          </a:solidFill>
          <a:ln>
            <a:solidFill>
              <a:srgbClr val="DDF2EE"/>
            </a:solidFill>
          </a:ln>
        </p:spPr>
        <p:txBody>
          <a:bodyPr wrap="square" lIns="0" tIns="0" rIns="0" bIns="0" rtlCol="0" anchor="ctr"/>
          <a:lstStyle/>
          <a:p>
            <a:pPr algn="ctr" indent="0" marL="0">
              <a:buNone/>
            </a:pPr>
            <a:r>
              <a:rPr lang="en-US" sz="1000" b="1" dirty="0">
                <a:solidFill>
                  <a:srgbClr val="1F9E89"/>
                </a:solidFill>
                <a:latin typeface="Arial" pitchFamily="34" charset="0"/>
                <a:ea typeface="Arial" pitchFamily="34" charset="-122"/>
                <a:cs typeface="Arial" pitchFamily="34" charset="-120"/>
              </a:rPr>
              <a:t>test</a:t>
            </a:r>
            <a:endParaRPr lang="en-US" sz="1000" dirty="0"/>
          </a:p>
        </p:txBody>
      </p:sp>
      <p:sp>
        <p:nvSpPr>
          <p:cNvPr id="10" name="Shape 8"/>
          <p:cNvSpPr/>
          <p:nvPr/>
        </p:nvSpPr>
        <p:spPr>
          <a:xfrm flipH="1">
            <a:off x="2057400" y="2176272"/>
            <a:ext cx="576072" cy="457200"/>
          </a:xfrm>
          <a:prstGeom prst="line">
            <a:avLst/>
          </a:prstGeom>
          <a:noFill/>
          <a:ln w="15875">
            <a:solidFill>
              <a:srgbClr val="1F9E89"/>
            </a:solidFill>
            <a:prstDash val="solid"/>
            <a:tailEnd type="triangle"/>
          </a:ln>
        </p:spPr>
      </p:sp>
      <p:sp>
        <p:nvSpPr>
          <p:cNvPr id="11" name="Text 9"/>
          <p:cNvSpPr/>
          <p:nvPr/>
        </p:nvSpPr>
        <p:spPr>
          <a:xfrm>
            <a:off x="1417320" y="2651760"/>
            <a:ext cx="1280160" cy="329184"/>
          </a:xfrm>
          <a:prstGeom prst="roundRect">
            <a:avLst>
              <a:gd name="adj" fmla="val 22222"/>
            </a:avLst>
          </a:prstGeom>
          <a:solidFill>
            <a:srgbClr val="14213D"/>
          </a:solidFill>
          <a:ln>
            <a:solidFill>
              <a:srgbClr val="14213D"/>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interface</a:t>
            </a:r>
            <a:endParaRPr lang="en-US" sz="1100" dirty="0"/>
          </a:p>
        </p:txBody>
      </p:sp>
      <p:sp>
        <p:nvSpPr>
          <p:cNvPr id="12" name="Shape 10"/>
          <p:cNvSpPr/>
          <p:nvPr/>
        </p:nvSpPr>
        <p:spPr>
          <a:xfrm>
            <a:off x="822960" y="3017520"/>
            <a:ext cx="2468880" cy="2011680"/>
          </a:xfrm>
          <a:prstGeom prst="roundRect">
            <a:avLst>
              <a:gd name="adj" fmla="val 4545"/>
            </a:avLst>
          </a:prstGeom>
          <a:solidFill>
            <a:srgbClr val="F1F4F9"/>
          </a:solidFill>
          <a:ln w="12700">
            <a:solidFill>
              <a:srgbClr val="D7DDE8"/>
            </a:solidFill>
            <a:prstDash val="solid"/>
          </a:ln>
        </p:spPr>
      </p:sp>
      <p:sp>
        <p:nvSpPr>
          <p:cNvPr id="13" name="Shape 11"/>
          <p:cNvSpPr/>
          <p:nvPr/>
        </p:nvSpPr>
        <p:spPr>
          <a:xfrm>
            <a:off x="1005840" y="3200400"/>
            <a:ext cx="438912" cy="256032"/>
          </a:xfrm>
          <a:prstGeom prst="rect">
            <a:avLst/>
          </a:prstGeom>
          <a:solidFill>
            <a:srgbClr val="D7DDE8"/>
          </a:solidFill>
          <a:ln w="12700">
            <a:solidFill>
              <a:srgbClr val="D7DDE8"/>
            </a:solidFill>
            <a:prstDash val="solid"/>
          </a:ln>
        </p:spPr>
      </p:sp>
      <p:sp>
        <p:nvSpPr>
          <p:cNvPr id="14" name="Shape 12"/>
          <p:cNvSpPr/>
          <p:nvPr/>
        </p:nvSpPr>
        <p:spPr>
          <a:xfrm>
            <a:off x="1554480" y="3200400"/>
            <a:ext cx="438912" cy="256032"/>
          </a:xfrm>
          <a:prstGeom prst="rect">
            <a:avLst/>
          </a:prstGeom>
          <a:solidFill>
            <a:srgbClr val="D7DDE8"/>
          </a:solidFill>
          <a:ln w="12700">
            <a:solidFill>
              <a:srgbClr val="D7DDE8"/>
            </a:solidFill>
            <a:prstDash val="solid"/>
          </a:ln>
        </p:spPr>
      </p:sp>
      <p:sp>
        <p:nvSpPr>
          <p:cNvPr id="15" name="Shape 13"/>
          <p:cNvSpPr/>
          <p:nvPr/>
        </p:nvSpPr>
        <p:spPr>
          <a:xfrm>
            <a:off x="2103120" y="3200400"/>
            <a:ext cx="438912" cy="256032"/>
          </a:xfrm>
          <a:prstGeom prst="rect">
            <a:avLst/>
          </a:prstGeom>
          <a:solidFill>
            <a:srgbClr val="D7DDE8"/>
          </a:solidFill>
          <a:ln w="12700">
            <a:solidFill>
              <a:srgbClr val="D7DDE8"/>
            </a:solidFill>
            <a:prstDash val="solid"/>
          </a:ln>
        </p:spPr>
      </p:sp>
      <p:sp>
        <p:nvSpPr>
          <p:cNvPr id="16" name="Shape 14"/>
          <p:cNvSpPr/>
          <p:nvPr/>
        </p:nvSpPr>
        <p:spPr>
          <a:xfrm>
            <a:off x="2651760" y="3200400"/>
            <a:ext cx="438912" cy="256032"/>
          </a:xfrm>
          <a:prstGeom prst="rect">
            <a:avLst/>
          </a:prstGeom>
          <a:solidFill>
            <a:srgbClr val="D7DDE8"/>
          </a:solidFill>
          <a:ln w="12700">
            <a:solidFill>
              <a:srgbClr val="D7DDE8"/>
            </a:solidFill>
            <a:prstDash val="solid"/>
          </a:ln>
        </p:spPr>
      </p:sp>
      <p:sp>
        <p:nvSpPr>
          <p:cNvPr id="17" name="Shape 15"/>
          <p:cNvSpPr/>
          <p:nvPr/>
        </p:nvSpPr>
        <p:spPr>
          <a:xfrm>
            <a:off x="1005840" y="3584448"/>
            <a:ext cx="438912" cy="256032"/>
          </a:xfrm>
          <a:prstGeom prst="rect">
            <a:avLst/>
          </a:prstGeom>
          <a:solidFill>
            <a:srgbClr val="D7DDE8"/>
          </a:solidFill>
          <a:ln w="12700">
            <a:solidFill>
              <a:srgbClr val="D7DDE8"/>
            </a:solidFill>
            <a:prstDash val="solid"/>
          </a:ln>
        </p:spPr>
      </p:sp>
      <p:sp>
        <p:nvSpPr>
          <p:cNvPr id="18" name="Shape 16"/>
          <p:cNvSpPr/>
          <p:nvPr/>
        </p:nvSpPr>
        <p:spPr>
          <a:xfrm>
            <a:off x="1554480" y="3584448"/>
            <a:ext cx="438912" cy="256032"/>
          </a:xfrm>
          <a:prstGeom prst="rect">
            <a:avLst/>
          </a:prstGeom>
          <a:solidFill>
            <a:srgbClr val="D7DDE8"/>
          </a:solidFill>
          <a:ln w="12700">
            <a:solidFill>
              <a:srgbClr val="D7DDE8"/>
            </a:solidFill>
            <a:prstDash val="solid"/>
          </a:ln>
        </p:spPr>
      </p:sp>
      <p:sp>
        <p:nvSpPr>
          <p:cNvPr id="19" name="Shape 17"/>
          <p:cNvSpPr/>
          <p:nvPr/>
        </p:nvSpPr>
        <p:spPr>
          <a:xfrm>
            <a:off x="2103120" y="3584448"/>
            <a:ext cx="438912" cy="256032"/>
          </a:xfrm>
          <a:prstGeom prst="rect">
            <a:avLst/>
          </a:prstGeom>
          <a:solidFill>
            <a:srgbClr val="D7DDE8"/>
          </a:solidFill>
          <a:ln w="12700">
            <a:solidFill>
              <a:srgbClr val="D7DDE8"/>
            </a:solidFill>
            <a:prstDash val="solid"/>
          </a:ln>
        </p:spPr>
      </p:sp>
      <p:sp>
        <p:nvSpPr>
          <p:cNvPr id="20" name="Shape 18"/>
          <p:cNvSpPr/>
          <p:nvPr/>
        </p:nvSpPr>
        <p:spPr>
          <a:xfrm>
            <a:off x="2651760" y="3584448"/>
            <a:ext cx="438912" cy="256032"/>
          </a:xfrm>
          <a:prstGeom prst="rect">
            <a:avLst/>
          </a:prstGeom>
          <a:solidFill>
            <a:srgbClr val="D7DDE8"/>
          </a:solidFill>
          <a:ln w="12700">
            <a:solidFill>
              <a:srgbClr val="D7DDE8"/>
            </a:solidFill>
            <a:prstDash val="solid"/>
          </a:ln>
        </p:spPr>
      </p:sp>
      <p:sp>
        <p:nvSpPr>
          <p:cNvPr id="21" name="Shape 19"/>
          <p:cNvSpPr/>
          <p:nvPr/>
        </p:nvSpPr>
        <p:spPr>
          <a:xfrm>
            <a:off x="1005840" y="3968496"/>
            <a:ext cx="438912" cy="256032"/>
          </a:xfrm>
          <a:prstGeom prst="rect">
            <a:avLst/>
          </a:prstGeom>
          <a:solidFill>
            <a:srgbClr val="D7DDE8"/>
          </a:solidFill>
          <a:ln w="12700">
            <a:solidFill>
              <a:srgbClr val="D7DDE8"/>
            </a:solidFill>
            <a:prstDash val="solid"/>
          </a:ln>
        </p:spPr>
      </p:sp>
      <p:sp>
        <p:nvSpPr>
          <p:cNvPr id="22" name="Shape 20"/>
          <p:cNvSpPr/>
          <p:nvPr/>
        </p:nvSpPr>
        <p:spPr>
          <a:xfrm>
            <a:off x="1554480" y="3968496"/>
            <a:ext cx="438912" cy="256032"/>
          </a:xfrm>
          <a:prstGeom prst="rect">
            <a:avLst/>
          </a:prstGeom>
          <a:solidFill>
            <a:srgbClr val="D7DDE8"/>
          </a:solidFill>
          <a:ln w="12700">
            <a:solidFill>
              <a:srgbClr val="D7DDE8"/>
            </a:solidFill>
            <a:prstDash val="solid"/>
          </a:ln>
        </p:spPr>
      </p:sp>
      <p:sp>
        <p:nvSpPr>
          <p:cNvPr id="23" name="Shape 21"/>
          <p:cNvSpPr/>
          <p:nvPr/>
        </p:nvSpPr>
        <p:spPr>
          <a:xfrm>
            <a:off x="2103120" y="3968496"/>
            <a:ext cx="438912" cy="256032"/>
          </a:xfrm>
          <a:prstGeom prst="rect">
            <a:avLst/>
          </a:prstGeom>
          <a:solidFill>
            <a:srgbClr val="D7DDE8"/>
          </a:solidFill>
          <a:ln w="12700">
            <a:solidFill>
              <a:srgbClr val="D7DDE8"/>
            </a:solidFill>
            <a:prstDash val="solid"/>
          </a:ln>
        </p:spPr>
      </p:sp>
      <p:sp>
        <p:nvSpPr>
          <p:cNvPr id="24" name="Shape 22"/>
          <p:cNvSpPr/>
          <p:nvPr/>
        </p:nvSpPr>
        <p:spPr>
          <a:xfrm>
            <a:off x="2651760" y="3968496"/>
            <a:ext cx="438912" cy="256032"/>
          </a:xfrm>
          <a:prstGeom prst="rect">
            <a:avLst/>
          </a:prstGeom>
          <a:solidFill>
            <a:srgbClr val="D7DDE8"/>
          </a:solidFill>
          <a:ln w="12700">
            <a:solidFill>
              <a:srgbClr val="D7DDE8"/>
            </a:solidFill>
            <a:prstDash val="solid"/>
          </a:ln>
        </p:spPr>
      </p:sp>
      <p:sp>
        <p:nvSpPr>
          <p:cNvPr id="25" name="Shape 23"/>
          <p:cNvSpPr/>
          <p:nvPr/>
        </p:nvSpPr>
        <p:spPr>
          <a:xfrm>
            <a:off x="1005840" y="4352544"/>
            <a:ext cx="438912" cy="256032"/>
          </a:xfrm>
          <a:prstGeom prst="rect">
            <a:avLst/>
          </a:prstGeom>
          <a:solidFill>
            <a:srgbClr val="D7DDE8"/>
          </a:solidFill>
          <a:ln w="12700">
            <a:solidFill>
              <a:srgbClr val="D7DDE8"/>
            </a:solidFill>
            <a:prstDash val="solid"/>
          </a:ln>
        </p:spPr>
      </p:sp>
      <p:sp>
        <p:nvSpPr>
          <p:cNvPr id="26" name="Shape 24"/>
          <p:cNvSpPr/>
          <p:nvPr/>
        </p:nvSpPr>
        <p:spPr>
          <a:xfrm>
            <a:off x="1554480" y="4352544"/>
            <a:ext cx="438912" cy="256032"/>
          </a:xfrm>
          <a:prstGeom prst="rect">
            <a:avLst/>
          </a:prstGeom>
          <a:solidFill>
            <a:srgbClr val="D7DDE8"/>
          </a:solidFill>
          <a:ln w="12700">
            <a:solidFill>
              <a:srgbClr val="D7DDE8"/>
            </a:solidFill>
            <a:prstDash val="solid"/>
          </a:ln>
        </p:spPr>
      </p:sp>
      <p:sp>
        <p:nvSpPr>
          <p:cNvPr id="27" name="Shape 25"/>
          <p:cNvSpPr/>
          <p:nvPr/>
        </p:nvSpPr>
        <p:spPr>
          <a:xfrm>
            <a:off x="2103120" y="4352544"/>
            <a:ext cx="438912" cy="256032"/>
          </a:xfrm>
          <a:prstGeom prst="rect">
            <a:avLst/>
          </a:prstGeom>
          <a:solidFill>
            <a:srgbClr val="D7DDE8"/>
          </a:solidFill>
          <a:ln w="12700">
            <a:solidFill>
              <a:srgbClr val="D7DDE8"/>
            </a:solidFill>
            <a:prstDash val="solid"/>
          </a:ln>
        </p:spPr>
      </p:sp>
      <p:sp>
        <p:nvSpPr>
          <p:cNvPr id="28" name="Shape 26"/>
          <p:cNvSpPr/>
          <p:nvPr/>
        </p:nvSpPr>
        <p:spPr>
          <a:xfrm>
            <a:off x="2651760" y="4352544"/>
            <a:ext cx="438912" cy="256032"/>
          </a:xfrm>
          <a:prstGeom prst="rect">
            <a:avLst/>
          </a:prstGeom>
          <a:solidFill>
            <a:srgbClr val="D7DDE8"/>
          </a:solidFill>
          <a:ln w="12700">
            <a:solidFill>
              <a:srgbClr val="D7DDE8"/>
            </a:solidFill>
            <a:prstDash val="solid"/>
          </a:ln>
        </p:spPr>
      </p:sp>
      <p:sp>
        <p:nvSpPr>
          <p:cNvPr id="29" name="Text 27"/>
          <p:cNvSpPr txBox="1"/>
          <p:nvPr/>
        </p:nvSpPr>
        <p:spPr>
          <a:xfrm>
            <a:off x="822960" y="4681728"/>
            <a:ext cx="2468880" cy="27432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implementation</a:t>
            </a:r>
            <a:endParaRPr lang="en-US" sz="1100" dirty="0"/>
          </a:p>
        </p:txBody>
      </p:sp>
      <p:sp>
        <p:nvSpPr>
          <p:cNvPr id="30" name="Text 28"/>
          <p:cNvSpPr txBox="1"/>
          <p:nvPr/>
        </p:nvSpPr>
        <p:spPr>
          <a:xfrm>
            <a:off x="3840480" y="1554480"/>
            <a:ext cx="2468880" cy="274320"/>
          </a:xfrm>
          <a:prstGeom prst="rect">
            <a:avLst/>
          </a:prstGeom>
          <a:noFill/>
          <a:ln/>
        </p:spPr>
        <p:txBody>
          <a:bodyPr wrap="square" lIns="0" tIns="0" rIns="0" bIns="0" rtlCol="0" anchor="t"/>
          <a:lstStyle/>
          <a:p>
            <a:pPr algn="ctr" indent="0" marL="0">
              <a:buNone/>
            </a:pPr>
            <a:r>
              <a:rPr lang="en-US" sz="1400" b="1" dirty="0">
                <a:solidFill>
                  <a:srgbClr val="D64545"/>
                </a:solidFill>
                <a:latin typeface="Arial" pitchFamily="34" charset="0"/>
                <a:ea typeface="Arial" pitchFamily="34" charset="-122"/>
                <a:cs typeface="Arial" pitchFamily="34" charset="-120"/>
              </a:rPr>
              <a:t>Shallow module</a:t>
            </a:r>
            <a:endParaRPr lang="en-US" sz="1400" dirty="0"/>
          </a:p>
        </p:txBody>
      </p:sp>
      <p:sp>
        <p:nvSpPr>
          <p:cNvPr id="31" name="Text 29"/>
          <p:cNvSpPr/>
          <p:nvPr/>
        </p:nvSpPr>
        <p:spPr>
          <a:xfrm>
            <a:off x="3840480"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32" name="Shape 30"/>
          <p:cNvSpPr/>
          <p:nvPr/>
        </p:nvSpPr>
        <p:spPr>
          <a:xfrm>
            <a:off x="3840480" y="2651760"/>
            <a:ext cx="365760" cy="329184"/>
          </a:xfrm>
          <a:prstGeom prst="rect">
            <a:avLst/>
          </a:prstGeom>
          <a:solidFill>
            <a:srgbClr val="14213D"/>
          </a:solidFill>
          <a:ln w="12700">
            <a:solidFill>
              <a:srgbClr val="14213D"/>
            </a:solidFill>
            <a:prstDash val="solid"/>
          </a:ln>
        </p:spPr>
      </p:sp>
      <p:sp>
        <p:nvSpPr>
          <p:cNvPr id="33" name="Shape 31"/>
          <p:cNvSpPr/>
          <p:nvPr/>
        </p:nvSpPr>
        <p:spPr>
          <a:xfrm>
            <a:off x="4023360" y="2176272"/>
            <a:ext cx="0" cy="457200"/>
          </a:xfrm>
          <a:prstGeom prst="line">
            <a:avLst/>
          </a:prstGeom>
          <a:noFill/>
          <a:ln w="15875">
            <a:solidFill>
              <a:srgbClr val="D64545"/>
            </a:solidFill>
            <a:prstDash val="solid"/>
            <a:tailEnd type="triangle"/>
          </a:ln>
        </p:spPr>
      </p:sp>
      <p:sp>
        <p:nvSpPr>
          <p:cNvPr id="34" name="Text 32"/>
          <p:cNvSpPr/>
          <p:nvPr/>
        </p:nvSpPr>
        <p:spPr>
          <a:xfrm>
            <a:off x="4261104"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35" name="Shape 33"/>
          <p:cNvSpPr/>
          <p:nvPr/>
        </p:nvSpPr>
        <p:spPr>
          <a:xfrm>
            <a:off x="4261104" y="2651760"/>
            <a:ext cx="365760" cy="329184"/>
          </a:xfrm>
          <a:prstGeom prst="rect">
            <a:avLst/>
          </a:prstGeom>
          <a:solidFill>
            <a:srgbClr val="14213D"/>
          </a:solidFill>
          <a:ln w="12700">
            <a:solidFill>
              <a:srgbClr val="14213D"/>
            </a:solidFill>
            <a:prstDash val="solid"/>
          </a:ln>
        </p:spPr>
      </p:sp>
      <p:sp>
        <p:nvSpPr>
          <p:cNvPr id="36" name="Shape 34"/>
          <p:cNvSpPr/>
          <p:nvPr/>
        </p:nvSpPr>
        <p:spPr>
          <a:xfrm>
            <a:off x="4443984" y="2176272"/>
            <a:ext cx="0" cy="1069848"/>
          </a:xfrm>
          <a:prstGeom prst="line">
            <a:avLst/>
          </a:prstGeom>
          <a:noFill/>
          <a:ln w="15875">
            <a:solidFill>
              <a:srgbClr val="D64545"/>
            </a:solidFill>
            <a:prstDash val="dash"/>
            <a:tailEnd type="triangle"/>
          </a:ln>
        </p:spPr>
      </p:sp>
      <p:sp>
        <p:nvSpPr>
          <p:cNvPr id="37" name="Text 35"/>
          <p:cNvSpPr/>
          <p:nvPr/>
        </p:nvSpPr>
        <p:spPr>
          <a:xfrm>
            <a:off x="4681728"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38" name="Shape 36"/>
          <p:cNvSpPr/>
          <p:nvPr/>
        </p:nvSpPr>
        <p:spPr>
          <a:xfrm>
            <a:off x="4681728" y="2651760"/>
            <a:ext cx="365760" cy="329184"/>
          </a:xfrm>
          <a:prstGeom prst="rect">
            <a:avLst/>
          </a:prstGeom>
          <a:solidFill>
            <a:srgbClr val="14213D"/>
          </a:solidFill>
          <a:ln w="12700">
            <a:solidFill>
              <a:srgbClr val="14213D"/>
            </a:solidFill>
            <a:prstDash val="solid"/>
          </a:ln>
        </p:spPr>
      </p:sp>
      <p:sp>
        <p:nvSpPr>
          <p:cNvPr id="39" name="Shape 37"/>
          <p:cNvSpPr/>
          <p:nvPr/>
        </p:nvSpPr>
        <p:spPr>
          <a:xfrm>
            <a:off x="4864608" y="2176272"/>
            <a:ext cx="0" cy="457200"/>
          </a:xfrm>
          <a:prstGeom prst="line">
            <a:avLst/>
          </a:prstGeom>
          <a:noFill/>
          <a:ln w="15875">
            <a:solidFill>
              <a:srgbClr val="D64545"/>
            </a:solidFill>
            <a:prstDash val="solid"/>
            <a:tailEnd type="triangle"/>
          </a:ln>
        </p:spPr>
      </p:sp>
      <p:sp>
        <p:nvSpPr>
          <p:cNvPr id="40" name="Text 38"/>
          <p:cNvSpPr/>
          <p:nvPr/>
        </p:nvSpPr>
        <p:spPr>
          <a:xfrm>
            <a:off x="5102352"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41" name="Shape 39"/>
          <p:cNvSpPr/>
          <p:nvPr/>
        </p:nvSpPr>
        <p:spPr>
          <a:xfrm>
            <a:off x="5102352" y="2651760"/>
            <a:ext cx="365760" cy="329184"/>
          </a:xfrm>
          <a:prstGeom prst="rect">
            <a:avLst/>
          </a:prstGeom>
          <a:solidFill>
            <a:srgbClr val="14213D"/>
          </a:solidFill>
          <a:ln w="12700">
            <a:solidFill>
              <a:srgbClr val="14213D"/>
            </a:solidFill>
            <a:prstDash val="solid"/>
          </a:ln>
        </p:spPr>
      </p:sp>
      <p:sp>
        <p:nvSpPr>
          <p:cNvPr id="42" name="Shape 40"/>
          <p:cNvSpPr/>
          <p:nvPr/>
        </p:nvSpPr>
        <p:spPr>
          <a:xfrm>
            <a:off x="5285232" y="2176272"/>
            <a:ext cx="0" cy="1069848"/>
          </a:xfrm>
          <a:prstGeom prst="line">
            <a:avLst/>
          </a:prstGeom>
          <a:noFill/>
          <a:ln w="15875">
            <a:solidFill>
              <a:srgbClr val="D64545"/>
            </a:solidFill>
            <a:prstDash val="dash"/>
            <a:tailEnd type="triangle"/>
          </a:ln>
        </p:spPr>
      </p:sp>
      <p:sp>
        <p:nvSpPr>
          <p:cNvPr id="43" name="Text 41"/>
          <p:cNvSpPr/>
          <p:nvPr/>
        </p:nvSpPr>
        <p:spPr>
          <a:xfrm>
            <a:off x="5522976"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44" name="Shape 42"/>
          <p:cNvSpPr/>
          <p:nvPr/>
        </p:nvSpPr>
        <p:spPr>
          <a:xfrm>
            <a:off x="5522976" y="2651760"/>
            <a:ext cx="365760" cy="329184"/>
          </a:xfrm>
          <a:prstGeom prst="rect">
            <a:avLst/>
          </a:prstGeom>
          <a:solidFill>
            <a:srgbClr val="14213D"/>
          </a:solidFill>
          <a:ln w="12700">
            <a:solidFill>
              <a:srgbClr val="14213D"/>
            </a:solidFill>
            <a:prstDash val="solid"/>
          </a:ln>
        </p:spPr>
      </p:sp>
      <p:sp>
        <p:nvSpPr>
          <p:cNvPr id="45" name="Shape 43"/>
          <p:cNvSpPr/>
          <p:nvPr/>
        </p:nvSpPr>
        <p:spPr>
          <a:xfrm>
            <a:off x="5705856" y="2176272"/>
            <a:ext cx="0" cy="457200"/>
          </a:xfrm>
          <a:prstGeom prst="line">
            <a:avLst/>
          </a:prstGeom>
          <a:noFill/>
          <a:ln w="15875">
            <a:solidFill>
              <a:srgbClr val="D64545"/>
            </a:solidFill>
            <a:prstDash val="solid"/>
            <a:tailEnd type="triangle"/>
          </a:ln>
        </p:spPr>
      </p:sp>
      <p:sp>
        <p:nvSpPr>
          <p:cNvPr id="46" name="Text 44"/>
          <p:cNvSpPr/>
          <p:nvPr/>
        </p:nvSpPr>
        <p:spPr>
          <a:xfrm>
            <a:off x="5943600" y="1901952"/>
            <a:ext cx="365760" cy="274320"/>
          </a:xfrm>
          <a:prstGeom prst="roundRect">
            <a:avLst>
              <a:gd name="adj" fmla="val 26667"/>
            </a:avLst>
          </a:prstGeom>
          <a:solidFill>
            <a:srgbClr val="FBE3E3"/>
          </a:solidFill>
          <a:ln>
            <a:solidFill>
              <a:srgbClr val="FBE3E3"/>
            </a:solidFill>
          </a:ln>
        </p:spPr>
        <p:txBody>
          <a:bodyPr wrap="square" lIns="0" tIns="0" rIns="0" bIns="0" rtlCol="0" anchor="ctr"/>
          <a:lstStyle/>
          <a:p>
            <a:pPr algn="ctr" indent="0" marL="0">
              <a:buNone/>
            </a:pPr>
            <a:r>
              <a:rPr lang="en-US" sz="900" b="1" dirty="0">
                <a:solidFill>
                  <a:srgbClr val="D64545"/>
                </a:solidFill>
                <a:latin typeface="Arial" pitchFamily="34" charset="0"/>
                <a:ea typeface="Arial" pitchFamily="34" charset="-122"/>
                <a:cs typeface="Arial" pitchFamily="34" charset="-120"/>
              </a:rPr>
              <a:t>test</a:t>
            </a:r>
            <a:endParaRPr lang="en-US" sz="900" dirty="0"/>
          </a:p>
        </p:txBody>
      </p:sp>
      <p:sp>
        <p:nvSpPr>
          <p:cNvPr id="47" name="Shape 45"/>
          <p:cNvSpPr/>
          <p:nvPr/>
        </p:nvSpPr>
        <p:spPr>
          <a:xfrm>
            <a:off x="5943600" y="2651760"/>
            <a:ext cx="365760" cy="329184"/>
          </a:xfrm>
          <a:prstGeom prst="rect">
            <a:avLst/>
          </a:prstGeom>
          <a:solidFill>
            <a:srgbClr val="14213D"/>
          </a:solidFill>
          <a:ln w="12700">
            <a:solidFill>
              <a:srgbClr val="14213D"/>
            </a:solidFill>
            <a:prstDash val="solid"/>
          </a:ln>
        </p:spPr>
      </p:sp>
      <p:sp>
        <p:nvSpPr>
          <p:cNvPr id="48" name="Shape 46"/>
          <p:cNvSpPr/>
          <p:nvPr/>
        </p:nvSpPr>
        <p:spPr>
          <a:xfrm>
            <a:off x="6126480" y="2176272"/>
            <a:ext cx="0" cy="1069848"/>
          </a:xfrm>
          <a:prstGeom prst="line">
            <a:avLst/>
          </a:prstGeom>
          <a:noFill/>
          <a:ln w="15875">
            <a:solidFill>
              <a:srgbClr val="D64545"/>
            </a:solidFill>
            <a:prstDash val="dash"/>
            <a:tailEnd type="triangle"/>
          </a:ln>
        </p:spPr>
      </p:sp>
      <p:sp>
        <p:nvSpPr>
          <p:cNvPr id="49" name="Shape 47"/>
          <p:cNvSpPr/>
          <p:nvPr/>
        </p:nvSpPr>
        <p:spPr>
          <a:xfrm>
            <a:off x="3840480" y="3017520"/>
            <a:ext cx="2487168" cy="566928"/>
          </a:xfrm>
          <a:prstGeom prst="roundRect">
            <a:avLst>
              <a:gd name="adj" fmla="val 16129"/>
            </a:avLst>
          </a:prstGeom>
          <a:solidFill>
            <a:srgbClr val="F1F4F9"/>
          </a:solidFill>
          <a:ln w="12700">
            <a:solidFill>
              <a:srgbClr val="D7DDE8"/>
            </a:solidFill>
            <a:prstDash val="solid"/>
          </a:ln>
        </p:spPr>
      </p:sp>
      <p:sp>
        <p:nvSpPr>
          <p:cNvPr id="50" name="Text 48"/>
          <p:cNvSpPr txBox="1"/>
          <p:nvPr/>
        </p:nvSpPr>
        <p:spPr>
          <a:xfrm>
            <a:off x="3840480" y="3310128"/>
            <a:ext cx="2487168" cy="22860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implementation</a:t>
            </a:r>
            <a:endParaRPr lang="en-US" sz="1100" dirty="0"/>
          </a:p>
        </p:txBody>
      </p:sp>
      <p:sp>
        <p:nvSpPr>
          <p:cNvPr id="51" name="Text 49"/>
          <p:cNvSpPr txBox="1"/>
          <p:nvPr/>
        </p:nvSpPr>
        <p:spPr>
          <a:xfrm>
            <a:off x="731520" y="5166360"/>
            <a:ext cx="2697480" cy="1005840"/>
          </a:xfrm>
          <a:prstGeom prst="rect">
            <a:avLst/>
          </a:prstGeom>
          <a:noFill/>
          <a:ln/>
        </p:spPr>
        <p:txBody>
          <a:bodyPr wrap="square" lIns="0" tIns="0" rIns="0" bIns="0" rtlCol="0" anchor="t"/>
          <a:lstStyle/>
          <a:p>
            <a:pPr indent="0" marL="0">
              <a:buNone/>
            </a:pPr>
            <a:r>
              <a:rPr lang="en-US" sz="1200" dirty="0">
                <a:solidFill>
                  <a:srgbClr val="14213D"/>
                </a:solidFill>
                <a:latin typeface="Arial" pitchFamily="34" charset="0"/>
                <a:ea typeface="Arial" pitchFamily="34" charset="-122"/>
                <a:cs typeface="Arial" pitchFamily="34" charset="-120"/>
              </a:rPr>
              <a:t>A small interface hides a lot of behaviour. Tests stay at the seam and survive refactors.</a:t>
            </a:r>
            <a:endParaRPr lang="en-US" sz="1200" dirty="0"/>
          </a:p>
        </p:txBody>
      </p:sp>
      <p:sp>
        <p:nvSpPr>
          <p:cNvPr id="52" name="Text 50"/>
          <p:cNvSpPr txBox="1"/>
          <p:nvPr/>
        </p:nvSpPr>
        <p:spPr>
          <a:xfrm>
            <a:off x="3794760" y="3840480"/>
            <a:ext cx="2606040" cy="1188720"/>
          </a:xfrm>
          <a:prstGeom prst="rect">
            <a:avLst/>
          </a:prstGeom>
          <a:noFill/>
          <a:ln/>
        </p:spPr>
        <p:txBody>
          <a:bodyPr wrap="square" lIns="0" tIns="0" rIns="0" bIns="0" rtlCol="0" anchor="t"/>
          <a:lstStyle/>
          <a:p>
            <a:pPr indent="0" marL="0">
              <a:buNone/>
            </a:pPr>
            <a:r>
              <a:rPr lang="en-US" sz="1200" dirty="0">
                <a:solidFill>
                  <a:srgbClr val="14213D"/>
                </a:solidFill>
                <a:latin typeface="Arial" pitchFamily="34" charset="0"/>
                <a:ea typeface="Arial" pitchFamily="34" charset="-122"/>
                <a:cs typeface="Arial" pitchFamily="34" charset="-120"/>
              </a:rPr>
              <a:t>A large interface over little behaviour. Tests reach into the structure, the dashed arrows, and break on every change.</a:t>
            </a:r>
            <a:endParaRPr lang="en-US" sz="1200" dirty="0"/>
          </a:p>
        </p:txBody>
      </p:sp>
      <p:sp>
        <p:nvSpPr>
          <p:cNvPr id="53" name="Text 51"/>
          <p:cNvSpPr txBox="1"/>
          <p:nvPr/>
        </p:nvSpPr>
        <p:spPr>
          <a:xfrm>
            <a:off x="6949440" y="1572768"/>
            <a:ext cx="4572000" cy="274320"/>
          </a:xfrm>
          <a:prstGeom prst="rect">
            <a:avLst/>
          </a:prstGeom>
          <a:noFill/>
          <a:ln/>
        </p:spPr>
        <p:txBody>
          <a:bodyPr wrap="square" lIns="0" tIns="0" rIns="0" bIns="0" rtlCol="0" anchor="t"/>
          <a:lstStyle/>
          <a:p>
            <a:pPr indent="0" marL="0">
              <a:buNone/>
            </a:pPr>
            <a:r>
              <a:rPr lang="en-US" sz="1100" b="1" spc="100" kern="0" dirty="0">
                <a:solidFill>
                  <a:srgbClr val="8D99B3"/>
                </a:solidFill>
                <a:latin typeface="Arial" pitchFamily="34" charset="0"/>
                <a:ea typeface="Arial" pitchFamily="34" charset="-122"/>
                <a:cs typeface="Arial" pitchFamily="34" charset="-120"/>
              </a:rPr>
              <a:t>ONE VOCABULARY FOR THE TEAM</a:t>
            </a:r>
            <a:endParaRPr lang="en-US" sz="1100" dirty="0"/>
          </a:p>
        </p:txBody>
      </p:sp>
      <p:sp>
        <p:nvSpPr>
          <p:cNvPr id="54" name="Text 52"/>
          <p:cNvSpPr/>
          <p:nvPr/>
        </p:nvSpPr>
        <p:spPr>
          <a:xfrm>
            <a:off x="6949440" y="1920240"/>
            <a:ext cx="1234440"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300" b="1" dirty="0">
                <a:solidFill>
                  <a:srgbClr val="1F9E89"/>
                </a:solidFill>
                <a:latin typeface="Arial" pitchFamily="34" charset="0"/>
                <a:ea typeface="Arial" pitchFamily="34" charset="-122"/>
                <a:cs typeface="Arial" pitchFamily="34" charset="-120"/>
              </a:rPr>
              <a:t>Seam</a:t>
            </a:r>
            <a:endParaRPr lang="en-US" sz="1300" dirty="0"/>
          </a:p>
        </p:txBody>
      </p:sp>
      <p:sp>
        <p:nvSpPr>
          <p:cNvPr id="55" name="Text 53"/>
          <p:cNvSpPr txBox="1"/>
          <p:nvPr/>
        </p:nvSpPr>
        <p:spPr>
          <a:xfrm>
            <a:off x="8321040" y="1920240"/>
            <a:ext cx="3291840" cy="457200"/>
          </a:xfrm>
          <a:prstGeom prst="rect">
            <a:avLst/>
          </a:prstGeom>
          <a:noFill/>
          <a:ln/>
        </p:spPr>
        <p:txBody>
          <a:bodyPr wrap="square" lIns="0" tIns="0" rIns="0" bIns="0" rtlCol="0" anchor="ctr"/>
          <a:lstStyle/>
          <a:p>
            <a:pPr indent="0" marL="0">
              <a:buNone/>
            </a:pPr>
            <a:r>
              <a:rPr lang="en-US" sz="1250" dirty="0">
                <a:solidFill>
                  <a:srgbClr val="4A5468"/>
                </a:solidFill>
                <a:latin typeface="Arial" pitchFamily="34" charset="0"/>
                <a:ea typeface="Arial" pitchFamily="34" charset="-122"/>
                <a:cs typeface="Arial" pitchFamily="34" charset="-120"/>
              </a:rPr>
              <a:t>Where the interface lives. Tests go here.</a:t>
            </a:r>
            <a:endParaRPr lang="en-US" sz="1250" dirty="0"/>
          </a:p>
        </p:txBody>
      </p:sp>
      <p:sp>
        <p:nvSpPr>
          <p:cNvPr id="56" name="Text 54"/>
          <p:cNvSpPr/>
          <p:nvPr/>
        </p:nvSpPr>
        <p:spPr>
          <a:xfrm>
            <a:off x="6949440" y="2523744"/>
            <a:ext cx="1234440"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300" b="1" dirty="0">
                <a:solidFill>
                  <a:srgbClr val="1F9E89"/>
                </a:solidFill>
                <a:latin typeface="Arial" pitchFamily="34" charset="0"/>
                <a:ea typeface="Arial" pitchFamily="34" charset="-122"/>
                <a:cs typeface="Arial" pitchFamily="34" charset="-120"/>
              </a:rPr>
              <a:t>Depth</a:t>
            </a:r>
            <a:endParaRPr lang="en-US" sz="1300" dirty="0"/>
          </a:p>
        </p:txBody>
      </p:sp>
      <p:sp>
        <p:nvSpPr>
          <p:cNvPr id="57" name="Text 55"/>
          <p:cNvSpPr txBox="1"/>
          <p:nvPr/>
        </p:nvSpPr>
        <p:spPr>
          <a:xfrm>
            <a:off x="8321040" y="2523744"/>
            <a:ext cx="3291840" cy="457200"/>
          </a:xfrm>
          <a:prstGeom prst="rect">
            <a:avLst/>
          </a:prstGeom>
          <a:noFill/>
          <a:ln/>
        </p:spPr>
        <p:txBody>
          <a:bodyPr wrap="square" lIns="0" tIns="0" rIns="0" bIns="0" rtlCol="0" anchor="ctr"/>
          <a:lstStyle/>
          <a:p>
            <a:pPr indent="0" marL="0">
              <a:buNone/>
            </a:pPr>
            <a:r>
              <a:rPr lang="en-US" sz="1250" dirty="0">
                <a:solidFill>
                  <a:srgbClr val="4A5468"/>
                </a:solidFill>
                <a:latin typeface="Arial" pitchFamily="34" charset="0"/>
                <a:ea typeface="Arial" pitchFamily="34" charset="-122"/>
                <a:cs typeface="Arial" pitchFamily="34" charset="-120"/>
              </a:rPr>
              <a:t>Behaviour a caller gets per unit of interface it must learn.</a:t>
            </a:r>
            <a:endParaRPr lang="en-US" sz="1250" dirty="0"/>
          </a:p>
        </p:txBody>
      </p:sp>
      <p:sp>
        <p:nvSpPr>
          <p:cNvPr id="58" name="Text 56"/>
          <p:cNvSpPr/>
          <p:nvPr/>
        </p:nvSpPr>
        <p:spPr>
          <a:xfrm>
            <a:off x="6949440" y="3127248"/>
            <a:ext cx="1234440"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300" b="1" dirty="0">
                <a:solidFill>
                  <a:srgbClr val="1F9E89"/>
                </a:solidFill>
                <a:latin typeface="Arial" pitchFamily="34" charset="0"/>
                <a:ea typeface="Arial" pitchFamily="34" charset="-122"/>
                <a:cs typeface="Arial" pitchFamily="34" charset="-120"/>
              </a:rPr>
              <a:t>Leverage</a:t>
            </a:r>
            <a:endParaRPr lang="en-US" sz="1300" dirty="0"/>
          </a:p>
        </p:txBody>
      </p:sp>
      <p:sp>
        <p:nvSpPr>
          <p:cNvPr id="59" name="Text 57"/>
          <p:cNvSpPr txBox="1"/>
          <p:nvPr/>
        </p:nvSpPr>
        <p:spPr>
          <a:xfrm>
            <a:off x="8321040" y="3127248"/>
            <a:ext cx="3291840" cy="457200"/>
          </a:xfrm>
          <a:prstGeom prst="rect">
            <a:avLst/>
          </a:prstGeom>
          <a:noFill/>
          <a:ln/>
        </p:spPr>
        <p:txBody>
          <a:bodyPr wrap="square" lIns="0" tIns="0" rIns="0" bIns="0" rtlCol="0" anchor="ctr"/>
          <a:lstStyle/>
          <a:p>
            <a:pPr indent="0" marL="0">
              <a:buNone/>
            </a:pPr>
            <a:r>
              <a:rPr lang="en-US" sz="1250" dirty="0">
                <a:solidFill>
                  <a:srgbClr val="4A5468"/>
                </a:solidFill>
                <a:latin typeface="Arial" pitchFamily="34" charset="0"/>
                <a:ea typeface="Arial" pitchFamily="34" charset="-122"/>
                <a:cs typeface="Arial" pitchFamily="34" charset="-120"/>
              </a:rPr>
              <a:t>What callers gain from depth.</a:t>
            </a:r>
            <a:endParaRPr lang="en-US" sz="1250" dirty="0"/>
          </a:p>
        </p:txBody>
      </p:sp>
      <p:sp>
        <p:nvSpPr>
          <p:cNvPr id="60" name="Text 58"/>
          <p:cNvSpPr/>
          <p:nvPr/>
        </p:nvSpPr>
        <p:spPr>
          <a:xfrm>
            <a:off x="6949440" y="3730752"/>
            <a:ext cx="1234440"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300" b="1" dirty="0">
                <a:solidFill>
                  <a:srgbClr val="1F9E89"/>
                </a:solidFill>
                <a:latin typeface="Arial" pitchFamily="34" charset="0"/>
                <a:ea typeface="Arial" pitchFamily="34" charset="-122"/>
                <a:cs typeface="Arial" pitchFamily="34" charset="-120"/>
              </a:rPr>
              <a:t>Locality</a:t>
            </a:r>
            <a:endParaRPr lang="en-US" sz="1300" dirty="0"/>
          </a:p>
        </p:txBody>
      </p:sp>
      <p:sp>
        <p:nvSpPr>
          <p:cNvPr id="61" name="Text 59"/>
          <p:cNvSpPr txBox="1"/>
          <p:nvPr/>
        </p:nvSpPr>
        <p:spPr>
          <a:xfrm>
            <a:off x="8321040" y="3730752"/>
            <a:ext cx="3291840" cy="457200"/>
          </a:xfrm>
          <a:prstGeom prst="rect">
            <a:avLst/>
          </a:prstGeom>
          <a:noFill/>
          <a:ln/>
        </p:spPr>
        <p:txBody>
          <a:bodyPr wrap="square" lIns="0" tIns="0" rIns="0" bIns="0" rtlCol="0" anchor="ctr"/>
          <a:lstStyle/>
          <a:p>
            <a:pPr indent="0" marL="0">
              <a:buNone/>
            </a:pPr>
            <a:r>
              <a:rPr lang="en-US" sz="1250" dirty="0">
                <a:solidFill>
                  <a:srgbClr val="4A5468"/>
                </a:solidFill>
                <a:latin typeface="Arial" pitchFamily="34" charset="0"/>
                <a:ea typeface="Arial" pitchFamily="34" charset="-122"/>
                <a:cs typeface="Arial" pitchFamily="34" charset="-120"/>
              </a:rPr>
              <a:t>Change, bugs and checks stay in one place.</a:t>
            </a:r>
            <a:endParaRPr lang="en-US" sz="1250" dirty="0"/>
          </a:p>
        </p:txBody>
      </p:sp>
      <p:sp>
        <p:nvSpPr>
          <p:cNvPr id="62" name="Shape 60"/>
          <p:cNvSpPr/>
          <p:nvPr/>
        </p:nvSpPr>
        <p:spPr>
          <a:xfrm>
            <a:off x="6949440" y="4434840"/>
            <a:ext cx="4690872" cy="1737360"/>
          </a:xfrm>
          <a:prstGeom prst="roundRect">
            <a:avLst>
              <a:gd name="adj" fmla="val 5263"/>
            </a:avLst>
          </a:prstGeom>
          <a:solidFill>
            <a:srgbClr val="14213D"/>
          </a:solidFill>
          <a:ln w="12700">
            <a:solidFill>
              <a:srgbClr val="14213D"/>
            </a:solidFill>
            <a:prstDash val="solid"/>
          </a:ln>
        </p:spPr>
      </p:sp>
      <p:pic>
        <p:nvPicPr>
          <p:cNvPr id="63" name="Image 0" descr="preencoded.png">    </p:cNvPr>
          <p:cNvPicPr>
            <a:picLocks noChangeAspect="1"/>
          </p:cNvPicPr>
          <p:nvPr/>
        </p:nvPicPr>
        <p:blipFill>
          <a:blip r:embed="rId1"/>
          <a:stretch>
            <a:fillRect/>
          </a:stretch>
        </p:blipFill>
        <p:spPr>
          <a:xfrm>
            <a:off x="7178040" y="4645152"/>
            <a:ext cx="384048" cy="384048"/>
          </a:xfrm>
          <a:prstGeom prst="rect">
            <a:avLst/>
          </a:prstGeom>
        </p:spPr>
      </p:pic>
      <p:sp>
        <p:nvSpPr>
          <p:cNvPr id="64" name="Text 61"/>
          <p:cNvSpPr txBox="1"/>
          <p:nvPr/>
        </p:nvSpPr>
        <p:spPr>
          <a:xfrm>
            <a:off x="7680960" y="4645152"/>
            <a:ext cx="3840480" cy="384048"/>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/improve-codebase-architecture</a:t>
            </a:r>
            <a:endParaRPr lang="en-US" sz="1500" dirty="0"/>
          </a:p>
        </p:txBody>
      </p:sp>
      <p:sp>
        <p:nvSpPr>
          <p:cNvPr id="65" name="Text 62"/>
          <p:cNvSpPr txBox="1"/>
          <p:nvPr/>
        </p:nvSpPr>
        <p:spPr>
          <a:xfrm>
            <a:off x="7178040" y="5138928"/>
            <a:ext cx="4297680" cy="914400"/>
          </a:xfrm>
          <a:prstGeom prst="rect">
            <a:avLst/>
          </a:prstGeom>
          <a:noFill/>
          <a:ln/>
        </p:spPr>
        <p:txBody>
          <a:bodyPr wrap="square" lIns="0" tIns="0" rIns="0" bIns="0" rtlCol="0" anchor="t"/>
          <a:lstStyle/>
          <a:p>
            <a:pPr indent="0" marL="0">
              <a:buNone/>
            </a:pPr>
            <a:r>
              <a:rPr lang="en-US" sz="1250" dirty="0">
                <a:solidFill>
                  <a:srgbClr val="C9D2E3"/>
                </a:solidFill>
                <a:latin typeface="Arial" pitchFamily="34" charset="0"/>
                <a:ea typeface="Arial" pitchFamily="34" charset="-122"/>
                <a:cs typeface="Arial" pitchFamily="34" charset="-120"/>
              </a:rPr>
              <a:t>Scans any codebase, even a vibe-coded one, for deepening opportunities. It writes an HTML report with a before and an after for each.</a:t>
            </a:r>
            <a:endParaRPr lang="en-US" sz="1250" dirty="0"/>
          </a:p>
        </p:txBody>
      </p:sp>
      <p:sp>
        <p:nvSpPr>
          <p:cNvPr id="66" name="Text 63"/>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 Terms from the codebase-design skill.</a:t>
            </a:r>
            <a:endParaRPr lang="en-US" sz="900" dirty="0"/>
          </a:p>
        </p:txBody>
      </p:sp>
      <p:sp>
        <p:nvSpPr>
          <p:cNvPr id="67" name="Text 64"/>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9184"/>
            <a:ext cx="2801722" cy="274320"/>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BRAKE 2 · AUTOMATED REVIEW</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The implementer is overloaded. The reviewer is not.</a:t>
            </a:r>
            <a:endParaRPr lang="en-US" sz="2800" dirty="0"/>
          </a:p>
        </p:txBody>
      </p:sp>
      <p:sp>
        <p:nvSpPr>
          <p:cNvPr id="4" name="Text 2"/>
          <p:cNvSpPr txBox="1"/>
          <p:nvPr/>
        </p:nvSpPr>
        <p:spPr>
          <a:xfrm>
            <a:off x="2651760" y="1481328"/>
            <a:ext cx="4572000" cy="274320"/>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ONE CONTEXT WINDOW EACH</a:t>
            </a:r>
            <a:endParaRPr lang="en-US" sz="1000" dirty="0"/>
          </a:p>
        </p:txBody>
      </p:sp>
      <p:sp>
        <p:nvSpPr>
          <p:cNvPr id="5" name="Shape 3"/>
          <p:cNvSpPr/>
          <p:nvPr/>
        </p:nvSpPr>
        <p:spPr>
          <a:xfrm>
            <a:off x="548640" y="1956816"/>
            <a:ext cx="566928" cy="566928"/>
          </a:xfrm>
          <a:prstGeom prst="ellipse">
            <a:avLst/>
          </a:prstGeom>
          <a:solidFill>
            <a:srgbClr val="4F5BD5"/>
          </a:solidFill>
          <a:ln w="12700">
            <a:solidFill>
              <a:srgbClr val="4F5BD5"/>
            </a:solidFill>
            <a:prstDash val="solid"/>
          </a:ln>
        </p:spPr>
      </p:sp>
      <p:pic>
        <p:nvPicPr>
          <p:cNvPr id="6" name="Image 0" descr="preencoded.png">    </p:cNvPr>
          <p:cNvPicPr>
            <a:picLocks noChangeAspect="1"/>
          </p:cNvPicPr>
          <p:nvPr/>
        </p:nvPicPr>
        <p:blipFill>
          <a:blip r:embed="rId1"/>
          <a:stretch>
            <a:fillRect/>
          </a:stretch>
        </p:blipFill>
        <p:spPr>
          <a:xfrm>
            <a:off x="684703" y="2092879"/>
            <a:ext cx="294803" cy="294803"/>
          </a:xfrm>
          <a:prstGeom prst="rect">
            <a:avLst/>
          </a:prstGeom>
        </p:spPr>
      </p:pic>
      <p:sp>
        <p:nvSpPr>
          <p:cNvPr id="7" name="Text 4"/>
          <p:cNvSpPr txBox="1"/>
          <p:nvPr/>
        </p:nvSpPr>
        <p:spPr>
          <a:xfrm>
            <a:off x="1234440" y="1828800"/>
            <a:ext cx="1371600" cy="82296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Implementer</a:t>
            </a:r>
            <a:endParaRPr lang="en-US" sz="1500" dirty="0"/>
          </a:p>
        </p:txBody>
      </p:sp>
      <p:sp>
        <p:nvSpPr>
          <p:cNvPr id="8" name="Shape 5"/>
          <p:cNvSpPr/>
          <p:nvPr/>
        </p:nvSpPr>
        <p:spPr>
          <a:xfrm>
            <a:off x="2651760" y="1828800"/>
            <a:ext cx="6675120" cy="822960"/>
          </a:xfrm>
          <a:prstGeom prst="rect">
            <a:avLst/>
          </a:prstGeom>
          <a:ln w="19050">
            <a:solidFill>
              <a:srgbClr val="14213D"/>
            </a:solidFill>
            <a:prstDash val="solid"/>
          </a:ln>
        </p:spPr>
      </p:sp>
      <p:sp>
        <p:nvSpPr>
          <p:cNvPr id="9" name="Text 6"/>
          <p:cNvSpPr/>
          <p:nvPr/>
        </p:nvSpPr>
        <p:spPr>
          <a:xfrm>
            <a:off x="2697480" y="1883664"/>
            <a:ext cx="2103120" cy="713232"/>
          </a:xfrm>
          <a:prstGeom prst="roundRect">
            <a:avLst>
              <a:gd name="adj" fmla="val 6410"/>
            </a:avLst>
          </a:prstGeom>
          <a:solidFill>
            <a:srgbClr val="E4E7FB"/>
          </a:solidFill>
          <a:ln>
            <a:solidFill>
              <a:srgbClr val="E4E7FB"/>
            </a:solidFill>
          </a:ln>
        </p:spPr>
        <p:txBody>
          <a:bodyPr wrap="square" lIns="50800" tIns="50800" rIns="50800" bIns="50800" rtlCol="0" anchor="ctr"/>
          <a:lstStyle/>
          <a:p>
            <a:pPr algn="ctr" indent="0" marL="0">
              <a:buNone/>
            </a:pPr>
            <a:r>
              <a:rPr lang="en-US" sz="1250" dirty="0">
                <a:solidFill>
                  <a:srgbClr val="14213D"/>
                </a:solidFill>
                <a:latin typeface="Arial" pitchFamily="34" charset="0"/>
                <a:ea typeface="Arial" pitchFamily="34" charset="-122"/>
                <a:cs typeface="Arial" pitchFamily="34" charset="-120"/>
              </a:rPr>
              <a:t>Explore the code</a:t>
            </a:r>
            <a:endParaRPr lang="en-US" sz="1250" dirty="0"/>
          </a:p>
        </p:txBody>
      </p:sp>
      <p:sp>
        <p:nvSpPr>
          <p:cNvPr id="10" name="Text 7"/>
          <p:cNvSpPr/>
          <p:nvPr/>
        </p:nvSpPr>
        <p:spPr>
          <a:xfrm>
            <a:off x="4846320" y="1883664"/>
            <a:ext cx="2103120" cy="713232"/>
          </a:xfrm>
          <a:prstGeom prst="roundRect">
            <a:avLst>
              <a:gd name="adj" fmla="val 6410"/>
            </a:avLst>
          </a:prstGeom>
          <a:solidFill>
            <a:srgbClr val="E4E7FB"/>
          </a:solidFill>
          <a:ln>
            <a:solidFill>
              <a:srgbClr val="E4E7FB"/>
            </a:solidFill>
          </a:ln>
        </p:spPr>
        <p:txBody>
          <a:bodyPr wrap="square" lIns="50800" tIns="50800" rIns="50800" bIns="50800" rtlCol="0" anchor="ctr"/>
          <a:lstStyle/>
          <a:p>
            <a:pPr algn="ctr" indent="0" marL="0">
              <a:buNone/>
            </a:pPr>
            <a:r>
              <a:rPr lang="en-US" sz="1250" dirty="0">
                <a:solidFill>
                  <a:srgbClr val="14213D"/>
                </a:solidFill>
                <a:latin typeface="Arial" pitchFamily="34" charset="0"/>
                <a:ea typeface="Arial" pitchFamily="34" charset="-122"/>
                <a:cs typeface="Arial" pitchFamily="34" charset="-120"/>
              </a:rPr>
              <a:t>Change the files</a:t>
            </a:r>
            <a:endParaRPr lang="en-US" sz="1250" dirty="0"/>
          </a:p>
        </p:txBody>
      </p:sp>
      <p:sp>
        <p:nvSpPr>
          <p:cNvPr id="11" name="Text 8"/>
          <p:cNvSpPr/>
          <p:nvPr/>
        </p:nvSpPr>
        <p:spPr>
          <a:xfrm>
            <a:off x="6995160" y="1883664"/>
            <a:ext cx="2194560" cy="713232"/>
          </a:xfrm>
          <a:prstGeom prst="roundRect">
            <a:avLst>
              <a:gd name="adj" fmla="val 6410"/>
            </a:avLst>
          </a:prstGeom>
          <a:solidFill>
            <a:srgbClr val="E4E7FB"/>
          </a:solidFill>
          <a:ln>
            <a:solidFill>
              <a:srgbClr val="E4E7FB"/>
            </a:solidFill>
          </a:ln>
        </p:spPr>
        <p:txBody>
          <a:bodyPr wrap="square" lIns="50800" tIns="50800" rIns="50800" bIns="50800" rtlCol="0" anchor="ctr"/>
          <a:lstStyle/>
          <a:p>
            <a:pPr algn="ctr" indent="0" marL="0">
              <a:buNone/>
            </a:pPr>
            <a:r>
              <a:rPr lang="en-US" sz="1250" dirty="0">
                <a:solidFill>
                  <a:srgbClr val="14213D"/>
                </a:solidFill>
                <a:latin typeface="Arial" pitchFamily="34" charset="0"/>
                <a:ea typeface="Arial" pitchFamily="34" charset="-122"/>
                <a:cs typeface="Arial" pitchFamily="34" charset="-120"/>
              </a:rPr>
              <a:t>Run checks, debug</a:t>
            </a:r>
            <a:endParaRPr lang="en-US" sz="1250" dirty="0"/>
          </a:p>
        </p:txBody>
      </p:sp>
      <p:sp>
        <p:nvSpPr>
          <p:cNvPr id="12" name="Shape 9"/>
          <p:cNvSpPr/>
          <p:nvPr/>
        </p:nvSpPr>
        <p:spPr>
          <a:xfrm>
            <a:off x="548640" y="3282696"/>
            <a:ext cx="566928" cy="566928"/>
          </a:xfrm>
          <a:prstGeom prst="ellipse">
            <a:avLst/>
          </a:prstGeom>
          <a:solidFill>
            <a:srgbClr val="4F5BD5"/>
          </a:solidFill>
          <a:ln w="12700">
            <a:solidFill>
              <a:srgbClr val="4F5BD5"/>
            </a:solidFill>
            <a:prstDash val="solid"/>
          </a:ln>
        </p:spPr>
      </p:sp>
      <p:pic>
        <p:nvPicPr>
          <p:cNvPr id="13" name="Image 1" descr="preencoded.png">    </p:cNvPr>
          <p:cNvPicPr>
            <a:picLocks noChangeAspect="1"/>
          </p:cNvPicPr>
          <p:nvPr/>
        </p:nvPicPr>
        <p:blipFill>
          <a:blip r:embed="rId2"/>
          <a:stretch>
            <a:fillRect/>
          </a:stretch>
        </p:blipFill>
        <p:spPr>
          <a:xfrm>
            <a:off x="684703" y="3418759"/>
            <a:ext cx="294803" cy="294803"/>
          </a:xfrm>
          <a:prstGeom prst="rect">
            <a:avLst/>
          </a:prstGeom>
        </p:spPr>
      </p:pic>
      <p:sp>
        <p:nvSpPr>
          <p:cNvPr id="14" name="Text 10"/>
          <p:cNvSpPr txBox="1"/>
          <p:nvPr/>
        </p:nvSpPr>
        <p:spPr>
          <a:xfrm>
            <a:off x="1234440" y="3154680"/>
            <a:ext cx="1371600" cy="82296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Reviewer</a:t>
            </a:r>
            <a:endParaRPr lang="en-US" sz="1500" dirty="0"/>
          </a:p>
        </p:txBody>
      </p:sp>
      <p:sp>
        <p:nvSpPr>
          <p:cNvPr id="15" name="Shape 11"/>
          <p:cNvSpPr/>
          <p:nvPr/>
        </p:nvSpPr>
        <p:spPr>
          <a:xfrm>
            <a:off x="2651760" y="3154680"/>
            <a:ext cx="6675120" cy="822960"/>
          </a:xfrm>
          <a:prstGeom prst="rect">
            <a:avLst/>
          </a:prstGeom>
          <a:ln w="19050">
            <a:solidFill>
              <a:srgbClr val="14213D"/>
            </a:solidFill>
            <a:prstDash val="solid"/>
          </a:ln>
        </p:spPr>
      </p:sp>
      <p:sp>
        <p:nvSpPr>
          <p:cNvPr id="16" name="Text 12"/>
          <p:cNvSpPr/>
          <p:nvPr/>
        </p:nvSpPr>
        <p:spPr>
          <a:xfrm>
            <a:off x="2697480" y="3209544"/>
            <a:ext cx="1280160" cy="713232"/>
          </a:xfrm>
          <a:prstGeom prst="roundRect">
            <a:avLst>
              <a:gd name="adj" fmla="val 6410"/>
            </a:avLst>
          </a:prstGeom>
          <a:solidFill>
            <a:srgbClr val="E4E7FB"/>
          </a:solidFill>
          <a:ln>
            <a:solidFill>
              <a:srgbClr val="E4E7FB"/>
            </a:solidFill>
          </a:ln>
        </p:spPr>
        <p:txBody>
          <a:bodyPr wrap="square" lIns="50800" tIns="50800" rIns="50800" bIns="50800" rtlCol="0" anchor="ctr"/>
          <a:lstStyle/>
          <a:p>
            <a:pPr algn="ctr" indent="0" marL="0">
              <a:buNone/>
            </a:pPr>
            <a:r>
              <a:rPr lang="en-US" sz="1250" dirty="0">
                <a:solidFill>
                  <a:srgbClr val="14213D"/>
                </a:solidFill>
                <a:latin typeface="Arial" pitchFamily="34" charset="0"/>
                <a:ea typeface="Arial" pitchFamily="34" charset="-122"/>
                <a:cs typeface="Arial" pitchFamily="34" charset="-120"/>
              </a:rPr>
              <a:t>Read the diff</a:t>
            </a:r>
            <a:endParaRPr lang="en-US" sz="1250" dirty="0"/>
          </a:p>
        </p:txBody>
      </p:sp>
      <p:sp>
        <p:nvSpPr>
          <p:cNvPr id="17" name="Text 13"/>
          <p:cNvSpPr/>
          <p:nvPr/>
        </p:nvSpPr>
        <p:spPr>
          <a:xfrm>
            <a:off x="4023360" y="3209544"/>
            <a:ext cx="1645920" cy="713232"/>
          </a:xfrm>
          <a:prstGeom prst="roundRect">
            <a:avLst>
              <a:gd name="adj" fmla="val 6410"/>
            </a:avLst>
          </a:prstGeom>
          <a:solidFill>
            <a:srgbClr val="E4E7FB"/>
          </a:solidFill>
          <a:ln>
            <a:solidFill>
              <a:srgbClr val="E4E7FB"/>
            </a:solidFill>
          </a:ln>
        </p:spPr>
        <p:txBody>
          <a:bodyPr wrap="square" lIns="50800" tIns="50800" rIns="50800" bIns="50800" rtlCol="0" anchor="ctr"/>
          <a:lstStyle/>
          <a:p>
            <a:pPr algn="ctr" indent="0" marL="0">
              <a:buNone/>
            </a:pPr>
            <a:r>
              <a:rPr lang="en-US" sz="1250" dirty="0">
                <a:solidFill>
                  <a:srgbClr val="14213D"/>
                </a:solidFill>
                <a:latin typeface="Arial" pitchFamily="34" charset="0"/>
                <a:ea typeface="Arial" pitchFamily="34" charset="-122"/>
                <a:cs typeface="Arial" pitchFamily="34" charset="-120"/>
              </a:rPr>
              <a:t>Explore a little</a:t>
            </a:r>
            <a:endParaRPr lang="en-US" sz="1250" dirty="0"/>
          </a:p>
        </p:txBody>
      </p:sp>
      <p:sp>
        <p:nvSpPr>
          <p:cNvPr id="18" name="Text 14"/>
          <p:cNvSpPr/>
          <p:nvPr/>
        </p:nvSpPr>
        <p:spPr>
          <a:xfrm>
            <a:off x="5715000" y="3209544"/>
            <a:ext cx="2331720" cy="713232"/>
          </a:xfrm>
          <a:prstGeom prst="roundRect">
            <a:avLst>
              <a:gd name="adj" fmla="val 6410"/>
            </a:avLst>
          </a:prstGeom>
          <a:solidFill>
            <a:srgbClr val="4F5BD5"/>
          </a:solidFill>
          <a:ln>
            <a:solidFill>
              <a:srgbClr val="4F5BD5"/>
            </a:solidFill>
          </a:ln>
        </p:spPr>
        <p:txBody>
          <a:bodyPr wrap="square" lIns="50800" tIns="50800" rIns="50800" bIns="5080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Coding standards</a:t>
            </a:r>
            <a:endParaRPr lang="en-US" sz="1250" dirty="0"/>
          </a:p>
        </p:txBody>
      </p:sp>
      <p:sp>
        <p:nvSpPr>
          <p:cNvPr id="19" name="Text 15"/>
          <p:cNvSpPr/>
          <p:nvPr/>
        </p:nvSpPr>
        <p:spPr>
          <a:xfrm>
            <a:off x="8092440" y="3209544"/>
            <a:ext cx="1188720" cy="713232"/>
          </a:xfrm>
          <a:prstGeom prst="roundRect">
            <a:avLst>
              <a:gd name="adj" fmla="val 6410"/>
            </a:avLst>
          </a:prstGeom>
          <a:solidFill>
            <a:srgbClr val="FFFFFF"/>
          </a:solidFill>
          <a:ln w="12700">
            <a:solidFill>
              <a:srgbClr val="8D99B3"/>
            </a:solidFill>
            <a:prstDash val="dash"/>
          </a:ln>
        </p:spPr>
        <p:txBody>
          <a:bodyPr wrap="square" lIns="50800" tIns="50800" rIns="50800" bIns="50800" rtlCol="0" anchor="ctr"/>
          <a:lstStyle/>
          <a:p>
            <a:pPr algn="ctr" indent="0" marL="0">
              <a:buNone/>
            </a:pPr>
            <a:r>
              <a:rPr lang="en-US" sz="1100" dirty="0">
                <a:solidFill>
                  <a:srgbClr val="8D99B3"/>
                </a:solidFill>
                <a:latin typeface="Arial" pitchFamily="34" charset="0"/>
                <a:ea typeface="Arial" pitchFamily="34" charset="-122"/>
                <a:cs typeface="Arial" pitchFamily="34" charset="-120"/>
              </a:rPr>
              <a:t>room left</a:t>
            </a:r>
            <a:endParaRPr lang="en-US" sz="1100" dirty="0"/>
          </a:p>
        </p:txBody>
      </p:sp>
      <p:sp>
        <p:nvSpPr>
          <p:cNvPr id="20" name="Text 16"/>
          <p:cNvSpPr/>
          <p:nvPr/>
        </p:nvSpPr>
        <p:spPr>
          <a:xfrm>
            <a:off x="9464040" y="1883664"/>
            <a:ext cx="2176272" cy="713232"/>
          </a:xfrm>
          <a:prstGeom prst="roundRect">
            <a:avLst>
              <a:gd name="adj" fmla="val 6410"/>
            </a:avLst>
          </a:prstGeom>
          <a:solidFill>
            <a:srgbClr val="FBE3E3"/>
          </a:solidFill>
          <a:ln w="15875">
            <a:solidFill>
              <a:srgbClr val="D64545"/>
            </a:solidFill>
            <a:prstDash val="dash"/>
          </a:ln>
        </p:spPr>
        <p:txBody>
          <a:bodyPr wrap="square" lIns="50800" tIns="50800" rIns="50800" bIns="50800" rtlCol="0" anchor="ctr"/>
          <a:lstStyle/>
          <a:p>
            <a:pPr algn="ctr" indent="0" marL="0">
              <a:buNone/>
            </a:pPr>
            <a:r>
              <a:rPr lang="en-US" sz="1250" b="1" dirty="0">
                <a:solidFill>
                  <a:srgbClr val="D64545"/>
                </a:solidFill>
                <a:latin typeface="Arial" pitchFamily="34" charset="0"/>
                <a:ea typeface="Arial" pitchFamily="34" charset="-122"/>
                <a:cs typeface="Arial" pitchFamily="34" charset="-120"/>
              </a:rPr>
              <a:t>+ coding standards</a:t>
            </a:r>
            <a:endParaRPr lang="en-US" sz="1250" dirty="0"/>
          </a:p>
        </p:txBody>
      </p:sp>
      <p:sp>
        <p:nvSpPr>
          <p:cNvPr id="21" name="Text 17"/>
          <p:cNvSpPr txBox="1"/>
          <p:nvPr/>
        </p:nvSpPr>
        <p:spPr>
          <a:xfrm>
            <a:off x="9464040" y="2651760"/>
            <a:ext cx="2194560" cy="411480"/>
          </a:xfrm>
          <a:prstGeom prst="rect">
            <a:avLst/>
          </a:prstGeom>
          <a:noFill/>
          <a:ln/>
        </p:spPr>
        <p:txBody>
          <a:bodyPr wrap="square" lIns="0" tIns="0" rIns="0" bIns="0" rtlCol="0" anchor="t"/>
          <a:lstStyle/>
          <a:p>
            <a:pPr indent="0" marL="0">
              <a:buNone/>
            </a:pPr>
            <a:r>
              <a:rPr lang="en-US" sz="1050" dirty="0">
                <a:solidFill>
                  <a:srgbClr val="D64545"/>
                </a:solidFill>
                <a:latin typeface="Arial" pitchFamily="34" charset="0"/>
                <a:ea typeface="Arial" pitchFamily="34" charset="-122"/>
                <a:cs typeface="Arial" pitchFamily="34" charset="-120"/>
              </a:rPr>
              <a:t>No room left. The agent reads them, or not.</a:t>
            </a:r>
            <a:endParaRPr lang="en-US" sz="1050" dirty="0"/>
          </a:p>
        </p:txBody>
      </p:sp>
      <p:sp>
        <p:nvSpPr>
          <p:cNvPr id="22" name="Text 18"/>
          <p:cNvSpPr/>
          <p:nvPr/>
        </p:nvSpPr>
        <p:spPr>
          <a:xfrm>
            <a:off x="548640" y="4315968"/>
            <a:ext cx="3017520" cy="566928"/>
          </a:xfrm>
          <a:prstGeom prst="roundRect">
            <a:avLst>
              <a:gd name="adj" fmla="val 12903"/>
            </a:avLst>
          </a:prstGeom>
          <a:solidFill>
            <a:srgbClr val="E4E7FB"/>
          </a:solidFill>
          <a:ln>
            <a:solidFill>
              <a:srgbClr val="E4E7FB"/>
            </a:solidFill>
          </a:ln>
        </p:spPr>
        <p:txBody>
          <a:bodyPr wrap="square" lIns="50800" tIns="50800" rIns="50800" bIns="508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Implement: make it work</a:t>
            </a:r>
            <a:endParaRPr lang="en-US" sz="1400" dirty="0"/>
          </a:p>
        </p:txBody>
      </p:sp>
      <p:sp>
        <p:nvSpPr>
          <p:cNvPr id="23" name="Shape 19"/>
          <p:cNvSpPr/>
          <p:nvPr/>
        </p:nvSpPr>
        <p:spPr>
          <a:xfrm>
            <a:off x="3611880" y="4599432"/>
            <a:ext cx="548640" cy="0"/>
          </a:xfrm>
          <a:prstGeom prst="line">
            <a:avLst/>
          </a:prstGeom>
          <a:noFill/>
          <a:ln w="25400">
            <a:solidFill>
              <a:srgbClr val="4F5BD5"/>
            </a:solidFill>
            <a:prstDash val="solid"/>
            <a:tailEnd type="triangle"/>
          </a:ln>
        </p:spPr>
      </p:sp>
      <p:sp>
        <p:nvSpPr>
          <p:cNvPr id="24" name="Text 20"/>
          <p:cNvSpPr/>
          <p:nvPr/>
        </p:nvSpPr>
        <p:spPr>
          <a:xfrm>
            <a:off x="4206240" y="4315968"/>
            <a:ext cx="2743200" cy="566928"/>
          </a:xfrm>
          <a:prstGeom prst="roundRect">
            <a:avLst>
              <a:gd name="adj" fmla="val 12903"/>
            </a:avLst>
          </a:prstGeom>
          <a:solidFill>
            <a:srgbClr val="4F5BD5"/>
          </a:solidFill>
          <a:ln>
            <a:solidFill>
              <a:srgbClr val="4F5BD5"/>
            </a:solidFill>
          </a:ln>
        </p:spPr>
        <p:txBody>
          <a:bodyPr wrap="square" lIns="50800" tIns="50800" rIns="50800" bIns="5080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Review: make it good</a:t>
            </a:r>
            <a:endParaRPr lang="en-US" sz="1400" dirty="0"/>
          </a:p>
        </p:txBody>
      </p:sp>
      <p:sp>
        <p:nvSpPr>
          <p:cNvPr id="25" name="Text 21"/>
          <p:cNvSpPr txBox="1"/>
          <p:nvPr/>
        </p:nvSpPr>
        <p:spPr>
          <a:xfrm>
            <a:off x="548640" y="4983480"/>
            <a:ext cx="6400800" cy="320040"/>
          </a:xfrm>
          <a:prstGeom prst="rect">
            <a:avLst/>
          </a:prstGeom>
          <a:noFill/>
          <a:ln/>
        </p:spPr>
        <p:txBody>
          <a:bodyPr wrap="square" lIns="0" tIns="0" rIns="0" bIns="0" rtlCol="0" anchor="t"/>
          <a:lstStyle/>
          <a:p>
            <a:pPr indent="0" marL="0">
              <a:buNone/>
            </a:pPr>
            <a:r>
              <a:rPr lang="en-US" sz="1250" dirty="0">
                <a:solidFill>
                  <a:srgbClr val="4A5468"/>
                </a:solidFill>
                <a:latin typeface="Arial" pitchFamily="34" charset="0"/>
                <a:ea typeface="Arial" pitchFamily="34" charset="-122"/>
                <a:cs typeface="Arial" pitchFamily="34" charset="-120"/>
              </a:rPr>
              <a:t>Red and green in one context window. Refactor in a second one.</a:t>
            </a:r>
            <a:endParaRPr lang="en-US" sz="1250" dirty="0"/>
          </a:p>
        </p:txBody>
      </p:sp>
      <p:sp>
        <p:nvSpPr>
          <p:cNvPr id="26" name="Text 22"/>
          <p:cNvSpPr txBox="1"/>
          <p:nvPr/>
        </p:nvSpPr>
        <p:spPr>
          <a:xfrm>
            <a:off x="548640" y="5440680"/>
            <a:ext cx="6400800" cy="731520"/>
          </a:xfrm>
          <a:prstGeom prst="rect">
            <a:avLst/>
          </a:prstGeom>
          <a:noFill/>
          <a:ln/>
        </p:spPr>
        <p:txBody>
          <a:bodyPr wrap="square" lIns="0" tIns="0" rIns="0" bIns="0" rtlCol="0" anchor="t"/>
          <a:lstStyle/>
          <a:p>
            <a:pPr indent="0" marL="0">
              <a:buNone/>
            </a:pPr>
            <a:r>
              <a:rPr lang="en-US" sz="1700" i="1" dirty="0">
                <a:solidFill>
                  <a:srgbClr val="4F5BD5"/>
                </a:solidFill>
                <a:latin typeface="Georgia" pitchFamily="34" charset="0"/>
                <a:ea typeface="Georgia" pitchFamily="34" charset="-122"/>
                <a:cs typeface="Georgia" pitchFamily="34" charset="-120"/>
              </a:rPr>
              <a:t>"While implementation is overloaded, review is actually underloaded."</a:t>
            </a:r>
            <a:endParaRPr lang="en-US" sz="1700" dirty="0"/>
          </a:p>
        </p:txBody>
      </p:sp>
      <p:sp>
        <p:nvSpPr>
          <p:cNvPr id="27" name="Shape 23"/>
          <p:cNvSpPr/>
          <p:nvPr/>
        </p:nvSpPr>
        <p:spPr>
          <a:xfrm>
            <a:off x="7269480" y="4224528"/>
            <a:ext cx="2139696" cy="1920240"/>
          </a:xfrm>
          <a:prstGeom prst="roundRect">
            <a:avLst>
              <a:gd name="adj" fmla="val 4762"/>
            </a:avLst>
          </a:prstGeom>
          <a:solidFill>
            <a:srgbClr val="F1F4F9"/>
          </a:solidFill>
          <a:ln w="12700">
            <a:solidFill>
              <a:srgbClr val="F1F4F9"/>
            </a:solidFill>
            <a:prstDash val="solid"/>
          </a:ln>
        </p:spPr>
      </p:sp>
      <p:pic>
        <p:nvPicPr>
          <p:cNvPr id="28" name="Image 2" descr="preencoded.png">    </p:cNvPr>
          <p:cNvPicPr>
            <a:picLocks noChangeAspect="1"/>
          </p:cNvPicPr>
          <p:nvPr/>
        </p:nvPicPr>
        <p:blipFill>
          <a:blip r:embed="rId3"/>
          <a:stretch>
            <a:fillRect/>
          </a:stretch>
        </p:blipFill>
        <p:spPr>
          <a:xfrm>
            <a:off x="7452360" y="4407408"/>
            <a:ext cx="347472" cy="347472"/>
          </a:xfrm>
          <a:prstGeom prst="rect">
            <a:avLst/>
          </a:prstGeom>
        </p:spPr>
      </p:pic>
      <p:sp>
        <p:nvSpPr>
          <p:cNvPr id="29" name="Text 24"/>
          <p:cNvSpPr txBox="1"/>
          <p:nvPr/>
        </p:nvSpPr>
        <p:spPr>
          <a:xfrm>
            <a:off x="7452360" y="4828032"/>
            <a:ext cx="1874520" cy="457200"/>
          </a:xfrm>
          <a:prstGeom prst="rect">
            <a:avLst/>
          </a:prstGeom>
          <a:noFill/>
          <a:ln/>
        </p:spPr>
        <p:txBody>
          <a:bodyPr wrap="square" lIns="0" tIns="0" rIns="0" bIns="0" rtlCol="0" anchor="t"/>
          <a:lstStyle/>
          <a:p>
            <a:pPr indent="0" marL="0">
              <a:buNone/>
            </a:pPr>
            <a:r>
              <a:rPr lang="en-US" sz="1200" b="1" dirty="0">
                <a:solidFill>
                  <a:srgbClr val="4A5468"/>
                </a:solidFill>
                <a:latin typeface="Courier New" pitchFamily="34" charset="0"/>
                <a:ea typeface="Courier New" pitchFamily="34" charset="-122"/>
                <a:cs typeface="Courier New" pitchFamily="34" charset="-120"/>
              </a:rPr>
              <a:t>AGENTS.md</a:t>
            </a:r>
            <a:endParaRPr lang="en-US" sz="1200" dirty="0"/>
          </a:p>
        </p:txBody>
      </p:sp>
      <p:sp>
        <p:nvSpPr>
          <p:cNvPr id="30" name="Text 25"/>
          <p:cNvSpPr txBox="1"/>
          <p:nvPr/>
        </p:nvSpPr>
        <p:spPr>
          <a:xfrm>
            <a:off x="7452360" y="5303520"/>
            <a:ext cx="182880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Loaded on every task. Keep it to navigation pointers.</a:t>
            </a:r>
            <a:endParaRPr lang="en-US" sz="1150" dirty="0"/>
          </a:p>
        </p:txBody>
      </p:sp>
      <p:sp>
        <p:nvSpPr>
          <p:cNvPr id="31" name="Shape 26"/>
          <p:cNvSpPr/>
          <p:nvPr/>
        </p:nvSpPr>
        <p:spPr>
          <a:xfrm>
            <a:off x="9500616" y="4224528"/>
            <a:ext cx="2139696" cy="1920240"/>
          </a:xfrm>
          <a:prstGeom prst="roundRect">
            <a:avLst>
              <a:gd name="adj" fmla="val 4762"/>
            </a:avLst>
          </a:prstGeom>
          <a:solidFill>
            <a:srgbClr val="F1F4F9"/>
          </a:solidFill>
          <a:ln w="12700">
            <a:solidFill>
              <a:srgbClr val="F1F4F9"/>
            </a:solidFill>
            <a:prstDash val="solid"/>
          </a:ln>
        </p:spPr>
      </p:sp>
      <p:pic>
        <p:nvPicPr>
          <p:cNvPr id="32" name="Image 3" descr="preencoded.png">    </p:cNvPr>
          <p:cNvPicPr>
            <a:picLocks noChangeAspect="1"/>
          </p:cNvPicPr>
          <p:nvPr/>
        </p:nvPicPr>
        <p:blipFill>
          <a:blip r:embed="rId4"/>
          <a:stretch>
            <a:fillRect/>
          </a:stretch>
        </p:blipFill>
        <p:spPr>
          <a:xfrm>
            <a:off x="9683496" y="4407408"/>
            <a:ext cx="347472" cy="347472"/>
          </a:xfrm>
          <a:prstGeom prst="rect">
            <a:avLst/>
          </a:prstGeom>
        </p:spPr>
      </p:pic>
      <p:sp>
        <p:nvSpPr>
          <p:cNvPr id="33" name="Text 27"/>
          <p:cNvSpPr txBox="1"/>
          <p:nvPr/>
        </p:nvSpPr>
        <p:spPr>
          <a:xfrm>
            <a:off x="9683496" y="4828032"/>
            <a:ext cx="1874520" cy="457200"/>
          </a:xfrm>
          <a:prstGeom prst="rect">
            <a:avLst/>
          </a:prstGeom>
          <a:noFill/>
          <a:ln/>
        </p:spPr>
        <p:txBody>
          <a:bodyPr wrap="square" lIns="0" tIns="0" rIns="0" bIns="0" rtlCol="0" anchor="t"/>
          <a:lstStyle/>
          <a:p>
            <a:pPr indent="0" marL="0">
              <a:buNone/>
            </a:pPr>
            <a:r>
              <a:rPr lang="en-US" sz="1050" b="1" dirty="0">
                <a:solidFill>
                  <a:srgbClr val="4F5BD5"/>
                </a:solidFill>
                <a:latin typeface="Courier New" pitchFamily="34" charset="0"/>
                <a:ea typeface="Courier New" pitchFamily="34" charset="-122"/>
                <a:cs typeface="Courier New" pitchFamily="34" charset="-120"/>
              </a:rPr>
              <a:t>CODING_STANDARDS.md</a:t>
            </a:r>
            <a:endParaRPr lang="en-US" sz="1050" dirty="0"/>
          </a:p>
        </p:txBody>
      </p:sp>
      <p:sp>
        <p:nvSpPr>
          <p:cNvPr id="34" name="Text 28"/>
          <p:cNvSpPr txBox="1"/>
          <p:nvPr/>
        </p:nvSpPr>
        <p:spPr>
          <a:xfrm>
            <a:off x="9683496" y="5303520"/>
            <a:ext cx="182880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Read only at review. It may grow.</a:t>
            </a:r>
            <a:endParaRPr lang="en-US" sz="1150" dirty="0"/>
          </a:p>
        </p:txBody>
      </p:sp>
      <p:sp>
        <p:nvSpPr>
          <p:cNvPr id="35" name="Text 29"/>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36" name="Text 30"/>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9184"/>
            <a:ext cx="2801722" cy="274320"/>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BRAKE 2 · AUTOMATED REVIEW</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Own your reviewer, and let it commit its fixes.</a:t>
            </a:r>
            <a:endParaRPr lang="en-US" sz="2800" dirty="0"/>
          </a:p>
        </p:txBody>
      </p:sp>
      <p:sp>
        <p:nvSpPr>
          <p:cNvPr id="4" name="Shape 2"/>
          <p:cNvSpPr/>
          <p:nvPr/>
        </p:nvSpPr>
        <p:spPr>
          <a:xfrm>
            <a:off x="548640" y="1572768"/>
            <a:ext cx="5074920" cy="3931920"/>
          </a:xfrm>
          <a:prstGeom prst="roundRect">
            <a:avLst>
              <a:gd name="adj" fmla="val 2326"/>
            </a:avLst>
          </a:prstGeom>
          <a:solidFill>
            <a:srgbClr val="F1F4F9"/>
          </a:solidFill>
          <a:ln w="12700">
            <a:solidFill>
              <a:srgbClr val="F1F4F9"/>
            </a:solidFill>
            <a:prstDash val="solid"/>
          </a:ln>
        </p:spPr>
      </p:sp>
      <p:sp>
        <p:nvSpPr>
          <p:cNvPr id="5" name="Shape 3"/>
          <p:cNvSpPr/>
          <p:nvPr/>
        </p:nvSpPr>
        <p:spPr>
          <a:xfrm>
            <a:off x="822960" y="1801368"/>
            <a:ext cx="566928" cy="566928"/>
          </a:xfrm>
          <a:prstGeom prst="ellipse">
            <a:avLst/>
          </a:prstGeom>
          <a:solidFill>
            <a:srgbClr val="4F5BD5"/>
          </a:solidFill>
          <a:ln w="12700">
            <a:solidFill>
              <a:srgbClr val="4F5BD5"/>
            </a:solidFill>
            <a:prstDash val="solid"/>
          </a:ln>
        </p:spPr>
      </p:sp>
      <p:pic>
        <p:nvPicPr>
          <p:cNvPr id="6" name="Image 0" descr="preencoded.png">    </p:cNvPr>
          <p:cNvPicPr>
            <a:picLocks noChangeAspect="1"/>
          </p:cNvPicPr>
          <p:nvPr/>
        </p:nvPicPr>
        <p:blipFill>
          <a:blip r:embed="rId1"/>
          <a:stretch>
            <a:fillRect/>
          </a:stretch>
        </p:blipFill>
        <p:spPr>
          <a:xfrm>
            <a:off x="959023" y="1937431"/>
            <a:ext cx="294803" cy="294803"/>
          </a:xfrm>
          <a:prstGeom prst="rect">
            <a:avLst/>
          </a:prstGeom>
        </p:spPr>
      </p:pic>
      <p:sp>
        <p:nvSpPr>
          <p:cNvPr id="7" name="Text 4"/>
          <p:cNvSpPr txBox="1"/>
          <p:nvPr/>
        </p:nvSpPr>
        <p:spPr>
          <a:xfrm>
            <a:off x="1554480" y="1801368"/>
            <a:ext cx="3931920" cy="566928"/>
          </a:xfrm>
          <a:prstGeom prst="rect">
            <a:avLst/>
          </a:prstGeom>
          <a:noFill/>
          <a:ln/>
        </p:spPr>
        <p:txBody>
          <a:bodyPr wrap="square" lIns="0" tIns="0" rIns="0" bIns="0" rtlCol="0" anchor="ctr"/>
          <a:lstStyle/>
          <a:p>
            <a:pPr indent="0" marL="0">
              <a:buNone/>
            </a:pPr>
            <a:r>
              <a:rPr lang="en-US" sz="1800" b="1" dirty="0">
                <a:solidFill>
                  <a:srgbClr val="14213D"/>
                </a:solidFill>
                <a:latin typeface="Arial" pitchFamily="34" charset="0"/>
                <a:ea typeface="Arial" pitchFamily="34" charset="-122"/>
                <a:cs typeface="Arial" pitchFamily="34" charset="-120"/>
              </a:rPr>
              <a:t>Build it, do not buy it</a:t>
            </a:r>
            <a:endParaRPr lang="en-US" sz="1800" dirty="0"/>
          </a:p>
        </p:txBody>
      </p:sp>
      <p:sp>
        <p:nvSpPr>
          <p:cNvPr id="8" name="Text 5"/>
          <p:cNvSpPr txBox="1"/>
          <p:nvPr/>
        </p:nvSpPr>
        <p:spPr>
          <a:xfrm>
            <a:off x="822960" y="2560320"/>
            <a:ext cx="4572000" cy="320040"/>
          </a:xfrm>
          <a:prstGeom prst="rect">
            <a:avLst/>
          </a:prstGeom>
          <a:noFill/>
          <a:ln/>
        </p:spPr>
        <p:txBody>
          <a:bodyPr wrap="square" lIns="0" tIns="0" rIns="0" bIns="0" rtlCol="0" anchor="t"/>
          <a:lstStyle/>
          <a:p>
            <a:pPr indent="0" marL="0">
              <a:buNone/>
            </a:pPr>
            <a:r>
              <a:rPr lang="en-US" sz="1300" dirty="0">
                <a:solidFill>
                  <a:srgbClr val="4A5468"/>
                </a:solidFill>
                <a:latin typeface="Arial" pitchFamily="34" charset="0"/>
                <a:ea typeface="Arial" pitchFamily="34" charset="-122"/>
                <a:cs typeface="Arial" pitchFamily="34" charset="-120"/>
              </a:rPr>
              <a:t>Generic review bots miss in one of two ways:</a:t>
            </a:r>
            <a:endParaRPr lang="en-US" sz="1300" dirty="0"/>
          </a:p>
        </p:txBody>
      </p:sp>
      <p:sp>
        <p:nvSpPr>
          <p:cNvPr id="9" name="Text 6"/>
          <p:cNvSpPr/>
          <p:nvPr/>
        </p:nvSpPr>
        <p:spPr>
          <a:xfrm>
            <a:off x="822960" y="2926080"/>
            <a:ext cx="1371600" cy="457200"/>
          </a:xfrm>
          <a:prstGeom prst="roundRect">
            <a:avLst>
              <a:gd name="adj" fmla="val 16000"/>
            </a:avLst>
          </a:prstGeom>
          <a:solidFill>
            <a:srgbClr val="FBE3E3"/>
          </a:solidFill>
          <a:ln>
            <a:solidFill>
              <a:srgbClr val="FBE3E3"/>
            </a:solidFill>
          </a:ln>
        </p:spPr>
        <p:txBody>
          <a:bodyPr wrap="square" lIns="50800" tIns="50800" rIns="50800" bIns="50800" rtlCol="0" anchor="ctr"/>
          <a:lstStyle/>
          <a:p>
            <a:pPr algn="ctr" indent="0" marL="0">
              <a:buNone/>
            </a:pPr>
            <a:r>
              <a:rPr lang="en-US" sz="1200" b="1" dirty="0">
                <a:solidFill>
                  <a:srgbClr val="D64545"/>
                </a:solidFill>
                <a:latin typeface="Arial" pitchFamily="34" charset="0"/>
                <a:ea typeface="Arial" pitchFamily="34" charset="-122"/>
                <a:cs typeface="Arial" pitchFamily="34" charset="-120"/>
              </a:rPr>
              <a:t>Too general</a:t>
            </a:r>
            <a:endParaRPr lang="en-US" sz="1200" dirty="0"/>
          </a:p>
        </p:txBody>
      </p:sp>
      <p:sp>
        <p:nvSpPr>
          <p:cNvPr id="10" name="Text 7"/>
          <p:cNvSpPr txBox="1"/>
          <p:nvPr/>
        </p:nvSpPr>
        <p:spPr>
          <a:xfrm>
            <a:off x="2331720" y="2926080"/>
            <a:ext cx="310896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false positives that do not apply to your code</a:t>
            </a:r>
            <a:endParaRPr lang="en-US" sz="1250" dirty="0"/>
          </a:p>
        </p:txBody>
      </p:sp>
      <p:sp>
        <p:nvSpPr>
          <p:cNvPr id="11" name="Text 8"/>
          <p:cNvSpPr/>
          <p:nvPr/>
        </p:nvSpPr>
        <p:spPr>
          <a:xfrm>
            <a:off x="822960" y="3493008"/>
            <a:ext cx="1371600" cy="457200"/>
          </a:xfrm>
          <a:prstGeom prst="roundRect">
            <a:avLst>
              <a:gd name="adj" fmla="val 16000"/>
            </a:avLst>
          </a:prstGeom>
          <a:solidFill>
            <a:srgbClr val="FBE3E3"/>
          </a:solidFill>
          <a:ln>
            <a:solidFill>
              <a:srgbClr val="FBE3E3"/>
            </a:solidFill>
          </a:ln>
        </p:spPr>
        <p:txBody>
          <a:bodyPr wrap="square" lIns="50800" tIns="50800" rIns="50800" bIns="50800" rtlCol="0" anchor="ctr"/>
          <a:lstStyle/>
          <a:p>
            <a:pPr algn="ctr" indent="0" marL="0">
              <a:buNone/>
            </a:pPr>
            <a:r>
              <a:rPr lang="en-US" sz="1200" b="1" dirty="0">
                <a:solidFill>
                  <a:srgbClr val="D64545"/>
                </a:solidFill>
                <a:latin typeface="Arial" pitchFamily="34" charset="0"/>
                <a:ea typeface="Arial" pitchFamily="34" charset="-122"/>
                <a:cs typeface="Arial" pitchFamily="34" charset="-120"/>
              </a:rPr>
              <a:t>Too specific</a:t>
            </a:r>
            <a:endParaRPr lang="en-US" sz="1200" dirty="0"/>
          </a:p>
        </p:txBody>
      </p:sp>
      <p:sp>
        <p:nvSpPr>
          <p:cNvPr id="12" name="Text 9"/>
          <p:cNvSpPr txBox="1"/>
          <p:nvPr/>
        </p:nvSpPr>
        <p:spPr>
          <a:xfrm>
            <a:off x="2331720" y="3493008"/>
            <a:ext cx="310896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rules for one stack that the next team cannot use</a:t>
            </a:r>
            <a:endParaRPr lang="en-US" sz="1250" dirty="0"/>
          </a:p>
        </p:txBody>
      </p:sp>
      <p:sp>
        <p:nvSpPr>
          <p:cNvPr id="13" name="Text 10"/>
          <p:cNvSpPr txBox="1"/>
          <p:nvPr/>
        </p:nvSpPr>
        <p:spPr>
          <a:xfrm>
            <a:off x="822960" y="4224528"/>
            <a:ext cx="4526280" cy="109728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Instead: </a:t>
            </a:r>
            <a:pPr indent="0" marL="0">
              <a:buNone/>
            </a:pPr>
            <a:r>
              <a:rPr lang="en-US" sz="1300" dirty="0">
                <a:solidFill>
                  <a:srgbClr val="14213D"/>
                </a:solidFill>
                <a:latin typeface="Arial" pitchFamily="34" charset="0"/>
                <a:ea typeface="Arial" pitchFamily="34" charset="-122"/>
                <a:cs typeface="Arial" pitchFamily="34" charset="-120"/>
              </a:rPr>
              <a:t>grow CODING_STANDARDS.md from the mistakes your team catches, and share it. Docs nobody reads today belong where the reviewer reads them.</a:t>
            </a:r>
            <a:endParaRPr lang="en-US" sz="1300" dirty="0"/>
          </a:p>
        </p:txBody>
      </p:sp>
      <p:sp>
        <p:nvSpPr>
          <p:cNvPr id="14" name="Shape 11"/>
          <p:cNvSpPr/>
          <p:nvPr/>
        </p:nvSpPr>
        <p:spPr>
          <a:xfrm>
            <a:off x="5897880" y="1572768"/>
            <a:ext cx="5742432" cy="3931920"/>
          </a:xfrm>
          <a:prstGeom prst="roundRect">
            <a:avLst>
              <a:gd name="adj" fmla="val 2326"/>
            </a:avLst>
          </a:prstGeom>
          <a:solidFill>
            <a:srgbClr val="FFFFFF"/>
          </a:solidFill>
          <a:ln w="12700">
            <a:solidFill>
              <a:srgbClr val="D7DDE8"/>
            </a:solidFill>
            <a:prstDash val="solid"/>
          </a:ln>
        </p:spPr>
      </p:sp>
      <p:sp>
        <p:nvSpPr>
          <p:cNvPr id="15" name="Text 12"/>
          <p:cNvSpPr txBox="1"/>
          <p:nvPr/>
        </p:nvSpPr>
        <p:spPr>
          <a:xfrm>
            <a:off x="6172200" y="1755648"/>
            <a:ext cx="5303520" cy="36576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Comments are work for the human. Commits are not.</a:t>
            </a:r>
            <a:endParaRPr lang="en-US" sz="1600" dirty="0"/>
          </a:p>
        </p:txBody>
      </p:sp>
      <p:sp>
        <p:nvSpPr>
          <p:cNvPr id="16" name="Shape 13"/>
          <p:cNvSpPr/>
          <p:nvPr/>
        </p:nvSpPr>
        <p:spPr>
          <a:xfrm>
            <a:off x="6172200" y="2606040"/>
            <a:ext cx="640080" cy="640080"/>
          </a:xfrm>
          <a:prstGeom prst="ellipse">
            <a:avLst/>
          </a:prstGeom>
          <a:solidFill>
            <a:srgbClr val="4F5BD5"/>
          </a:solidFill>
          <a:ln w="12700">
            <a:solidFill>
              <a:srgbClr val="4F5BD5"/>
            </a:solidFill>
            <a:prstDash val="solid"/>
          </a:ln>
        </p:spPr>
      </p:sp>
      <p:pic>
        <p:nvPicPr>
          <p:cNvPr id="17" name="Image 1" descr="preencoded.png">    </p:cNvPr>
          <p:cNvPicPr>
            <a:picLocks noChangeAspect="1"/>
          </p:cNvPicPr>
          <p:nvPr/>
        </p:nvPicPr>
        <p:blipFill>
          <a:blip r:embed="rId2"/>
          <a:stretch>
            <a:fillRect/>
          </a:stretch>
        </p:blipFill>
        <p:spPr>
          <a:xfrm>
            <a:off x="6325819" y="2759659"/>
            <a:ext cx="332842" cy="332842"/>
          </a:xfrm>
          <a:prstGeom prst="rect">
            <a:avLst/>
          </a:prstGeom>
        </p:spPr>
      </p:pic>
      <p:sp>
        <p:nvSpPr>
          <p:cNvPr id="18" name="Text 14"/>
          <p:cNvSpPr txBox="1"/>
          <p:nvPr/>
        </p:nvSpPr>
        <p:spPr>
          <a:xfrm>
            <a:off x="5989320" y="3291840"/>
            <a:ext cx="1005840" cy="27432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Reviewer</a:t>
            </a:r>
            <a:endParaRPr lang="en-US" sz="1100" dirty="0"/>
          </a:p>
        </p:txBody>
      </p:sp>
      <p:sp>
        <p:nvSpPr>
          <p:cNvPr id="19" name="Shape 15"/>
          <p:cNvSpPr/>
          <p:nvPr/>
        </p:nvSpPr>
        <p:spPr>
          <a:xfrm>
            <a:off x="6903720" y="2926080"/>
            <a:ext cx="457200" cy="0"/>
          </a:xfrm>
          <a:prstGeom prst="line">
            <a:avLst/>
          </a:prstGeom>
          <a:noFill/>
          <a:ln w="19050">
            <a:solidFill>
              <a:srgbClr val="8D99B3"/>
            </a:solidFill>
            <a:prstDash val="solid"/>
            <a:tailEnd type="triangle"/>
          </a:ln>
        </p:spPr>
      </p:sp>
      <p:pic>
        <p:nvPicPr>
          <p:cNvPr id="20" name="Image 2" descr="preencoded.png">    </p:cNvPr>
          <p:cNvPicPr>
            <a:picLocks noChangeAspect="1"/>
          </p:cNvPicPr>
          <p:nvPr/>
        </p:nvPicPr>
        <p:blipFill>
          <a:blip r:embed="rId3"/>
          <a:stretch>
            <a:fillRect/>
          </a:stretch>
        </p:blipFill>
        <p:spPr>
          <a:xfrm>
            <a:off x="7452360" y="2560320"/>
            <a:ext cx="347472" cy="347472"/>
          </a:xfrm>
          <a:prstGeom prst="rect">
            <a:avLst/>
          </a:prstGeom>
        </p:spPr>
      </p:pic>
      <p:pic>
        <p:nvPicPr>
          <p:cNvPr id="21" name="Image 3" descr="preencoded.png">    </p:cNvPr>
          <p:cNvPicPr>
            <a:picLocks noChangeAspect="1"/>
          </p:cNvPicPr>
          <p:nvPr/>
        </p:nvPicPr>
        <p:blipFill>
          <a:blip r:embed="rId4"/>
          <a:stretch>
            <a:fillRect/>
          </a:stretch>
        </p:blipFill>
        <p:spPr>
          <a:xfrm>
            <a:off x="7891272" y="2560320"/>
            <a:ext cx="347472" cy="347472"/>
          </a:xfrm>
          <a:prstGeom prst="rect">
            <a:avLst/>
          </a:prstGeom>
        </p:spPr>
      </p:pic>
      <p:pic>
        <p:nvPicPr>
          <p:cNvPr id="22" name="Image 4" descr="preencoded.png">    </p:cNvPr>
          <p:cNvPicPr>
            <a:picLocks noChangeAspect="1"/>
          </p:cNvPicPr>
          <p:nvPr/>
        </p:nvPicPr>
        <p:blipFill>
          <a:blip r:embed="rId5"/>
          <a:stretch>
            <a:fillRect/>
          </a:stretch>
        </p:blipFill>
        <p:spPr>
          <a:xfrm>
            <a:off x="8330184" y="2560320"/>
            <a:ext cx="347472" cy="347472"/>
          </a:xfrm>
          <a:prstGeom prst="rect">
            <a:avLst/>
          </a:prstGeom>
        </p:spPr>
      </p:pic>
      <p:pic>
        <p:nvPicPr>
          <p:cNvPr id="23" name="Image 5" descr="preencoded.png">    </p:cNvPr>
          <p:cNvPicPr>
            <a:picLocks noChangeAspect="1"/>
          </p:cNvPicPr>
          <p:nvPr/>
        </p:nvPicPr>
        <p:blipFill>
          <a:blip r:embed="rId6"/>
          <a:stretch>
            <a:fillRect/>
          </a:stretch>
        </p:blipFill>
        <p:spPr>
          <a:xfrm>
            <a:off x="7452360" y="2971800"/>
            <a:ext cx="347472" cy="347472"/>
          </a:xfrm>
          <a:prstGeom prst="rect">
            <a:avLst/>
          </a:prstGeom>
        </p:spPr>
      </p:pic>
      <p:pic>
        <p:nvPicPr>
          <p:cNvPr id="24" name="Image 6" descr="preencoded.png">    </p:cNvPr>
          <p:cNvPicPr>
            <a:picLocks noChangeAspect="1"/>
          </p:cNvPicPr>
          <p:nvPr/>
        </p:nvPicPr>
        <p:blipFill>
          <a:blip r:embed="rId7"/>
          <a:stretch>
            <a:fillRect/>
          </a:stretch>
        </p:blipFill>
        <p:spPr>
          <a:xfrm>
            <a:off x="7891272" y="2971800"/>
            <a:ext cx="347472" cy="347472"/>
          </a:xfrm>
          <a:prstGeom prst="rect">
            <a:avLst/>
          </a:prstGeom>
        </p:spPr>
      </p:pic>
      <p:pic>
        <p:nvPicPr>
          <p:cNvPr id="25" name="Image 7" descr="preencoded.png">    </p:cNvPr>
          <p:cNvPicPr>
            <a:picLocks noChangeAspect="1"/>
          </p:cNvPicPr>
          <p:nvPr/>
        </p:nvPicPr>
        <p:blipFill>
          <a:blip r:embed="rId8"/>
          <a:stretch>
            <a:fillRect/>
          </a:stretch>
        </p:blipFill>
        <p:spPr>
          <a:xfrm>
            <a:off x="8330184" y="2971800"/>
            <a:ext cx="347472" cy="347472"/>
          </a:xfrm>
          <a:prstGeom prst="rect">
            <a:avLst/>
          </a:prstGeom>
        </p:spPr>
      </p:pic>
      <p:sp>
        <p:nvSpPr>
          <p:cNvPr id="26" name="Shape 16"/>
          <p:cNvSpPr/>
          <p:nvPr/>
        </p:nvSpPr>
        <p:spPr>
          <a:xfrm>
            <a:off x="8823960" y="2926080"/>
            <a:ext cx="457200" cy="0"/>
          </a:xfrm>
          <a:prstGeom prst="line">
            <a:avLst/>
          </a:prstGeom>
          <a:noFill/>
          <a:ln w="19050">
            <a:solidFill>
              <a:srgbClr val="8D99B3"/>
            </a:solidFill>
            <a:prstDash val="solid"/>
            <a:tailEnd type="triangle"/>
          </a:ln>
        </p:spPr>
      </p:sp>
      <p:sp>
        <p:nvSpPr>
          <p:cNvPr id="27" name="Shape 17"/>
          <p:cNvSpPr/>
          <p:nvPr/>
        </p:nvSpPr>
        <p:spPr>
          <a:xfrm>
            <a:off x="9372600" y="2606040"/>
            <a:ext cx="640080" cy="640080"/>
          </a:xfrm>
          <a:prstGeom prst="ellipse">
            <a:avLst/>
          </a:prstGeom>
          <a:solidFill>
            <a:srgbClr val="14213D"/>
          </a:solidFill>
          <a:ln w="12700">
            <a:solidFill>
              <a:srgbClr val="14213D"/>
            </a:solidFill>
            <a:prstDash val="solid"/>
          </a:ln>
        </p:spPr>
      </p:sp>
      <p:pic>
        <p:nvPicPr>
          <p:cNvPr id="28" name="Image 8" descr="preencoded.png">    </p:cNvPr>
          <p:cNvPicPr>
            <a:picLocks noChangeAspect="1"/>
          </p:cNvPicPr>
          <p:nvPr/>
        </p:nvPicPr>
        <p:blipFill>
          <a:blip r:embed="rId9"/>
          <a:stretch>
            <a:fillRect/>
          </a:stretch>
        </p:blipFill>
        <p:spPr>
          <a:xfrm>
            <a:off x="9526219" y="2759659"/>
            <a:ext cx="332842" cy="332842"/>
          </a:xfrm>
          <a:prstGeom prst="rect">
            <a:avLst/>
          </a:prstGeom>
        </p:spPr>
      </p:pic>
      <p:sp>
        <p:nvSpPr>
          <p:cNvPr id="29" name="Shape 18"/>
          <p:cNvSpPr/>
          <p:nvPr/>
        </p:nvSpPr>
        <p:spPr>
          <a:xfrm>
            <a:off x="9829800" y="2532888"/>
            <a:ext cx="274320" cy="274320"/>
          </a:xfrm>
          <a:prstGeom prst="ellipse">
            <a:avLst/>
          </a:prstGeom>
          <a:solidFill>
            <a:srgbClr val="D64545"/>
          </a:solidFill>
          <a:ln w="12700">
            <a:solidFill>
              <a:srgbClr val="D64545"/>
            </a:solidFill>
            <a:prstDash val="solid"/>
          </a:ln>
        </p:spPr>
      </p:sp>
      <p:pic>
        <p:nvPicPr>
          <p:cNvPr id="30" name="Image 9" descr="preencoded.png">    </p:cNvPr>
          <p:cNvPicPr>
            <a:picLocks noChangeAspect="1"/>
          </p:cNvPicPr>
          <p:nvPr/>
        </p:nvPicPr>
        <p:blipFill>
          <a:blip r:embed="rId10"/>
          <a:stretch>
            <a:fillRect/>
          </a:stretch>
        </p:blipFill>
        <p:spPr>
          <a:xfrm>
            <a:off x="9895637" y="2598725"/>
            <a:ext cx="142646" cy="142646"/>
          </a:xfrm>
          <a:prstGeom prst="rect">
            <a:avLst/>
          </a:prstGeom>
        </p:spPr>
      </p:pic>
      <p:sp>
        <p:nvSpPr>
          <p:cNvPr id="31" name="Text 19"/>
          <p:cNvSpPr txBox="1"/>
          <p:nvPr/>
        </p:nvSpPr>
        <p:spPr>
          <a:xfrm>
            <a:off x="10149840" y="2606040"/>
            <a:ext cx="1371600" cy="640080"/>
          </a:xfrm>
          <a:prstGeom prst="rect">
            <a:avLst/>
          </a:prstGeom>
          <a:noFill/>
          <a:ln/>
        </p:spPr>
        <p:txBody>
          <a:bodyPr wrap="square" lIns="0" tIns="0" rIns="0" bIns="0" rtlCol="0" anchor="ctr"/>
          <a:lstStyle/>
          <a:p>
            <a:pPr indent="0" marL="0">
              <a:buNone/>
            </a:pPr>
            <a:r>
              <a:rPr lang="en-US" sz="1200" b="1" dirty="0">
                <a:solidFill>
                  <a:srgbClr val="D64545"/>
                </a:solidFill>
                <a:latin typeface="Arial" pitchFamily="34" charset="0"/>
                <a:ea typeface="Arial" pitchFamily="34" charset="-122"/>
                <a:cs typeface="Arial" pitchFamily="34" charset="-120"/>
              </a:rPr>
              <a:t>You sort through every comment</a:t>
            </a:r>
            <a:endParaRPr lang="en-US" sz="1200" dirty="0"/>
          </a:p>
        </p:txBody>
      </p:sp>
      <p:sp>
        <p:nvSpPr>
          <p:cNvPr id="32" name="Shape 20"/>
          <p:cNvSpPr/>
          <p:nvPr/>
        </p:nvSpPr>
        <p:spPr>
          <a:xfrm>
            <a:off x="6172200" y="4069080"/>
            <a:ext cx="640080" cy="640080"/>
          </a:xfrm>
          <a:prstGeom prst="ellipse">
            <a:avLst/>
          </a:prstGeom>
          <a:solidFill>
            <a:srgbClr val="4F5BD5"/>
          </a:solidFill>
          <a:ln w="12700">
            <a:solidFill>
              <a:srgbClr val="4F5BD5"/>
            </a:solidFill>
            <a:prstDash val="solid"/>
          </a:ln>
        </p:spPr>
      </p:sp>
      <p:pic>
        <p:nvPicPr>
          <p:cNvPr id="33" name="Image 10" descr="preencoded.png">    </p:cNvPr>
          <p:cNvPicPr>
            <a:picLocks noChangeAspect="1"/>
          </p:cNvPicPr>
          <p:nvPr/>
        </p:nvPicPr>
        <p:blipFill>
          <a:blip r:embed="rId11"/>
          <a:stretch>
            <a:fillRect/>
          </a:stretch>
        </p:blipFill>
        <p:spPr>
          <a:xfrm>
            <a:off x="6325819" y="4222699"/>
            <a:ext cx="332842" cy="332842"/>
          </a:xfrm>
          <a:prstGeom prst="rect">
            <a:avLst/>
          </a:prstGeom>
        </p:spPr>
      </p:pic>
      <p:sp>
        <p:nvSpPr>
          <p:cNvPr id="34" name="Text 21"/>
          <p:cNvSpPr txBox="1"/>
          <p:nvPr/>
        </p:nvSpPr>
        <p:spPr>
          <a:xfrm>
            <a:off x="5989320" y="4754880"/>
            <a:ext cx="1005840" cy="27432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Reviewer</a:t>
            </a:r>
            <a:endParaRPr lang="en-US" sz="1100" dirty="0"/>
          </a:p>
        </p:txBody>
      </p:sp>
      <p:sp>
        <p:nvSpPr>
          <p:cNvPr id="35" name="Shape 22"/>
          <p:cNvSpPr/>
          <p:nvPr/>
        </p:nvSpPr>
        <p:spPr>
          <a:xfrm>
            <a:off x="6903720" y="4389120"/>
            <a:ext cx="457200" cy="0"/>
          </a:xfrm>
          <a:prstGeom prst="line">
            <a:avLst/>
          </a:prstGeom>
          <a:noFill/>
          <a:ln w="19050">
            <a:solidFill>
              <a:srgbClr val="8D99B3"/>
            </a:solidFill>
            <a:prstDash val="solid"/>
            <a:tailEnd type="triangle"/>
          </a:ln>
        </p:spPr>
      </p:sp>
      <p:pic>
        <p:nvPicPr>
          <p:cNvPr id="36" name="Image 11" descr="preencoded.png">    </p:cNvPr>
          <p:cNvPicPr>
            <a:picLocks noChangeAspect="1"/>
          </p:cNvPicPr>
          <p:nvPr/>
        </p:nvPicPr>
        <p:blipFill>
          <a:blip r:embed="rId12"/>
          <a:stretch>
            <a:fillRect/>
          </a:stretch>
        </p:blipFill>
        <p:spPr>
          <a:xfrm>
            <a:off x="7452360" y="4206240"/>
            <a:ext cx="347472" cy="347472"/>
          </a:xfrm>
          <a:prstGeom prst="rect">
            <a:avLst/>
          </a:prstGeom>
        </p:spPr>
      </p:pic>
      <p:pic>
        <p:nvPicPr>
          <p:cNvPr id="37" name="Image 12" descr="preencoded.png">    </p:cNvPr>
          <p:cNvPicPr>
            <a:picLocks noChangeAspect="1"/>
          </p:cNvPicPr>
          <p:nvPr/>
        </p:nvPicPr>
        <p:blipFill>
          <a:blip r:embed="rId13"/>
          <a:stretch>
            <a:fillRect/>
          </a:stretch>
        </p:blipFill>
        <p:spPr>
          <a:xfrm>
            <a:off x="7891272" y="4206240"/>
            <a:ext cx="347472" cy="347472"/>
          </a:xfrm>
          <a:prstGeom prst="rect">
            <a:avLst/>
          </a:prstGeom>
        </p:spPr>
      </p:pic>
      <p:pic>
        <p:nvPicPr>
          <p:cNvPr id="38" name="Image 13" descr="preencoded.png">    </p:cNvPr>
          <p:cNvPicPr>
            <a:picLocks noChangeAspect="1"/>
          </p:cNvPicPr>
          <p:nvPr/>
        </p:nvPicPr>
        <p:blipFill>
          <a:blip r:embed="rId14"/>
          <a:stretch>
            <a:fillRect/>
          </a:stretch>
        </p:blipFill>
        <p:spPr>
          <a:xfrm>
            <a:off x="8330184" y="4206240"/>
            <a:ext cx="347472" cy="347472"/>
          </a:xfrm>
          <a:prstGeom prst="rect">
            <a:avLst/>
          </a:prstGeom>
        </p:spPr>
      </p:pic>
      <p:sp>
        <p:nvSpPr>
          <p:cNvPr id="39" name="Shape 23"/>
          <p:cNvSpPr/>
          <p:nvPr/>
        </p:nvSpPr>
        <p:spPr>
          <a:xfrm>
            <a:off x="8823960" y="4389120"/>
            <a:ext cx="457200" cy="0"/>
          </a:xfrm>
          <a:prstGeom prst="line">
            <a:avLst/>
          </a:prstGeom>
          <a:noFill/>
          <a:ln w="19050">
            <a:solidFill>
              <a:srgbClr val="8D99B3"/>
            </a:solidFill>
            <a:prstDash val="solid"/>
            <a:tailEnd type="triangle"/>
          </a:ln>
        </p:spPr>
      </p:sp>
      <p:sp>
        <p:nvSpPr>
          <p:cNvPr id="40" name="Shape 24"/>
          <p:cNvSpPr/>
          <p:nvPr/>
        </p:nvSpPr>
        <p:spPr>
          <a:xfrm>
            <a:off x="9372600" y="4069080"/>
            <a:ext cx="640080" cy="640080"/>
          </a:xfrm>
          <a:prstGeom prst="ellipse">
            <a:avLst/>
          </a:prstGeom>
          <a:solidFill>
            <a:srgbClr val="14213D"/>
          </a:solidFill>
          <a:ln w="12700">
            <a:solidFill>
              <a:srgbClr val="14213D"/>
            </a:solidFill>
            <a:prstDash val="solid"/>
          </a:ln>
        </p:spPr>
      </p:sp>
      <p:pic>
        <p:nvPicPr>
          <p:cNvPr id="41" name="Image 14" descr="preencoded.png">    </p:cNvPr>
          <p:cNvPicPr>
            <a:picLocks noChangeAspect="1"/>
          </p:cNvPicPr>
          <p:nvPr/>
        </p:nvPicPr>
        <p:blipFill>
          <a:blip r:embed="rId15"/>
          <a:stretch>
            <a:fillRect/>
          </a:stretch>
        </p:blipFill>
        <p:spPr>
          <a:xfrm>
            <a:off x="9526219" y="4222699"/>
            <a:ext cx="332842" cy="332842"/>
          </a:xfrm>
          <a:prstGeom prst="rect">
            <a:avLst/>
          </a:prstGeom>
        </p:spPr>
      </p:pic>
      <p:sp>
        <p:nvSpPr>
          <p:cNvPr id="42" name="Shape 25"/>
          <p:cNvSpPr/>
          <p:nvPr/>
        </p:nvSpPr>
        <p:spPr>
          <a:xfrm>
            <a:off x="9829800" y="3995928"/>
            <a:ext cx="274320" cy="274320"/>
          </a:xfrm>
          <a:prstGeom prst="ellipse">
            <a:avLst/>
          </a:prstGeom>
          <a:solidFill>
            <a:srgbClr val="2E9E5B"/>
          </a:solidFill>
          <a:ln w="12700">
            <a:solidFill>
              <a:srgbClr val="2E9E5B"/>
            </a:solidFill>
            <a:prstDash val="solid"/>
          </a:ln>
        </p:spPr>
      </p:sp>
      <p:pic>
        <p:nvPicPr>
          <p:cNvPr id="43" name="Image 15" descr="preencoded.png">    </p:cNvPr>
          <p:cNvPicPr>
            <a:picLocks noChangeAspect="1"/>
          </p:cNvPicPr>
          <p:nvPr/>
        </p:nvPicPr>
        <p:blipFill>
          <a:blip r:embed="rId16"/>
          <a:stretch>
            <a:fillRect/>
          </a:stretch>
        </p:blipFill>
        <p:spPr>
          <a:xfrm>
            <a:off x="9895637" y="4061765"/>
            <a:ext cx="142646" cy="142646"/>
          </a:xfrm>
          <a:prstGeom prst="rect">
            <a:avLst/>
          </a:prstGeom>
        </p:spPr>
      </p:pic>
      <p:sp>
        <p:nvSpPr>
          <p:cNvPr id="44" name="Text 26"/>
          <p:cNvSpPr txBox="1"/>
          <p:nvPr/>
        </p:nvSpPr>
        <p:spPr>
          <a:xfrm>
            <a:off x="10149840" y="4069080"/>
            <a:ext cx="1371600" cy="640080"/>
          </a:xfrm>
          <a:prstGeom prst="rect">
            <a:avLst/>
          </a:prstGeom>
          <a:noFill/>
          <a:ln/>
        </p:spPr>
        <p:txBody>
          <a:bodyPr wrap="square" lIns="0" tIns="0" rIns="0" bIns="0" rtlCol="0" anchor="ctr"/>
          <a:lstStyle/>
          <a:p>
            <a:pPr indent="0" marL="0">
              <a:buNone/>
            </a:pPr>
            <a:r>
              <a:rPr lang="en-US" sz="1200" b="1" dirty="0">
                <a:solidFill>
                  <a:srgbClr val="2E9E5B"/>
                </a:solidFill>
                <a:latin typeface="Arial" pitchFamily="34" charset="0"/>
                <a:ea typeface="Arial" pitchFamily="34" charset="-122"/>
                <a:cs typeface="Arial" pitchFamily="34" charset="-120"/>
              </a:rPr>
              <a:t>You review a clean result</a:t>
            </a:r>
            <a:endParaRPr lang="en-US" sz="1200" dirty="0"/>
          </a:p>
        </p:txBody>
      </p:sp>
      <p:sp>
        <p:nvSpPr>
          <p:cNvPr id="45" name="Text 27"/>
          <p:cNvSpPr txBox="1"/>
          <p:nvPr/>
        </p:nvSpPr>
        <p:spPr>
          <a:xfrm>
            <a:off x="6172200" y="5029200"/>
            <a:ext cx="5303520" cy="320040"/>
          </a:xfrm>
          <a:prstGeom prst="rect">
            <a:avLst/>
          </a:prstGeom>
          <a:noFill/>
          <a:ln/>
        </p:spPr>
        <p:txBody>
          <a:bodyPr wrap="square" lIns="0" tIns="0" rIns="0" bIns="0" rtlCol="0" anchor="t"/>
          <a:lstStyle/>
          <a:p>
            <a:pPr indent="0" marL="0">
              <a:buNone/>
            </a:pPr>
            <a:r>
              <a:rPr lang="en-US" sz="1250" dirty="0">
                <a:solidFill>
                  <a:srgbClr val="4A5468"/>
                </a:solidFill>
                <a:latin typeface="Arial" pitchFamily="34" charset="0"/>
                <a:ea typeface="Arial" pitchFamily="34" charset="-122"/>
                <a:cs typeface="Arial" pitchFamily="34" charset="-120"/>
              </a:rPr>
              <a:t>The default is a commit. A comment is only for a real question.</a:t>
            </a:r>
            <a:endParaRPr lang="en-US" sz="1250" dirty="0"/>
          </a:p>
        </p:txBody>
      </p:sp>
      <p:sp>
        <p:nvSpPr>
          <p:cNvPr id="46" name="Text 28"/>
          <p:cNvSpPr txBox="1"/>
          <p:nvPr/>
        </p:nvSpPr>
        <p:spPr>
          <a:xfrm>
            <a:off x="548640" y="5715000"/>
            <a:ext cx="7315200" cy="457200"/>
          </a:xfrm>
          <a:prstGeom prst="rect">
            <a:avLst/>
          </a:prstGeom>
          <a:noFill/>
          <a:ln/>
        </p:spPr>
        <p:txBody>
          <a:bodyPr wrap="square" lIns="0" tIns="0" rIns="0" bIns="0" rtlCol="0" anchor="ctr"/>
          <a:lstStyle/>
          <a:p>
            <a:pPr indent="0" marL="0">
              <a:buNone/>
            </a:pPr>
            <a:r>
              <a:rPr lang="en-US" sz="2000" i="1" dirty="0">
                <a:solidFill>
                  <a:srgbClr val="4F5BD5"/>
                </a:solidFill>
                <a:latin typeface="Georgia" pitchFamily="34" charset="0"/>
                <a:ea typeface="Georgia" pitchFamily="34" charset="-122"/>
                <a:cs typeface="Georgia" pitchFamily="34" charset="-120"/>
              </a:rPr>
              <a:t>"Stop trying to one-shot good code."</a:t>
            </a:r>
            <a:endParaRPr lang="en-US" sz="2000" dirty="0"/>
          </a:p>
        </p:txBody>
      </p:sp>
      <p:sp>
        <p:nvSpPr>
          <p:cNvPr id="47" name="Text 29"/>
          <p:cNvSpPr txBox="1"/>
          <p:nvPr/>
        </p:nvSpPr>
        <p:spPr>
          <a:xfrm>
            <a:off x="7955280" y="5715000"/>
            <a:ext cx="3657600" cy="457200"/>
          </a:xfrm>
          <a:prstGeom prst="rect">
            <a:avLst/>
          </a:prstGeom>
          <a:noFill/>
          <a:ln/>
        </p:spPr>
        <p:txBody>
          <a:bodyPr wrap="square" lIns="0" tIns="0" rIns="0" bIns="0" rtlCol="0" anchor="ctr"/>
          <a:lstStyle/>
          <a:p>
            <a:pPr algn="r" indent="0" marL="0">
              <a:buNone/>
            </a:pPr>
            <a:r>
              <a:rPr lang="en-US" sz="1200" dirty="0">
                <a:solidFill>
                  <a:srgbClr val="8D99B3"/>
                </a:solidFill>
                <a:latin typeface="Arial" pitchFamily="34" charset="0"/>
                <a:ea typeface="Arial" pitchFamily="34" charset="-122"/>
                <a:cs typeface="Arial" pitchFamily="34" charset="-120"/>
              </a:rPr>
              <a:t>Matt Pocock</a:t>
            </a:r>
            <a:endParaRPr lang="en-US" sz="1200" dirty="0"/>
          </a:p>
        </p:txBody>
      </p:sp>
      <p:sp>
        <p:nvSpPr>
          <p:cNvPr id="48" name="Text 30"/>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49" name="Text 31"/>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9184"/>
            <a:ext cx="2421331" cy="274320"/>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BRAKE 3 · HUMAN REVIEW</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Write the PR for the human. Not every PR needs a deep review.</a:t>
            </a:r>
            <a:endParaRPr lang="en-US" sz="2800" dirty="0"/>
          </a:p>
        </p:txBody>
      </p:sp>
      <p:sp>
        <p:nvSpPr>
          <p:cNvPr id="4" name="Text 2"/>
          <p:cNvSpPr txBox="1"/>
          <p:nvPr/>
        </p:nvSpPr>
        <p:spPr>
          <a:xfrm>
            <a:off x="548640" y="1554480"/>
            <a:ext cx="2743200" cy="274320"/>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MERGE DANGER</a:t>
            </a:r>
            <a:endParaRPr lang="en-US" sz="1000" dirty="0"/>
          </a:p>
        </p:txBody>
      </p:sp>
      <p:sp>
        <p:nvSpPr>
          <p:cNvPr id="5" name="Text 3"/>
          <p:cNvSpPr txBox="1"/>
          <p:nvPr/>
        </p:nvSpPr>
        <p:spPr>
          <a:xfrm>
            <a:off x="548640" y="3154680"/>
            <a:ext cx="548640" cy="274320"/>
          </a:xfrm>
          <a:prstGeom prst="rect">
            <a:avLst/>
          </a:prstGeom>
          <a:noFill/>
          <a:ln/>
        </p:spPr>
        <p:txBody>
          <a:bodyPr wrap="square" lIns="0" tIns="0" rIns="0" bIns="0" rtlCol="0" anchor="t"/>
          <a:lstStyle/>
          <a:p>
            <a:pPr indent="0" marL="0">
              <a:buNone/>
            </a:pPr>
            <a:r>
              <a:rPr lang="en-US" sz="1200" b="1" dirty="0">
                <a:solidFill>
                  <a:srgbClr val="4A5468"/>
                </a:solidFill>
                <a:latin typeface="Arial" pitchFamily="34" charset="0"/>
                <a:ea typeface="Arial" pitchFamily="34" charset="-122"/>
                <a:cs typeface="Arial" pitchFamily="34" charset="-120"/>
              </a:rPr>
              <a:t>Door</a:t>
            </a:r>
            <a:endParaRPr lang="en-US" sz="1200" dirty="0"/>
          </a:p>
        </p:txBody>
      </p:sp>
      <p:sp>
        <p:nvSpPr>
          <p:cNvPr id="6" name="Text 4"/>
          <p:cNvSpPr txBox="1"/>
          <p:nvPr/>
        </p:nvSpPr>
        <p:spPr>
          <a:xfrm>
            <a:off x="1143000" y="1874520"/>
            <a:ext cx="914400" cy="123444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One-way</a:t>
            </a:r>
            <a:endParaRPr lang="en-US" sz="1300" dirty="0"/>
          </a:p>
        </p:txBody>
      </p:sp>
      <p:sp>
        <p:nvSpPr>
          <p:cNvPr id="7" name="Text 5"/>
          <p:cNvSpPr txBox="1"/>
          <p:nvPr/>
        </p:nvSpPr>
        <p:spPr>
          <a:xfrm>
            <a:off x="1143000" y="3200400"/>
            <a:ext cx="914400" cy="1234440"/>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Two-way</a:t>
            </a:r>
            <a:endParaRPr lang="en-US" sz="1300" dirty="0"/>
          </a:p>
        </p:txBody>
      </p:sp>
      <p:sp>
        <p:nvSpPr>
          <p:cNvPr id="8" name="Text 6"/>
          <p:cNvSpPr/>
          <p:nvPr/>
        </p:nvSpPr>
        <p:spPr>
          <a:xfrm>
            <a:off x="2148840" y="1874520"/>
            <a:ext cx="2011680" cy="1234440"/>
          </a:xfrm>
          <a:prstGeom prst="roundRect">
            <a:avLst>
              <a:gd name="adj" fmla="val 5926"/>
            </a:avLst>
          </a:prstGeom>
          <a:solidFill>
            <a:srgbClr val="FDE7DD"/>
          </a:solidFill>
          <a:ln>
            <a:solidFill>
              <a:srgbClr val="FDE7DD"/>
            </a:solidFill>
          </a:ln>
        </p:spPr>
        <p:txBody>
          <a:bodyPr wrap="square" lIns="50800" tIns="50800" rIns="50800" bIns="508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Review carefully</a:t>
            </a:r>
            <a:endParaRPr lang="en-US" sz="1400" dirty="0"/>
          </a:p>
        </p:txBody>
      </p:sp>
      <p:sp>
        <p:nvSpPr>
          <p:cNvPr id="9" name="Text 7"/>
          <p:cNvSpPr/>
          <p:nvPr/>
        </p:nvSpPr>
        <p:spPr>
          <a:xfrm>
            <a:off x="4251960" y="1874520"/>
            <a:ext cx="2011680" cy="1234440"/>
          </a:xfrm>
          <a:prstGeom prst="roundRect">
            <a:avLst>
              <a:gd name="adj" fmla="val 5926"/>
            </a:avLst>
          </a:prstGeom>
          <a:solidFill>
            <a:srgbClr val="F26B38"/>
          </a:solidFill>
          <a:ln>
            <a:solidFill>
              <a:srgbClr val="F26B38"/>
            </a:solidFill>
          </a:ln>
        </p:spPr>
        <p:txBody>
          <a:bodyPr wrap="square" lIns="50800" tIns="50800" rIns="50800" bIns="5080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Review the hell</a:t>
            </a:r>
            <a:endParaRPr lang="en-US" sz="1400" dirty="0"/>
          </a:p>
          <a:p>
            <a:pPr algn="ctr" indent="0" marL="0">
              <a:buNone/>
            </a:pPr>
            <a:r>
              <a:rPr lang="en-US" sz="1400" b="1" dirty="0">
                <a:solidFill>
                  <a:srgbClr val="FFFFFF"/>
                </a:solidFill>
                <a:latin typeface="Arial" pitchFamily="34" charset="0"/>
                <a:ea typeface="Arial" pitchFamily="34" charset="-122"/>
                <a:cs typeface="Arial" pitchFamily="34" charset="-120"/>
              </a:rPr>
              <a:t>out of it</a:t>
            </a:r>
            <a:endParaRPr lang="en-US" sz="1400" dirty="0"/>
          </a:p>
        </p:txBody>
      </p:sp>
      <p:sp>
        <p:nvSpPr>
          <p:cNvPr id="10" name="Text 8"/>
          <p:cNvSpPr/>
          <p:nvPr/>
        </p:nvSpPr>
        <p:spPr>
          <a:xfrm>
            <a:off x="2148840" y="3200400"/>
            <a:ext cx="2011680" cy="1234440"/>
          </a:xfrm>
          <a:prstGeom prst="roundRect">
            <a:avLst>
              <a:gd name="adj" fmla="val 5926"/>
            </a:avLst>
          </a:prstGeom>
          <a:solidFill>
            <a:srgbClr val="DDF2EE"/>
          </a:solidFill>
          <a:ln>
            <a:solidFill>
              <a:srgbClr val="DDF2EE"/>
            </a:solidFill>
          </a:ln>
        </p:spPr>
        <p:txBody>
          <a:bodyPr wrap="square" lIns="50800" tIns="50800" rIns="50800" bIns="508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Skim it</a:t>
            </a:r>
            <a:endParaRPr lang="en-US" sz="1400" dirty="0"/>
          </a:p>
        </p:txBody>
      </p:sp>
      <p:sp>
        <p:nvSpPr>
          <p:cNvPr id="11" name="Text 9"/>
          <p:cNvSpPr/>
          <p:nvPr/>
        </p:nvSpPr>
        <p:spPr>
          <a:xfrm>
            <a:off x="4251960" y="3200400"/>
            <a:ext cx="2011680" cy="1234440"/>
          </a:xfrm>
          <a:prstGeom prst="roundRect">
            <a:avLst>
              <a:gd name="adj" fmla="val 5926"/>
            </a:avLst>
          </a:prstGeom>
          <a:solidFill>
            <a:srgbClr val="FCF0DA"/>
          </a:solidFill>
          <a:ln>
            <a:solidFill>
              <a:srgbClr val="FCF0DA"/>
            </a:solidFill>
          </a:ln>
        </p:spPr>
        <p:txBody>
          <a:bodyPr wrap="square" lIns="50800" tIns="50800" rIns="50800" bIns="50800" rtlCol="0" anchor="ctr"/>
          <a:lstStyle/>
          <a:p>
            <a:pPr algn="ctr" indent="0" marL="0">
              <a:buNone/>
            </a:pPr>
            <a:r>
              <a:rPr lang="en-US" sz="1400" b="1" dirty="0">
                <a:solidFill>
                  <a:srgbClr val="14213D"/>
                </a:solidFill>
                <a:latin typeface="Arial" pitchFamily="34" charset="0"/>
                <a:ea typeface="Arial" pitchFamily="34" charset="-122"/>
                <a:cs typeface="Arial" pitchFamily="34" charset="-120"/>
              </a:rPr>
              <a:t>Check what</a:t>
            </a:r>
            <a:endParaRPr lang="en-US" sz="1400" dirty="0"/>
          </a:p>
          <a:p>
            <a:pPr algn="ctr" indent="0" marL="0">
              <a:buNone/>
            </a:pPr>
            <a:r>
              <a:rPr lang="en-US" sz="1400" b="1" dirty="0">
                <a:solidFill>
                  <a:srgbClr val="14213D"/>
                </a:solidFill>
                <a:latin typeface="Arial" pitchFamily="34" charset="0"/>
                <a:ea typeface="Arial" pitchFamily="34" charset="-122"/>
                <a:cs typeface="Arial" pitchFamily="34" charset="-120"/>
              </a:rPr>
              <a:t>it can break</a:t>
            </a:r>
            <a:endParaRPr lang="en-US" sz="1400" dirty="0"/>
          </a:p>
        </p:txBody>
      </p:sp>
      <p:sp>
        <p:nvSpPr>
          <p:cNvPr id="12" name="Text 10"/>
          <p:cNvSpPr txBox="1"/>
          <p:nvPr/>
        </p:nvSpPr>
        <p:spPr>
          <a:xfrm>
            <a:off x="2148840" y="4507992"/>
            <a:ext cx="2011680" cy="27432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Localized</a:t>
            </a:r>
            <a:endParaRPr lang="en-US" sz="1300" dirty="0"/>
          </a:p>
        </p:txBody>
      </p:sp>
      <p:sp>
        <p:nvSpPr>
          <p:cNvPr id="13" name="Text 11"/>
          <p:cNvSpPr txBox="1"/>
          <p:nvPr/>
        </p:nvSpPr>
        <p:spPr>
          <a:xfrm>
            <a:off x="4251960" y="4507992"/>
            <a:ext cx="2011680" cy="274320"/>
          </a:xfrm>
          <a:prstGeom prst="rect">
            <a:avLst/>
          </a:prstGeom>
          <a:noFill/>
          <a:ln/>
        </p:spPr>
        <p:txBody>
          <a:bodyPr wrap="square" lIns="0" tIns="0" rIns="0" bIns="0" rtlCol="0" anchor="t"/>
          <a:lstStyle/>
          <a:p>
            <a:pPr algn="ctr" indent="0" marL="0">
              <a:buNone/>
            </a:pPr>
            <a:r>
              <a:rPr lang="en-US" sz="1300" b="1" dirty="0">
                <a:solidFill>
                  <a:srgbClr val="14213D"/>
                </a:solidFill>
                <a:latin typeface="Arial" pitchFamily="34" charset="0"/>
                <a:ea typeface="Arial" pitchFamily="34" charset="-122"/>
                <a:cs typeface="Arial" pitchFamily="34" charset="-120"/>
              </a:rPr>
              <a:t>Wide</a:t>
            </a:r>
            <a:endParaRPr lang="en-US" sz="1300" dirty="0"/>
          </a:p>
        </p:txBody>
      </p:sp>
      <p:sp>
        <p:nvSpPr>
          <p:cNvPr id="14" name="Text 12"/>
          <p:cNvSpPr txBox="1"/>
          <p:nvPr/>
        </p:nvSpPr>
        <p:spPr>
          <a:xfrm>
            <a:off x="2148840" y="4800600"/>
            <a:ext cx="4114800" cy="274320"/>
          </a:xfrm>
          <a:prstGeom prst="rect">
            <a:avLst/>
          </a:prstGeom>
          <a:noFill/>
          <a:ln/>
        </p:spPr>
        <p:txBody>
          <a:bodyPr wrap="square" lIns="0" tIns="0" rIns="0" bIns="0" rtlCol="0" anchor="t"/>
          <a:lstStyle/>
          <a:p>
            <a:pPr algn="ctr" indent="0" marL="0">
              <a:buNone/>
            </a:pPr>
            <a:r>
              <a:rPr lang="en-US" sz="1200" b="1" dirty="0">
                <a:solidFill>
                  <a:srgbClr val="4A5468"/>
                </a:solidFill>
                <a:latin typeface="Arial" pitchFamily="34" charset="0"/>
                <a:ea typeface="Arial" pitchFamily="34" charset="-122"/>
                <a:cs typeface="Arial" pitchFamily="34" charset="-120"/>
              </a:rPr>
              <a:t>Blast radius</a:t>
            </a:r>
            <a:endParaRPr lang="en-US" sz="1200" dirty="0"/>
          </a:p>
        </p:txBody>
      </p:sp>
      <p:sp>
        <p:nvSpPr>
          <p:cNvPr id="15" name="Shape 13"/>
          <p:cNvSpPr/>
          <p:nvPr/>
        </p:nvSpPr>
        <p:spPr>
          <a:xfrm>
            <a:off x="548640" y="5577840"/>
            <a:ext cx="457200" cy="457200"/>
          </a:xfrm>
          <a:prstGeom prst="ellipse">
            <a:avLst/>
          </a:prstGeom>
          <a:solidFill>
            <a:srgbClr val="F26B38"/>
          </a:solidFill>
          <a:ln w="12700">
            <a:solidFill>
              <a:srgbClr val="F26B38"/>
            </a:solidFill>
            <a:prstDash val="solid"/>
          </a:ln>
        </p:spPr>
      </p:sp>
      <p:pic>
        <p:nvPicPr>
          <p:cNvPr id="16" name="Image 0" descr="preencoded.png">    </p:cNvPr>
          <p:cNvPicPr>
            <a:picLocks noChangeAspect="1"/>
          </p:cNvPicPr>
          <p:nvPr/>
        </p:nvPicPr>
        <p:blipFill>
          <a:blip r:embed="rId1"/>
          <a:stretch>
            <a:fillRect/>
          </a:stretch>
        </p:blipFill>
        <p:spPr>
          <a:xfrm>
            <a:off x="658368" y="5687568"/>
            <a:ext cx="237744" cy="237744"/>
          </a:xfrm>
          <a:prstGeom prst="rect">
            <a:avLst/>
          </a:prstGeom>
        </p:spPr>
      </p:pic>
      <p:sp>
        <p:nvSpPr>
          <p:cNvPr id="17" name="Text 14"/>
          <p:cNvSpPr txBox="1"/>
          <p:nvPr/>
        </p:nvSpPr>
        <p:spPr>
          <a:xfrm>
            <a:off x="1143000" y="5468112"/>
            <a:ext cx="5532120" cy="731520"/>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One-way doors: a data migration, data loss, an email that goes out to 60,000 people. Most PRs are two-way doors: you can revert them.</a:t>
            </a:r>
            <a:endParaRPr lang="en-US" sz="1200" dirty="0"/>
          </a:p>
        </p:txBody>
      </p:sp>
      <p:sp>
        <p:nvSpPr>
          <p:cNvPr id="18" name="Shape 15"/>
          <p:cNvSpPr/>
          <p:nvPr/>
        </p:nvSpPr>
        <p:spPr>
          <a:xfrm>
            <a:off x="6629400" y="1572768"/>
            <a:ext cx="5010912" cy="4617720"/>
          </a:xfrm>
          <a:prstGeom prst="roundRect">
            <a:avLst>
              <a:gd name="adj" fmla="val 1980"/>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pic>
        <p:nvPicPr>
          <p:cNvPr id="19" name="Image 1" descr="preencoded.png">    </p:cNvPr>
          <p:cNvPicPr>
            <a:picLocks noChangeAspect="1"/>
          </p:cNvPicPr>
          <p:nvPr/>
        </p:nvPicPr>
        <p:blipFill>
          <a:blip r:embed="rId2"/>
          <a:stretch>
            <a:fillRect/>
          </a:stretch>
        </p:blipFill>
        <p:spPr>
          <a:xfrm>
            <a:off x="6858000" y="1755648"/>
            <a:ext cx="310896" cy="310896"/>
          </a:xfrm>
          <a:prstGeom prst="rect">
            <a:avLst/>
          </a:prstGeom>
        </p:spPr>
      </p:pic>
      <p:sp>
        <p:nvSpPr>
          <p:cNvPr id="20" name="Text 16"/>
          <p:cNvSpPr txBox="1"/>
          <p:nvPr/>
        </p:nvSpPr>
        <p:spPr>
          <a:xfrm>
            <a:off x="7269480" y="1737360"/>
            <a:ext cx="4114800" cy="347472"/>
          </a:xfrm>
          <a:prstGeom prst="rect">
            <a:avLst/>
          </a:prstGeom>
          <a:noFill/>
          <a:ln/>
        </p:spPr>
        <p:txBody>
          <a:bodyPr wrap="square" lIns="0" tIns="0" rIns="0" bIns="0" rtlCol="0" anchor="ctr"/>
          <a:lstStyle/>
          <a:p>
            <a:pPr indent="0" marL="0">
              <a:buNone/>
            </a:pPr>
            <a:r>
              <a:rPr lang="en-US" sz="1400" b="1" dirty="0">
                <a:solidFill>
                  <a:srgbClr val="14213D"/>
                </a:solidFill>
                <a:latin typeface="Arial" pitchFamily="34" charset="0"/>
                <a:ea typeface="Arial" pitchFamily="34" charset="-122"/>
                <a:cs typeface="Arial" pitchFamily="34" charset="-120"/>
              </a:rPr>
              <a:t>A PR body in the shape of /pr</a:t>
            </a:r>
            <a:endParaRPr lang="en-US" sz="1400" dirty="0"/>
          </a:p>
        </p:txBody>
      </p:sp>
      <p:sp>
        <p:nvSpPr>
          <p:cNvPr id="21" name="Text 17"/>
          <p:cNvSpPr txBox="1"/>
          <p:nvPr/>
        </p:nvSpPr>
        <p:spPr>
          <a:xfrm>
            <a:off x="6903720" y="2240280"/>
            <a:ext cx="4572000" cy="3246120"/>
          </a:xfrm>
          <a:prstGeom prst="rect">
            <a:avLst/>
          </a:prstGeom>
          <a:noFill/>
          <a:ln/>
        </p:spPr>
        <p:txBody>
          <a:bodyPr wrap="square" lIns="0" tIns="0" rIns="0" bIns="0" rtlCol="0" anchor="t"/>
          <a:lstStyle/>
          <a:p>
            <a:pPr indent="0" marL="0">
              <a:lnSpc>
                <a:spcPct val="105000"/>
              </a:lnSpc>
              <a:buNone/>
            </a:pPr>
            <a:r>
              <a:rPr lang="en-US" sz="1300" b="1" dirty="0">
                <a:solidFill>
                  <a:srgbClr val="F26B38"/>
                </a:solidFill>
                <a:latin typeface="Courier New" pitchFamily="34" charset="0"/>
                <a:ea typeface="Courier New" pitchFamily="34" charset="-122"/>
                <a:cs typeface="Courier New" pitchFamily="34" charset="-120"/>
              </a:rPr>
              <a:t>## Summary</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on(save)</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  if content is unchanged</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    return cached result</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  write new content</a:t>
            </a:r>
            <a:endParaRPr lang="en-US" sz="1300" dirty="0"/>
          </a:p>
          <a:p>
            <a:pPr indent="0" marL="0">
              <a:lnSpc>
                <a:spcPct val="105000"/>
              </a:lnSpc>
              <a:spcBef>
                <a:spcPts val="1200"/>
              </a:spcBef>
              <a:buNone/>
            </a:pPr>
            <a:r>
              <a:rPr lang="en-US" sz="1300" b="1" dirty="0">
                <a:solidFill>
                  <a:srgbClr val="F26B38"/>
                </a:solidFill>
                <a:latin typeface="Courier New" pitchFamily="34" charset="0"/>
                <a:ea typeface="Courier New" pitchFamily="34" charset="-122"/>
                <a:cs typeface="Courier New" pitchFamily="34" charset="-120"/>
              </a:rPr>
              <a:t>## Evidence</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Before: save.test.ts fails</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After:  save.test.ts passes</a:t>
            </a:r>
            <a:endParaRPr lang="en-US" sz="1300" dirty="0"/>
          </a:p>
          <a:p>
            <a:pPr indent="0" marL="0">
              <a:lnSpc>
                <a:spcPct val="105000"/>
              </a:lnSpc>
              <a:spcBef>
                <a:spcPts val="1200"/>
              </a:spcBef>
              <a:buNone/>
            </a:pPr>
            <a:r>
              <a:rPr lang="en-US" sz="1300" b="1" dirty="0">
                <a:solidFill>
                  <a:srgbClr val="F26B38"/>
                </a:solidFill>
                <a:latin typeface="Courier New" pitchFamily="34" charset="0"/>
                <a:ea typeface="Courier New" pitchFamily="34" charset="-122"/>
                <a:cs typeface="Courier New" pitchFamily="34" charset="-120"/>
              </a:rPr>
              <a:t>## Merge danger</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Door: two-way</a:t>
            </a:r>
            <a:endParaRPr lang="en-US" sz="1300" dirty="0"/>
          </a:p>
          <a:p>
            <a:pPr indent="0" marL="0">
              <a:lnSpc>
                <a:spcPct val="105000"/>
              </a:lnSpc>
              <a:buNone/>
            </a:pPr>
            <a:r>
              <a:rPr lang="en-US" sz="1300" b="1" dirty="0">
                <a:solidFill>
                  <a:srgbClr val="14213D"/>
                </a:solidFill>
                <a:latin typeface="Courier New" pitchFamily="34" charset="0"/>
                <a:ea typeface="Courier New" pitchFamily="34" charset="-122"/>
                <a:cs typeface="Courier New" pitchFamily="34" charset="-120"/>
              </a:rPr>
              <a:t>Blast radius: localized</a:t>
            </a:r>
            <a:endParaRPr lang="en-US" sz="1300" dirty="0"/>
          </a:p>
        </p:txBody>
      </p:sp>
      <p:sp>
        <p:nvSpPr>
          <p:cNvPr id="22" name="Text 18"/>
          <p:cNvSpPr txBox="1"/>
          <p:nvPr/>
        </p:nvSpPr>
        <p:spPr>
          <a:xfrm>
            <a:off x="6903720" y="5559552"/>
            <a:ext cx="4572000" cy="548640"/>
          </a:xfrm>
          <a:prstGeom prst="rect">
            <a:avLst/>
          </a:prstGeom>
          <a:noFill/>
          <a:ln/>
        </p:spPr>
        <p:txBody>
          <a:bodyPr wrap="square" lIns="0" tIns="0" rIns="0" bIns="0" rtlCol="0" anchor="t"/>
          <a:lstStyle/>
          <a:p>
            <a:pPr indent="0" marL="0">
              <a:buNone/>
            </a:pPr>
            <a:r>
              <a:rPr lang="en-US" sz="1050" dirty="0">
                <a:solidFill>
                  <a:srgbClr val="8D99B3"/>
                </a:solidFill>
                <a:latin typeface="Arial" pitchFamily="34" charset="0"/>
                <a:ea typeface="Arial" pitchFamily="34" charset="-122"/>
                <a:cs typeface="Arial" pitchFamily="34" charset="-120"/>
              </a:rPr>
              <a:t>Pseudo-code and diagrams instead of prose. Credit: the show-me skill by Dex Horthy, HumanLayer.</a:t>
            </a:r>
            <a:endParaRPr lang="en-US" sz="1050" dirty="0"/>
          </a:p>
        </p:txBody>
      </p:sp>
      <p:sp>
        <p:nvSpPr>
          <p:cNvPr id="23" name="Text 19"/>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24" name="Text 20"/>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9184"/>
            <a:ext cx="1089965" cy="274320"/>
          </a:xfrm>
          <a:prstGeom prst="roundRect">
            <a:avLst>
              <a:gd name="adj" fmla="val 50000"/>
            </a:avLst>
          </a:prstGeom>
          <a:solidFill>
            <a:srgbClr val="7C4DDB"/>
          </a:solidFill>
          <a:ln>
            <a:solidFill>
              <a:srgbClr val="7C4DDB"/>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THE LOOP</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Review the system that writes the code, not only the code.</a:t>
            </a:r>
            <a:endParaRPr lang="en-US" sz="2800" dirty="0"/>
          </a:p>
        </p:txBody>
      </p:sp>
      <p:sp>
        <p:nvSpPr>
          <p:cNvPr id="4" name="Text 2"/>
          <p:cNvSpPr/>
          <p:nvPr/>
        </p:nvSpPr>
        <p:spPr>
          <a:xfrm>
            <a:off x="2560320" y="1691640"/>
            <a:ext cx="2377440" cy="822960"/>
          </a:xfrm>
          <a:prstGeom prst="roundRect">
            <a:avLst>
              <a:gd name="adj" fmla="val 13333"/>
            </a:avLst>
          </a:prstGeom>
          <a:solidFill>
            <a:srgbClr val="F26B38"/>
          </a:solidFill>
          <a:ln>
            <a:solidFill>
              <a:srgbClr val="F26B38"/>
            </a:solidFill>
          </a:ln>
        </p:spPr>
        <p:txBody>
          <a:bodyPr wrap="square" lIns="50800" tIns="50800" rIns="50800" bIns="5080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Human review</a:t>
            </a:r>
            <a:endParaRPr lang="en-US" sz="1350" dirty="0"/>
          </a:p>
        </p:txBody>
      </p:sp>
      <p:sp>
        <p:nvSpPr>
          <p:cNvPr id="5" name="Text 3"/>
          <p:cNvSpPr/>
          <p:nvPr/>
        </p:nvSpPr>
        <p:spPr>
          <a:xfrm>
            <a:off x="4526280" y="3383280"/>
            <a:ext cx="2377440" cy="822960"/>
          </a:xfrm>
          <a:prstGeom prst="roundRect">
            <a:avLst>
              <a:gd name="adj" fmla="val 13333"/>
            </a:avLst>
          </a:prstGeom>
          <a:solidFill>
            <a:srgbClr val="7C4DDB"/>
          </a:solidFill>
          <a:ln>
            <a:solidFill>
              <a:srgbClr val="7C4DDB"/>
            </a:solidFill>
          </a:ln>
        </p:spPr>
        <p:txBody>
          <a:bodyPr wrap="square" lIns="50800" tIns="50800" rIns="50800" bIns="5080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/retro reads the</a:t>
            </a:r>
            <a:endParaRPr lang="en-US" sz="1350" dirty="0"/>
          </a:p>
          <a:p>
            <a:pPr algn="ctr" indent="0" marL="0">
              <a:buNone/>
            </a:pPr>
            <a:r>
              <a:rPr lang="en-US" sz="1350" b="1" dirty="0">
                <a:solidFill>
                  <a:srgbClr val="FFFFFF"/>
                </a:solidFill>
                <a:latin typeface="Arial" pitchFamily="34" charset="0"/>
                <a:ea typeface="Arial" pitchFamily="34" charset="-122"/>
                <a:cs typeface="Arial" pitchFamily="34" charset="-120"/>
              </a:rPr>
              <a:t>sessions and PRs</a:t>
            </a:r>
            <a:endParaRPr lang="en-US" sz="1350" dirty="0"/>
          </a:p>
        </p:txBody>
      </p:sp>
      <p:sp>
        <p:nvSpPr>
          <p:cNvPr id="6" name="Text 4"/>
          <p:cNvSpPr/>
          <p:nvPr/>
        </p:nvSpPr>
        <p:spPr>
          <a:xfrm>
            <a:off x="2560320" y="5120640"/>
            <a:ext cx="2377440" cy="822960"/>
          </a:xfrm>
          <a:prstGeom prst="roundRect">
            <a:avLst>
              <a:gd name="adj" fmla="val 13333"/>
            </a:avLst>
          </a:prstGeom>
          <a:solidFill>
            <a:srgbClr val="EEE7FE"/>
          </a:solidFill>
          <a:ln>
            <a:solidFill>
              <a:srgbClr val="EEE7FE"/>
            </a:solidFill>
          </a:ln>
        </p:spPr>
        <p:txBody>
          <a:bodyPr wrap="square" lIns="50800" tIns="50800" rIns="50800" bIns="50800" rtlCol="0" anchor="ctr"/>
          <a:lstStyle/>
          <a:p>
            <a:pPr algn="ctr" indent="0" marL="0">
              <a:buNone/>
            </a:pPr>
            <a:r>
              <a:rPr lang="en-US" sz="1350" b="1" dirty="0">
                <a:solidFill>
                  <a:srgbClr val="14213D"/>
                </a:solidFill>
                <a:latin typeface="Arial" pitchFamily="34" charset="0"/>
                <a:ea typeface="Arial" pitchFamily="34" charset="-122"/>
                <a:cs typeface="Arial" pitchFamily="34" charset="-120"/>
              </a:rPr>
              <a:t>Checks, rules and</a:t>
            </a:r>
            <a:endParaRPr lang="en-US" sz="1350" dirty="0"/>
          </a:p>
          <a:p>
            <a:pPr algn="ctr" indent="0" marL="0">
              <a:buNone/>
            </a:pPr>
            <a:r>
              <a:rPr lang="en-US" sz="1350" b="1" dirty="0">
                <a:solidFill>
                  <a:srgbClr val="14213D"/>
                </a:solidFill>
                <a:latin typeface="Arial" pitchFamily="34" charset="0"/>
                <a:ea typeface="Arial" pitchFamily="34" charset="-122"/>
                <a:cs typeface="Arial" pitchFamily="34" charset="-120"/>
              </a:rPr>
              <a:t>pointers improve</a:t>
            </a:r>
            <a:endParaRPr lang="en-US" sz="1350" dirty="0"/>
          </a:p>
        </p:txBody>
      </p:sp>
      <p:sp>
        <p:nvSpPr>
          <p:cNvPr id="7" name="Text 5"/>
          <p:cNvSpPr/>
          <p:nvPr/>
        </p:nvSpPr>
        <p:spPr>
          <a:xfrm>
            <a:off x="548640" y="3383280"/>
            <a:ext cx="2377440" cy="822960"/>
          </a:xfrm>
          <a:prstGeom prst="roundRect">
            <a:avLst>
              <a:gd name="adj" fmla="val 13333"/>
            </a:avLst>
          </a:prstGeom>
          <a:solidFill>
            <a:srgbClr val="DDF2EE"/>
          </a:solidFill>
          <a:ln>
            <a:solidFill>
              <a:srgbClr val="DDF2EE"/>
            </a:solidFill>
          </a:ln>
        </p:spPr>
        <p:txBody>
          <a:bodyPr wrap="square" lIns="50800" tIns="50800" rIns="50800" bIns="50800" rtlCol="0" anchor="ctr"/>
          <a:lstStyle/>
          <a:p>
            <a:pPr algn="ctr" indent="0" marL="0">
              <a:buNone/>
            </a:pPr>
            <a:r>
              <a:rPr lang="en-US" sz="1350" b="1" dirty="0">
                <a:solidFill>
                  <a:srgbClr val="14213D"/>
                </a:solidFill>
                <a:latin typeface="Arial" pitchFamily="34" charset="0"/>
                <a:ea typeface="Arial" pitchFamily="34" charset="-122"/>
                <a:cs typeface="Arial" pitchFamily="34" charset="-120"/>
              </a:rPr>
              <a:t>The next PR arrives cleaner</a:t>
            </a:r>
            <a:endParaRPr lang="en-US" sz="1350" dirty="0"/>
          </a:p>
        </p:txBody>
      </p:sp>
      <p:sp>
        <p:nvSpPr>
          <p:cNvPr id="8" name="Shape 6"/>
          <p:cNvSpPr/>
          <p:nvPr/>
        </p:nvSpPr>
        <p:spPr>
          <a:xfrm>
            <a:off x="4937760" y="2103120"/>
            <a:ext cx="777240" cy="1261872"/>
          </a:xfrm>
          <a:prstGeom prst="line">
            <a:avLst/>
          </a:prstGeom>
          <a:noFill/>
          <a:ln w="25400">
            <a:solidFill>
              <a:srgbClr val="7C4DDB"/>
            </a:solidFill>
            <a:prstDash val="solid"/>
            <a:tailEnd type="triangle"/>
          </a:ln>
        </p:spPr>
      </p:sp>
      <p:sp>
        <p:nvSpPr>
          <p:cNvPr id="9" name="Shape 7"/>
          <p:cNvSpPr/>
          <p:nvPr/>
        </p:nvSpPr>
        <p:spPr>
          <a:xfrm flipH="1">
            <a:off x="4937760" y="4224528"/>
            <a:ext cx="777240" cy="1307592"/>
          </a:xfrm>
          <a:prstGeom prst="line">
            <a:avLst/>
          </a:prstGeom>
          <a:noFill/>
          <a:ln w="25400">
            <a:solidFill>
              <a:srgbClr val="7C4DDB"/>
            </a:solidFill>
            <a:prstDash val="solid"/>
            <a:tailEnd type="triangle"/>
          </a:ln>
        </p:spPr>
      </p:sp>
      <p:sp>
        <p:nvSpPr>
          <p:cNvPr id="10" name="Shape 8"/>
          <p:cNvSpPr/>
          <p:nvPr/>
        </p:nvSpPr>
        <p:spPr>
          <a:xfrm flipH="1" flipV="1">
            <a:off x="1737360" y="4224528"/>
            <a:ext cx="822960" cy="1307592"/>
          </a:xfrm>
          <a:prstGeom prst="line">
            <a:avLst/>
          </a:prstGeom>
          <a:noFill/>
          <a:ln w="25400">
            <a:solidFill>
              <a:srgbClr val="7C4DDB"/>
            </a:solidFill>
            <a:prstDash val="solid"/>
            <a:tailEnd type="triangle"/>
          </a:ln>
        </p:spPr>
      </p:sp>
      <p:sp>
        <p:nvSpPr>
          <p:cNvPr id="11" name="Shape 9"/>
          <p:cNvSpPr/>
          <p:nvPr/>
        </p:nvSpPr>
        <p:spPr>
          <a:xfrm flipV="1">
            <a:off x="1737360" y="2103120"/>
            <a:ext cx="822960" cy="1261872"/>
          </a:xfrm>
          <a:prstGeom prst="line">
            <a:avLst/>
          </a:prstGeom>
          <a:noFill/>
          <a:ln w="25400">
            <a:solidFill>
              <a:srgbClr val="7C4DDB"/>
            </a:solidFill>
            <a:prstDash val="solid"/>
            <a:tailEnd type="triangle"/>
          </a:ln>
        </p:spPr>
      </p:sp>
      <p:pic>
        <p:nvPicPr>
          <p:cNvPr id="12" name="Image 0" descr="preencoded.png">    </p:cNvPr>
          <p:cNvPicPr>
            <a:picLocks noChangeAspect="1"/>
          </p:cNvPicPr>
          <p:nvPr/>
        </p:nvPicPr>
        <p:blipFill>
          <a:blip r:embed="rId1"/>
          <a:stretch>
            <a:fillRect/>
          </a:stretch>
        </p:blipFill>
        <p:spPr>
          <a:xfrm>
            <a:off x="3337560" y="3383280"/>
            <a:ext cx="822960" cy="822960"/>
          </a:xfrm>
          <a:prstGeom prst="rect">
            <a:avLst/>
          </a:prstGeom>
        </p:spPr>
      </p:pic>
      <p:sp>
        <p:nvSpPr>
          <p:cNvPr id="13" name="Text 10"/>
          <p:cNvSpPr txBox="1"/>
          <p:nvPr/>
        </p:nvSpPr>
        <p:spPr>
          <a:xfrm>
            <a:off x="7223760" y="1600200"/>
            <a:ext cx="4434840" cy="868680"/>
          </a:xfrm>
          <a:prstGeom prst="rect">
            <a:avLst/>
          </a:prstGeom>
          <a:noFill/>
          <a:ln/>
        </p:spPr>
        <p:txBody>
          <a:bodyPr wrap="square" lIns="0" tIns="0" rIns="0" bIns="0" rtlCol="0" anchor="t"/>
          <a:lstStyle/>
          <a:p>
            <a:pPr indent="0" marL="0">
              <a:buNone/>
            </a:pPr>
            <a:r>
              <a:rPr lang="en-US" sz="2100" i="1" dirty="0">
                <a:solidFill>
                  <a:srgbClr val="7C4DDB"/>
                </a:solidFill>
                <a:latin typeface="Georgia" pitchFamily="34" charset="0"/>
                <a:ea typeface="Georgia" pitchFamily="34" charset="-122"/>
                <a:cs typeface="Georgia" pitchFamily="34" charset="-120"/>
              </a:rPr>
              <a:t>"Never write the same review comment twice."</a:t>
            </a:r>
            <a:endParaRPr lang="en-US" sz="2100" dirty="0"/>
          </a:p>
        </p:txBody>
      </p:sp>
      <p:sp>
        <p:nvSpPr>
          <p:cNvPr id="14" name="Text 11"/>
          <p:cNvSpPr txBox="1"/>
          <p:nvPr/>
        </p:nvSpPr>
        <p:spPr>
          <a:xfrm>
            <a:off x="7223760" y="2606040"/>
            <a:ext cx="4389120" cy="274320"/>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WHAT /RETRO PROPOSES</a:t>
            </a:r>
            <a:endParaRPr lang="en-US" sz="1000" dirty="0"/>
          </a:p>
        </p:txBody>
      </p:sp>
      <p:sp>
        <p:nvSpPr>
          <p:cNvPr id="15" name="Shape 12"/>
          <p:cNvSpPr/>
          <p:nvPr/>
        </p:nvSpPr>
        <p:spPr>
          <a:xfrm>
            <a:off x="7223760" y="2962656"/>
            <a:ext cx="384048" cy="384048"/>
          </a:xfrm>
          <a:prstGeom prst="ellipse">
            <a:avLst/>
          </a:prstGeom>
          <a:solidFill>
            <a:srgbClr val="1F9E89"/>
          </a:solidFill>
          <a:ln w="12700">
            <a:solidFill>
              <a:srgbClr val="1F9E89"/>
            </a:solidFill>
            <a:prstDash val="solid"/>
          </a:ln>
        </p:spPr>
      </p:sp>
      <p:pic>
        <p:nvPicPr>
          <p:cNvPr id="16" name="Image 1" descr="preencoded.png">    </p:cNvPr>
          <p:cNvPicPr>
            <a:picLocks noChangeAspect="1"/>
          </p:cNvPicPr>
          <p:nvPr/>
        </p:nvPicPr>
        <p:blipFill>
          <a:blip r:embed="rId2"/>
          <a:stretch>
            <a:fillRect/>
          </a:stretch>
        </p:blipFill>
        <p:spPr>
          <a:xfrm>
            <a:off x="7315932" y="3054828"/>
            <a:ext cx="199705" cy="199705"/>
          </a:xfrm>
          <a:prstGeom prst="rect">
            <a:avLst/>
          </a:prstGeom>
        </p:spPr>
      </p:pic>
      <p:sp>
        <p:nvSpPr>
          <p:cNvPr id="17" name="Text 13"/>
          <p:cNvSpPr txBox="1"/>
          <p:nvPr/>
        </p:nvSpPr>
        <p:spPr>
          <a:xfrm>
            <a:off x="7726680" y="2926080"/>
            <a:ext cx="393192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An automated check, for a mechanical mistake</a:t>
            </a:r>
            <a:endParaRPr lang="en-US" sz="1250" dirty="0"/>
          </a:p>
        </p:txBody>
      </p:sp>
      <p:sp>
        <p:nvSpPr>
          <p:cNvPr id="18" name="Shape 14"/>
          <p:cNvSpPr/>
          <p:nvPr/>
        </p:nvSpPr>
        <p:spPr>
          <a:xfrm>
            <a:off x="7223760" y="3493008"/>
            <a:ext cx="384048" cy="384048"/>
          </a:xfrm>
          <a:prstGeom prst="ellipse">
            <a:avLst/>
          </a:prstGeom>
          <a:solidFill>
            <a:srgbClr val="4F5BD5"/>
          </a:solidFill>
          <a:ln w="12700">
            <a:solidFill>
              <a:srgbClr val="4F5BD5"/>
            </a:solidFill>
            <a:prstDash val="solid"/>
          </a:ln>
        </p:spPr>
      </p:sp>
      <p:pic>
        <p:nvPicPr>
          <p:cNvPr id="19" name="Image 2" descr="preencoded.png">    </p:cNvPr>
          <p:cNvPicPr>
            <a:picLocks noChangeAspect="1"/>
          </p:cNvPicPr>
          <p:nvPr/>
        </p:nvPicPr>
        <p:blipFill>
          <a:blip r:embed="rId3"/>
          <a:stretch>
            <a:fillRect/>
          </a:stretch>
        </p:blipFill>
        <p:spPr>
          <a:xfrm>
            <a:off x="7315932" y="3585180"/>
            <a:ext cx="199705" cy="199705"/>
          </a:xfrm>
          <a:prstGeom prst="rect">
            <a:avLst/>
          </a:prstGeom>
        </p:spPr>
      </p:pic>
      <p:sp>
        <p:nvSpPr>
          <p:cNvPr id="20" name="Text 15"/>
          <p:cNvSpPr txBox="1"/>
          <p:nvPr/>
        </p:nvSpPr>
        <p:spPr>
          <a:xfrm>
            <a:off x="7726680" y="3456432"/>
            <a:ext cx="393192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A CODING_STANDARDS.md rule, for a judgment call</a:t>
            </a:r>
            <a:endParaRPr lang="en-US" sz="1250" dirty="0"/>
          </a:p>
        </p:txBody>
      </p:sp>
      <p:sp>
        <p:nvSpPr>
          <p:cNvPr id="21" name="Shape 16"/>
          <p:cNvSpPr/>
          <p:nvPr/>
        </p:nvSpPr>
        <p:spPr>
          <a:xfrm>
            <a:off x="7223760" y="4023360"/>
            <a:ext cx="384048" cy="384048"/>
          </a:xfrm>
          <a:prstGeom prst="ellipse">
            <a:avLst/>
          </a:prstGeom>
          <a:solidFill>
            <a:srgbClr val="14213D"/>
          </a:solidFill>
          <a:ln w="12700">
            <a:solidFill>
              <a:srgbClr val="14213D"/>
            </a:solidFill>
            <a:prstDash val="solid"/>
          </a:ln>
        </p:spPr>
      </p:sp>
      <p:pic>
        <p:nvPicPr>
          <p:cNvPr id="22" name="Image 3" descr="preencoded.png">    </p:cNvPr>
          <p:cNvPicPr>
            <a:picLocks noChangeAspect="1"/>
          </p:cNvPicPr>
          <p:nvPr/>
        </p:nvPicPr>
        <p:blipFill>
          <a:blip r:embed="rId4"/>
          <a:stretch>
            <a:fillRect/>
          </a:stretch>
        </p:blipFill>
        <p:spPr>
          <a:xfrm>
            <a:off x="7315932" y="4115532"/>
            <a:ext cx="199705" cy="199705"/>
          </a:xfrm>
          <a:prstGeom prst="rect">
            <a:avLst/>
          </a:prstGeom>
        </p:spPr>
      </p:pic>
      <p:sp>
        <p:nvSpPr>
          <p:cNvPr id="23" name="Text 17"/>
          <p:cNvSpPr txBox="1"/>
          <p:nvPr/>
        </p:nvSpPr>
        <p:spPr>
          <a:xfrm>
            <a:off x="7726680" y="3986784"/>
            <a:ext cx="393192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A pointer in AGENTS.md, where the agent searched too long</a:t>
            </a:r>
            <a:endParaRPr lang="en-US" sz="1250" dirty="0"/>
          </a:p>
        </p:txBody>
      </p:sp>
      <p:sp>
        <p:nvSpPr>
          <p:cNvPr id="24" name="Shape 18"/>
          <p:cNvSpPr/>
          <p:nvPr/>
        </p:nvSpPr>
        <p:spPr>
          <a:xfrm>
            <a:off x="7223760" y="4553712"/>
            <a:ext cx="384048" cy="384048"/>
          </a:xfrm>
          <a:prstGeom prst="ellipse">
            <a:avLst/>
          </a:prstGeom>
          <a:solidFill>
            <a:srgbClr val="E0962B"/>
          </a:solidFill>
          <a:ln w="12700">
            <a:solidFill>
              <a:srgbClr val="E0962B"/>
            </a:solidFill>
            <a:prstDash val="solid"/>
          </a:ln>
        </p:spPr>
      </p:sp>
      <p:pic>
        <p:nvPicPr>
          <p:cNvPr id="25" name="Image 4" descr="preencoded.png">    </p:cNvPr>
          <p:cNvPicPr>
            <a:picLocks noChangeAspect="1"/>
          </p:cNvPicPr>
          <p:nvPr/>
        </p:nvPicPr>
        <p:blipFill>
          <a:blip r:embed="rId5"/>
          <a:stretch>
            <a:fillRect/>
          </a:stretch>
        </p:blipFill>
        <p:spPr>
          <a:xfrm>
            <a:off x="7315932" y="4645884"/>
            <a:ext cx="199705" cy="199705"/>
          </a:xfrm>
          <a:prstGeom prst="rect">
            <a:avLst/>
          </a:prstGeom>
        </p:spPr>
      </p:pic>
      <p:sp>
        <p:nvSpPr>
          <p:cNvPr id="26" name="Text 19"/>
          <p:cNvSpPr txBox="1"/>
          <p:nvPr/>
        </p:nvSpPr>
        <p:spPr>
          <a:xfrm>
            <a:off x="7726680" y="4517136"/>
            <a:ext cx="393192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A cheaper tool, where a tool call burned tokens</a:t>
            </a:r>
            <a:endParaRPr lang="en-US" sz="1250" dirty="0"/>
          </a:p>
        </p:txBody>
      </p:sp>
      <p:sp>
        <p:nvSpPr>
          <p:cNvPr id="27" name="Shape 20"/>
          <p:cNvSpPr/>
          <p:nvPr/>
        </p:nvSpPr>
        <p:spPr>
          <a:xfrm>
            <a:off x="7223760" y="5084064"/>
            <a:ext cx="384048" cy="384048"/>
          </a:xfrm>
          <a:prstGeom prst="ellipse">
            <a:avLst/>
          </a:prstGeom>
          <a:solidFill>
            <a:srgbClr val="D64545"/>
          </a:solidFill>
          <a:ln w="12700">
            <a:solidFill>
              <a:srgbClr val="D64545"/>
            </a:solidFill>
            <a:prstDash val="solid"/>
          </a:ln>
        </p:spPr>
      </p:sp>
      <p:pic>
        <p:nvPicPr>
          <p:cNvPr id="28" name="Image 5" descr="preencoded.png">    </p:cNvPr>
          <p:cNvPicPr>
            <a:picLocks noChangeAspect="1"/>
          </p:cNvPicPr>
          <p:nvPr/>
        </p:nvPicPr>
        <p:blipFill>
          <a:blip r:embed="rId6"/>
          <a:stretch>
            <a:fillRect/>
          </a:stretch>
        </p:blipFill>
        <p:spPr>
          <a:xfrm>
            <a:off x="7315932" y="5176236"/>
            <a:ext cx="199705" cy="199705"/>
          </a:xfrm>
          <a:prstGeom prst="rect">
            <a:avLst/>
          </a:prstGeom>
        </p:spPr>
      </p:pic>
      <p:sp>
        <p:nvSpPr>
          <p:cNvPr id="29" name="Text 21"/>
          <p:cNvSpPr txBox="1"/>
          <p:nvPr/>
        </p:nvSpPr>
        <p:spPr>
          <a:xfrm>
            <a:off x="7726680" y="5047488"/>
            <a:ext cx="3931920" cy="45720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Cuts to bloated steering files and skills</a:t>
            </a:r>
            <a:endParaRPr lang="en-US" sz="1250" dirty="0"/>
          </a:p>
        </p:txBody>
      </p:sp>
      <p:sp>
        <p:nvSpPr>
          <p:cNvPr id="30" name="Text 22"/>
          <p:cNvSpPr txBox="1"/>
          <p:nvPr/>
        </p:nvSpPr>
        <p:spPr>
          <a:xfrm>
            <a:off x="7223760" y="5669280"/>
            <a:ext cx="4434840" cy="457200"/>
          </a:xfrm>
          <a:prstGeom prst="rect">
            <a:avLst/>
          </a:prstGeom>
          <a:noFill/>
          <a:ln/>
        </p:spPr>
        <p:txBody>
          <a:bodyPr wrap="square" lIns="0" tIns="0" rIns="0" bIns="0" rtlCol="0" anchor="t"/>
          <a:lstStyle/>
          <a:p>
            <a:pPr indent="0" marL="0">
              <a:buNone/>
            </a:pPr>
            <a:r>
              <a:rPr lang="en-US" sz="1250" b="1" dirty="0">
                <a:solidFill>
                  <a:srgbClr val="7C4DDB"/>
                </a:solidFill>
                <a:latin typeface="Arial" pitchFamily="34" charset="0"/>
                <a:ea typeface="Arial" pitchFamily="34" charset="-122"/>
                <a:cs typeface="Arial" pitchFamily="34" charset="-120"/>
              </a:rPr>
              <a:t>Every human review then makes the next human review cheaper.</a:t>
            </a:r>
            <a:endParaRPr lang="en-US" sz="1250" dirty="0"/>
          </a:p>
        </p:txBody>
      </p:sp>
      <p:sp>
        <p:nvSpPr>
          <p:cNvPr id="31" name="Text 23"/>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 Categories from the retro skill.</a:t>
            </a:r>
            <a:endParaRPr lang="en-US" sz="900" dirty="0"/>
          </a:p>
        </p:txBody>
      </p:sp>
      <p:sp>
        <p:nvSpPr>
          <p:cNvPr id="32" name="Text 24"/>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9184"/>
            <a:ext cx="804672"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RECAP</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Matt's playbook on one slide</a:t>
            </a:r>
            <a:endParaRPr lang="en-US" sz="2800" dirty="0"/>
          </a:p>
        </p:txBody>
      </p:sp>
      <p:sp>
        <p:nvSpPr>
          <p:cNvPr id="4" name="Shape 2"/>
          <p:cNvSpPr/>
          <p:nvPr/>
        </p:nvSpPr>
        <p:spPr>
          <a:xfrm>
            <a:off x="548640" y="1572768"/>
            <a:ext cx="5486400" cy="1207008"/>
          </a:xfrm>
          <a:prstGeom prst="roundRect">
            <a:avLst>
              <a:gd name="adj" fmla="val 7576"/>
            </a:avLst>
          </a:prstGeom>
          <a:solidFill>
            <a:srgbClr val="F1F4F9"/>
          </a:solidFill>
          <a:ln w="12700">
            <a:solidFill>
              <a:srgbClr val="F1F4F9"/>
            </a:solidFill>
            <a:prstDash val="solid"/>
          </a:ln>
        </p:spPr>
      </p:sp>
      <p:sp>
        <p:nvSpPr>
          <p:cNvPr id="5" name="Text 3"/>
          <p:cNvSpPr/>
          <p:nvPr/>
        </p:nvSpPr>
        <p:spPr>
          <a:xfrm>
            <a:off x="804672" y="1874520"/>
            <a:ext cx="603504" cy="603504"/>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645920" y="17556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Layer on cheap checks.</a:t>
            </a:r>
            <a:endParaRPr lang="en-US" sz="1700" dirty="0"/>
          </a:p>
        </p:txBody>
      </p:sp>
      <p:sp>
        <p:nvSpPr>
          <p:cNvPr id="7" name="Text 5"/>
          <p:cNvSpPr txBox="1"/>
          <p:nvPr/>
        </p:nvSpPr>
        <p:spPr>
          <a:xfrm>
            <a:off x="1645920" y="21762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Lint, types, tests and metrics cost CPU cycles, not attention.</a:t>
            </a:r>
            <a:endParaRPr lang="en-US" sz="1300" dirty="0"/>
          </a:p>
        </p:txBody>
      </p:sp>
      <p:sp>
        <p:nvSpPr>
          <p:cNvPr id="8" name="Shape 6"/>
          <p:cNvSpPr/>
          <p:nvPr/>
        </p:nvSpPr>
        <p:spPr>
          <a:xfrm>
            <a:off x="6144768" y="1572768"/>
            <a:ext cx="5486400" cy="1207008"/>
          </a:xfrm>
          <a:prstGeom prst="roundRect">
            <a:avLst>
              <a:gd name="adj" fmla="val 7576"/>
            </a:avLst>
          </a:prstGeom>
          <a:solidFill>
            <a:srgbClr val="F1F4F9"/>
          </a:solidFill>
          <a:ln w="12700">
            <a:solidFill>
              <a:srgbClr val="F1F4F9"/>
            </a:solidFill>
            <a:prstDash val="solid"/>
          </a:ln>
        </p:spPr>
      </p:sp>
      <p:sp>
        <p:nvSpPr>
          <p:cNvPr id="9" name="Text 7"/>
          <p:cNvSpPr/>
          <p:nvPr/>
        </p:nvSpPr>
        <p:spPr>
          <a:xfrm>
            <a:off x="6400800" y="1874520"/>
            <a:ext cx="603504" cy="603504"/>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7242048" y="17556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Give coding standards to the reviewer.</a:t>
            </a:r>
            <a:endParaRPr lang="en-US" sz="1700" dirty="0"/>
          </a:p>
        </p:txBody>
      </p:sp>
      <p:sp>
        <p:nvSpPr>
          <p:cNvPr id="11" name="Text 9"/>
          <p:cNvSpPr txBox="1"/>
          <p:nvPr/>
        </p:nvSpPr>
        <p:spPr>
          <a:xfrm>
            <a:off x="7242048" y="21762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The implementer's context window is already full.</a:t>
            </a:r>
            <a:endParaRPr lang="en-US" sz="1300" dirty="0"/>
          </a:p>
        </p:txBody>
      </p:sp>
      <p:sp>
        <p:nvSpPr>
          <p:cNvPr id="12" name="Shape 10"/>
          <p:cNvSpPr/>
          <p:nvPr/>
        </p:nvSpPr>
        <p:spPr>
          <a:xfrm>
            <a:off x="548640" y="2944368"/>
            <a:ext cx="5486400" cy="1207008"/>
          </a:xfrm>
          <a:prstGeom prst="roundRect">
            <a:avLst>
              <a:gd name="adj" fmla="val 7576"/>
            </a:avLst>
          </a:prstGeom>
          <a:solidFill>
            <a:srgbClr val="F1F4F9"/>
          </a:solidFill>
          <a:ln w="12700">
            <a:solidFill>
              <a:srgbClr val="F1F4F9"/>
            </a:solidFill>
            <a:prstDash val="solid"/>
          </a:ln>
        </p:spPr>
      </p:sp>
      <p:sp>
        <p:nvSpPr>
          <p:cNvPr id="13" name="Text 11"/>
          <p:cNvSpPr/>
          <p:nvPr/>
        </p:nvSpPr>
        <p:spPr>
          <a:xfrm>
            <a:off x="804672" y="3246120"/>
            <a:ext cx="603504" cy="603504"/>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1645920" y="31272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Design deep modules.</a:t>
            </a:r>
            <a:endParaRPr lang="en-US" sz="1700" dirty="0"/>
          </a:p>
        </p:txBody>
      </p:sp>
      <p:sp>
        <p:nvSpPr>
          <p:cNvPr id="15" name="Text 13"/>
          <p:cNvSpPr txBox="1"/>
          <p:nvPr/>
        </p:nvSpPr>
        <p:spPr>
          <a:xfrm>
            <a:off x="1645920" y="35478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Small interfaces make honest tests the easy path.</a:t>
            </a:r>
            <a:endParaRPr lang="en-US" sz="1300" dirty="0"/>
          </a:p>
        </p:txBody>
      </p:sp>
      <p:sp>
        <p:nvSpPr>
          <p:cNvPr id="16" name="Shape 14"/>
          <p:cNvSpPr/>
          <p:nvPr/>
        </p:nvSpPr>
        <p:spPr>
          <a:xfrm>
            <a:off x="6144768" y="2944368"/>
            <a:ext cx="5486400" cy="1207008"/>
          </a:xfrm>
          <a:prstGeom prst="roundRect">
            <a:avLst>
              <a:gd name="adj" fmla="val 7576"/>
            </a:avLst>
          </a:prstGeom>
          <a:solidFill>
            <a:srgbClr val="F1F4F9"/>
          </a:solidFill>
          <a:ln w="12700">
            <a:solidFill>
              <a:srgbClr val="F1F4F9"/>
            </a:solidFill>
            <a:prstDash val="solid"/>
          </a:ln>
        </p:spPr>
      </p:sp>
      <p:sp>
        <p:nvSpPr>
          <p:cNvPr id="17" name="Text 15"/>
          <p:cNvSpPr/>
          <p:nvPr/>
        </p:nvSpPr>
        <p:spPr>
          <a:xfrm>
            <a:off x="6400800" y="3246120"/>
            <a:ext cx="603504" cy="603504"/>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8" name="Text 16"/>
          <p:cNvSpPr txBox="1"/>
          <p:nvPr/>
        </p:nvSpPr>
        <p:spPr>
          <a:xfrm>
            <a:off x="7242048" y="31272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Own your reviewer and let it commit.</a:t>
            </a:r>
            <a:endParaRPr lang="en-US" sz="1700" dirty="0"/>
          </a:p>
        </p:txBody>
      </p:sp>
      <p:sp>
        <p:nvSpPr>
          <p:cNvPr id="19" name="Text 17"/>
          <p:cNvSpPr txBox="1"/>
          <p:nvPr/>
        </p:nvSpPr>
        <p:spPr>
          <a:xfrm>
            <a:off x="7242048" y="35478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Comments are work for humans. Commits are not.</a:t>
            </a:r>
            <a:endParaRPr lang="en-US" sz="1300" dirty="0"/>
          </a:p>
        </p:txBody>
      </p:sp>
      <p:sp>
        <p:nvSpPr>
          <p:cNvPr id="20" name="Shape 18"/>
          <p:cNvSpPr/>
          <p:nvPr/>
        </p:nvSpPr>
        <p:spPr>
          <a:xfrm>
            <a:off x="548640" y="4315968"/>
            <a:ext cx="5486400" cy="1207008"/>
          </a:xfrm>
          <a:prstGeom prst="roundRect">
            <a:avLst>
              <a:gd name="adj" fmla="val 7576"/>
            </a:avLst>
          </a:prstGeom>
          <a:solidFill>
            <a:srgbClr val="F1F4F9"/>
          </a:solidFill>
          <a:ln w="12700">
            <a:solidFill>
              <a:srgbClr val="F1F4F9"/>
            </a:solidFill>
            <a:prstDash val="solid"/>
          </a:ln>
        </p:spPr>
      </p:sp>
      <p:sp>
        <p:nvSpPr>
          <p:cNvPr id="21" name="Text 19"/>
          <p:cNvSpPr/>
          <p:nvPr/>
        </p:nvSpPr>
        <p:spPr>
          <a:xfrm>
            <a:off x="804672" y="4617720"/>
            <a:ext cx="603504" cy="603504"/>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2" name="Text 20"/>
          <p:cNvSpPr txBox="1"/>
          <p:nvPr/>
        </p:nvSpPr>
        <p:spPr>
          <a:xfrm>
            <a:off x="1645920" y="44988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Write the PR for the human.</a:t>
            </a:r>
            <a:endParaRPr lang="en-US" sz="1700" dirty="0"/>
          </a:p>
        </p:txBody>
      </p:sp>
      <p:sp>
        <p:nvSpPr>
          <p:cNvPr id="23" name="Text 21"/>
          <p:cNvSpPr txBox="1"/>
          <p:nvPr/>
        </p:nvSpPr>
        <p:spPr>
          <a:xfrm>
            <a:off x="1645920" y="49194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Door, blast radius and a picture of the change.</a:t>
            </a:r>
            <a:endParaRPr lang="en-US" sz="1300" dirty="0"/>
          </a:p>
        </p:txBody>
      </p:sp>
      <p:sp>
        <p:nvSpPr>
          <p:cNvPr id="24" name="Shape 22"/>
          <p:cNvSpPr/>
          <p:nvPr/>
        </p:nvSpPr>
        <p:spPr>
          <a:xfrm>
            <a:off x="6144768" y="4315968"/>
            <a:ext cx="5486400" cy="1207008"/>
          </a:xfrm>
          <a:prstGeom prst="roundRect">
            <a:avLst>
              <a:gd name="adj" fmla="val 7576"/>
            </a:avLst>
          </a:prstGeom>
          <a:solidFill>
            <a:srgbClr val="F1F4F9"/>
          </a:solidFill>
          <a:ln w="12700">
            <a:solidFill>
              <a:srgbClr val="F1F4F9"/>
            </a:solidFill>
            <a:prstDash val="solid"/>
          </a:ln>
        </p:spPr>
      </p:sp>
      <p:sp>
        <p:nvSpPr>
          <p:cNvPr id="25" name="Text 23"/>
          <p:cNvSpPr/>
          <p:nvPr/>
        </p:nvSpPr>
        <p:spPr>
          <a:xfrm>
            <a:off x="6400800" y="4617720"/>
            <a:ext cx="603504" cy="603504"/>
          </a:xfrm>
          <a:prstGeom prst="roundRect">
            <a:avLst>
              <a:gd name="adj" fmla="val 50000"/>
            </a:avLst>
          </a:prstGeom>
          <a:solidFill>
            <a:srgbClr val="7C4DDB"/>
          </a:solidFill>
          <a:ln>
            <a:solidFill>
              <a:srgbClr val="7C4DDB"/>
            </a:solid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6" name="Text 24"/>
          <p:cNvSpPr txBox="1"/>
          <p:nvPr/>
        </p:nvSpPr>
        <p:spPr>
          <a:xfrm>
            <a:off x="7242048" y="4498848"/>
            <a:ext cx="4206240" cy="411480"/>
          </a:xfrm>
          <a:prstGeom prst="rect">
            <a:avLst/>
          </a:prstGeom>
          <a:noFill/>
          <a:ln/>
        </p:spPr>
        <p:txBody>
          <a:bodyPr wrap="square" lIns="0" tIns="0" rIns="0" bIns="0" rtlCol="0" anchor="ctr"/>
          <a:lstStyle/>
          <a:p>
            <a:pPr indent="0" marL="0">
              <a:buNone/>
            </a:pPr>
            <a:r>
              <a:rPr lang="en-US" sz="1700" b="1" dirty="0">
                <a:solidFill>
                  <a:srgbClr val="14213D"/>
                </a:solidFill>
                <a:latin typeface="Arial" pitchFamily="34" charset="0"/>
                <a:ea typeface="Arial" pitchFamily="34" charset="-122"/>
                <a:cs typeface="Arial" pitchFamily="34" charset="-120"/>
              </a:rPr>
              <a:t>Run a retro on your reviews.</a:t>
            </a:r>
            <a:endParaRPr lang="en-US" sz="1700" dirty="0"/>
          </a:p>
        </p:txBody>
      </p:sp>
      <p:sp>
        <p:nvSpPr>
          <p:cNvPr id="27" name="Text 25"/>
          <p:cNvSpPr txBox="1"/>
          <p:nvPr/>
        </p:nvSpPr>
        <p:spPr>
          <a:xfrm>
            <a:off x="7242048" y="4919472"/>
            <a:ext cx="4206240" cy="411480"/>
          </a:xfrm>
          <a:prstGeom prst="rect">
            <a:avLst/>
          </a:prstGeom>
          <a:noFill/>
          <a:ln/>
        </p:spPr>
        <p:txBody>
          <a:bodyPr wrap="square" lIns="0" tIns="0" rIns="0" bIns="0" rtlCol="0" anchor="ctr"/>
          <a:lstStyle/>
          <a:p>
            <a:pPr indent="0" marL="0">
              <a:buNone/>
            </a:pPr>
            <a:r>
              <a:rPr lang="en-US" sz="1300" dirty="0">
                <a:solidFill>
                  <a:srgbClr val="4A5468"/>
                </a:solidFill>
                <a:latin typeface="Arial" pitchFamily="34" charset="0"/>
                <a:ea typeface="Arial" pitchFamily="34" charset="-122"/>
                <a:cs typeface="Arial" pitchFamily="34" charset="-120"/>
              </a:rPr>
              <a:t>A repeated comment becomes a check or a rule.</a:t>
            </a:r>
            <a:endParaRPr lang="en-US" sz="1300" dirty="0"/>
          </a:p>
        </p:txBody>
      </p:sp>
      <p:sp>
        <p:nvSpPr>
          <p:cNvPr id="28" name="Text 26"/>
          <p:cNvSpPr/>
          <p:nvPr/>
        </p:nvSpPr>
        <p:spPr>
          <a:xfrm>
            <a:off x="548640" y="5760720"/>
            <a:ext cx="11094415" cy="502920"/>
          </a:xfrm>
          <a:prstGeom prst="roundRect">
            <a:avLst>
              <a:gd name="adj" fmla="val 14545"/>
            </a:avLst>
          </a:prstGeom>
          <a:solidFill>
            <a:srgbClr val="14213D"/>
          </a:solidFill>
          <a:ln>
            <a:solidFill>
              <a:srgbClr val="14213D"/>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The goal: human review gets faster, and optional for two-way doors.</a:t>
            </a:r>
            <a:endParaRPr lang="en-US" sz="1500" dirty="0"/>
          </a:p>
        </p:txBody>
      </p:sp>
      <p:sp>
        <p:nvSpPr>
          <p:cNvPr id="29" name="Text 27"/>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30" name="Text 28"/>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828800"/>
            <a:ext cx="5486400" cy="274320"/>
          </a:xfrm>
          <a:prstGeom prst="rect">
            <a:avLst/>
          </a:prstGeom>
          <a:noFill/>
          <a:ln/>
        </p:spPr>
        <p:txBody>
          <a:bodyPr wrap="square" lIns="0" tIns="0" rIns="0" bIns="0" rtlCol="0" anchor="t"/>
          <a:lstStyle/>
          <a:p>
            <a:pPr indent="0" marL="0">
              <a:buNone/>
            </a:pPr>
            <a:r>
              <a:rPr lang="en-US" sz="1200" b="1" spc="300" kern="0" dirty="0">
                <a:solidFill>
                  <a:srgbClr val="F26B38"/>
                </a:solidFill>
                <a:latin typeface="Arial" pitchFamily="34" charset="0"/>
                <a:ea typeface="Arial" pitchFamily="34" charset="-122"/>
                <a:cs typeface="Arial" pitchFamily="34" charset="-120"/>
              </a:rPr>
              <a:t>PART 2</a:t>
            </a:r>
            <a:endParaRPr lang="en-US" sz="1200" dirty="0"/>
          </a:p>
        </p:txBody>
      </p:sp>
      <p:sp>
        <p:nvSpPr>
          <p:cNvPr id="3" name="Text 1"/>
          <p:cNvSpPr txBox="1"/>
          <p:nvPr/>
        </p:nvSpPr>
        <p:spPr>
          <a:xfrm>
            <a:off x="731520" y="2194560"/>
            <a:ext cx="6583680" cy="155448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How agent-ready builds the brakes into our repos</a:t>
            </a:r>
            <a:endParaRPr lang="en-US" sz="4000" dirty="0"/>
          </a:p>
        </p:txBody>
      </p:sp>
      <p:sp>
        <p:nvSpPr>
          <p:cNvPr id="4" name="Text 2"/>
          <p:cNvSpPr txBox="1"/>
          <p:nvPr/>
        </p:nvSpPr>
        <p:spPr>
          <a:xfrm>
            <a:off x="731520" y="3886200"/>
            <a:ext cx="6400800" cy="457200"/>
          </a:xfrm>
          <a:prstGeom prst="rect">
            <a:avLst/>
          </a:prstGeom>
          <a:noFill/>
          <a:ln/>
        </p:spPr>
        <p:txBody>
          <a:bodyPr wrap="square" lIns="0" tIns="0" rIns="0" bIns="0" rtlCol="0" anchor="t"/>
          <a:lstStyle/>
          <a:p>
            <a:pPr indent="0" marL="0">
              <a:buNone/>
            </a:pPr>
            <a:r>
              <a:rPr lang="en-US" sz="1900" dirty="0">
                <a:solidFill>
                  <a:srgbClr val="C9D2E3"/>
                </a:solidFill>
                <a:latin typeface="Arial" pitchFamily="34" charset="0"/>
                <a:ea typeface="Arial" pitchFamily="34" charset="-122"/>
                <a:cs typeface="Arial" pitchFamily="34" charset="-120"/>
              </a:rPr>
              <a:t>Compared with Superpowers, one mechanism at a time</a:t>
            </a:r>
            <a:endParaRPr lang="en-US" sz="1900" dirty="0"/>
          </a:p>
        </p:txBody>
      </p:sp>
      <p:sp>
        <p:nvSpPr>
          <p:cNvPr id="5" name="Text 3"/>
          <p:cNvSpPr/>
          <p:nvPr/>
        </p:nvSpPr>
        <p:spPr>
          <a:xfrm>
            <a:off x="8503920" y="1737360"/>
            <a:ext cx="2377440" cy="658368"/>
          </a:xfrm>
          <a:prstGeom prst="roundRect">
            <a:avLst>
              <a:gd name="adj" fmla="val 16667"/>
            </a:avLst>
          </a:prstGeom>
          <a:solidFill>
            <a:srgbClr val="1F9E89"/>
          </a:solidFill>
          <a:ln>
            <a:solidFill>
              <a:srgbClr val="1F9E89"/>
            </a:solidFill>
          </a:ln>
        </p:spPr>
        <p:txBody>
          <a:bodyPr wrap="square" lIns="50800" tIns="50800" rIns="50800" bIns="508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Checks</a:t>
            </a:r>
            <a:endParaRPr lang="en-US" sz="1700" dirty="0"/>
          </a:p>
        </p:txBody>
      </p:sp>
      <p:sp>
        <p:nvSpPr>
          <p:cNvPr id="6" name="Shape 4"/>
          <p:cNvSpPr/>
          <p:nvPr/>
        </p:nvSpPr>
        <p:spPr>
          <a:xfrm>
            <a:off x="10378440" y="1892808"/>
            <a:ext cx="347472" cy="347472"/>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0461833" y="1976201"/>
            <a:ext cx="180685" cy="180685"/>
          </a:xfrm>
          <a:prstGeom prst="rect">
            <a:avLst/>
          </a:prstGeom>
        </p:spPr>
      </p:pic>
      <p:sp>
        <p:nvSpPr>
          <p:cNvPr id="8" name="Text 5"/>
          <p:cNvSpPr/>
          <p:nvPr/>
        </p:nvSpPr>
        <p:spPr>
          <a:xfrm>
            <a:off x="8503920" y="2606040"/>
            <a:ext cx="2377440" cy="658368"/>
          </a:xfrm>
          <a:prstGeom prst="roundRect">
            <a:avLst>
              <a:gd name="adj" fmla="val 16667"/>
            </a:avLst>
          </a:prstGeom>
          <a:solidFill>
            <a:srgbClr val="4F5BD5"/>
          </a:solidFill>
          <a:ln>
            <a:solidFill>
              <a:srgbClr val="4F5BD5"/>
            </a:solidFill>
          </a:ln>
        </p:spPr>
        <p:txBody>
          <a:bodyPr wrap="square" lIns="50800" tIns="50800" rIns="50800" bIns="508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Review</a:t>
            </a:r>
            <a:endParaRPr lang="en-US" sz="1700" dirty="0"/>
          </a:p>
        </p:txBody>
      </p:sp>
      <p:sp>
        <p:nvSpPr>
          <p:cNvPr id="9" name="Shape 6"/>
          <p:cNvSpPr/>
          <p:nvPr/>
        </p:nvSpPr>
        <p:spPr>
          <a:xfrm>
            <a:off x="10378440" y="2761488"/>
            <a:ext cx="347472" cy="347472"/>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10461833" y="2844881"/>
            <a:ext cx="180685" cy="180685"/>
          </a:xfrm>
          <a:prstGeom prst="rect">
            <a:avLst/>
          </a:prstGeom>
        </p:spPr>
      </p:pic>
      <p:sp>
        <p:nvSpPr>
          <p:cNvPr id="11" name="Text 7"/>
          <p:cNvSpPr/>
          <p:nvPr/>
        </p:nvSpPr>
        <p:spPr>
          <a:xfrm>
            <a:off x="8503920" y="3474720"/>
            <a:ext cx="2377440" cy="658368"/>
          </a:xfrm>
          <a:prstGeom prst="roundRect">
            <a:avLst>
              <a:gd name="adj" fmla="val 16667"/>
            </a:avLst>
          </a:prstGeom>
          <a:solidFill>
            <a:srgbClr val="F26B38"/>
          </a:solidFill>
          <a:ln>
            <a:solidFill>
              <a:srgbClr val="F26B38"/>
            </a:solidFill>
          </a:ln>
        </p:spPr>
        <p:txBody>
          <a:bodyPr wrap="square" lIns="50800" tIns="50800" rIns="50800" bIns="508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Human</a:t>
            </a:r>
            <a:endParaRPr lang="en-US" sz="1700" dirty="0"/>
          </a:p>
        </p:txBody>
      </p:sp>
      <p:sp>
        <p:nvSpPr>
          <p:cNvPr id="12" name="Shape 8"/>
          <p:cNvSpPr/>
          <p:nvPr/>
        </p:nvSpPr>
        <p:spPr>
          <a:xfrm>
            <a:off x="10378440" y="3630168"/>
            <a:ext cx="347472" cy="347472"/>
          </a:xfrm>
          <a:prstGeom prst="ellipse">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10461833" y="3713561"/>
            <a:ext cx="180685" cy="180685"/>
          </a:xfrm>
          <a:prstGeom prst="rect">
            <a:avLst/>
          </a:prstGeom>
        </p:spPr>
      </p:pic>
      <p:sp>
        <p:nvSpPr>
          <p:cNvPr id="14" name="Text 9"/>
          <p:cNvSpPr/>
          <p:nvPr/>
        </p:nvSpPr>
        <p:spPr>
          <a:xfrm>
            <a:off x="8503920" y="4343400"/>
            <a:ext cx="2377440" cy="658368"/>
          </a:xfrm>
          <a:prstGeom prst="roundRect">
            <a:avLst>
              <a:gd name="adj" fmla="val 16667"/>
            </a:avLst>
          </a:prstGeom>
          <a:solidFill>
            <a:srgbClr val="7C4DDB"/>
          </a:solidFill>
          <a:ln>
            <a:solidFill>
              <a:srgbClr val="7C4DDB"/>
            </a:solidFill>
          </a:ln>
        </p:spPr>
        <p:txBody>
          <a:bodyPr wrap="square" lIns="50800" tIns="50800" rIns="50800" bIns="5080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Loop</a:t>
            </a:r>
            <a:endParaRPr lang="en-US" sz="1700" dirty="0"/>
          </a:p>
        </p:txBody>
      </p:sp>
      <p:sp>
        <p:nvSpPr>
          <p:cNvPr id="15" name="Shape 10"/>
          <p:cNvSpPr/>
          <p:nvPr/>
        </p:nvSpPr>
        <p:spPr>
          <a:xfrm>
            <a:off x="10378440" y="4498848"/>
            <a:ext cx="347472" cy="347472"/>
          </a:xfrm>
          <a:prstGeom prst="ellipse">
            <a:avLst/>
          </a:prstGeom>
          <a:solidFill>
            <a:srgbClr val="FFFFFF"/>
          </a:solidFill>
          <a:ln w="12700">
            <a:solidFill>
              <a:srgbClr val="FFFFFF"/>
            </a:solidFill>
            <a:prstDash val="solid"/>
          </a:ln>
        </p:spPr>
      </p:sp>
      <p:pic>
        <p:nvPicPr>
          <p:cNvPr id="16" name="Image 3" descr="preencoded.png">    </p:cNvPr>
          <p:cNvPicPr>
            <a:picLocks noChangeAspect="1"/>
          </p:cNvPicPr>
          <p:nvPr/>
        </p:nvPicPr>
        <p:blipFill>
          <a:blip r:embed="rId4"/>
          <a:stretch>
            <a:fillRect/>
          </a:stretch>
        </p:blipFill>
        <p:spPr>
          <a:xfrm>
            <a:off x="10461833" y="4582241"/>
            <a:ext cx="180685" cy="180685"/>
          </a:xfrm>
          <a:prstGeom prst="rect">
            <a:avLst/>
          </a:prstGeom>
        </p:spPr>
      </p:pic>
      <p:sp>
        <p:nvSpPr>
          <p:cNvPr id="17" name="Text 11"/>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7F8BA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9184"/>
            <a:ext cx="1660550"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TWO APPROACHES</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Two answers to the same problem</a:t>
            </a:r>
            <a:endParaRPr lang="en-US" sz="2800" dirty="0"/>
          </a:p>
        </p:txBody>
      </p:sp>
      <p:sp>
        <p:nvSpPr>
          <p:cNvPr id="4" name="Text 2"/>
          <p:cNvSpPr txBox="1"/>
          <p:nvPr/>
        </p:nvSpPr>
        <p:spPr>
          <a:xfrm>
            <a:off x="548640" y="1298448"/>
            <a:ext cx="11094415" cy="329184"/>
          </a:xfrm>
          <a:prstGeom prst="rect">
            <a:avLst/>
          </a:prstGeom>
          <a:noFill/>
          <a:ln/>
        </p:spPr>
        <p:txBody>
          <a:bodyPr wrap="square" lIns="0" tIns="0" rIns="0" bIns="0" rtlCol="0" anchor="ctr"/>
          <a:lstStyle/>
          <a:p>
            <a:pPr indent="0" marL="0">
              <a:buNone/>
            </a:pPr>
            <a:r>
              <a:rPr lang="en-US" sz="1500" dirty="0">
                <a:solidFill>
                  <a:srgbClr val="4A5468"/>
                </a:solidFill>
                <a:latin typeface="Arial" pitchFamily="34" charset="0"/>
                <a:ea typeface="Arial" pitchFamily="34" charset="-122"/>
                <a:cs typeface="Arial" pitchFamily="34" charset="-120"/>
              </a:rPr>
              <a:t>Superpowers disciplines one session. Pocock's skills plus agent-ready put the team's rules in the repo.</a:t>
            </a:r>
            <a:endParaRPr lang="en-US" sz="1500" dirty="0"/>
          </a:p>
        </p:txBody>
      </p:sp>
      <p:sp>
        <p:nvSpPr>
          <p:cNvPr id="5" name="Shape 3"/>
          <p:cNvSpPr/>
          <p:nvPr/>
        </p:nvSpPr>
        <p:spPr>
          <a:xfrm>
            <a:off x="548640" y="1920240"/>
            <a:ext cx="5449824" cy="4315968"/>
          </a:xfrm>
          <a:prstGeom prst="roundRect">
            <a:avLst>
              <a:gd name="adj" fmla="val 2119"/>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2121408"/>
            <a:ext cx="603504" cy="603504"/>
          </a:xfrm>
          <a:prstGeom prst="ellipse">
            <a:avLst/>
          </a:prstGeom>
          <a:solidFill>
            <a:srgbClr val="4A5468"/>
          </a:solidFill>
          <a:ln w="12700">
            <a:solidFill>
              <a:srgbClr val="4A5468"/>
            </a:solidFill>
            <a:prstDash val="solid"/>
          </a:ln>
        </p:spPr>
      </p:sp>
      <p:pic>
        <p:nvPicPr>
          <p:cNvPr id="7" name="Image 0" descr="preencoded.png">    </p:cNvPr>
          <p:cNvPicPr>
            <a:picLocks noChangeAspect="1"/>
          </p:cNvPicPr>
          <p:nvPr/>
        </p:nvPicPr>
        <p:blipFill>
          <a:blip r:embed="rId1"/>
          <a:stretch>
            <a:fillRect/>
          </a:stretch>
        </p:blipFill>
        <p:spPr>
          <a:xfrm>
            <a:off x="967801" y="2266249"/>
            <a:ext cx="313822" cy="313822"/>
          </a:xfrm>
          <a:prstGeom prst="rect">
            <a:avLst/>
          </a:prstGeom>
        </p:spPr>
      </p:pic>
      <p:sp>
        <p:nvSpPr>
          <p:cNvPr id="8" name="Text 5"/>
          <p:cNvSpPr txBox="1"/>
          <p:nvPr/>
        </p:nvSpPr>
        <p:spPr>
          <a:xfrm>
            <a:off x="1572768" y="2103120"/>
            <a:ext cx="4297680" cy="365760"/>
          </a:xfrm>
          <a:prstGeom prst="rect">
            <a:avLst/>
          </a:prstGeom>
          <a:noFill/>
          <a:ln/>
        </p:spPr>
        <p:txBody>
          <a:bodyPr wrap="square" lIns="0" tIns="0" rIns="0" bIns="0" rtlCol="0" anchor="t"/>
          <a:lstStyle/>
          <a:p>
            <a:pPr indent="0" marL="0">
              <a:buNone/>
            </a:pPr>
            <a:r>
              <a:rPr lang="en-US" sz="1800" b="1" dirty="0">
                <a:solidFill>
                  <a:srgbClr val="4A5468"/>
                </a:solidFill>
                <a:latin typeface="Arial" pitchFamily="34" charset="0"/>
                <a:ea typeface="Arial" pitchFamily="34" charset="-122"/>
                <a:cs typeface="Arial" pitchFamily="34" charset="-120"/>
              </a:rPr>
              <a:t>Superpowers</a:t>
            </a:r>
            <a:endParaRPr lang="en-US" sz="1800" dirty="0"/>
          </a:p>
        </p:txBody>
      </p:sp>
      <p:sp>
        <p:nvSpPr>
          <p:cNvPr id="9" name="Text 6"/>
          <p:cNvSpPr txBox="1"/>
          <p:nvPr/>
        </p:nvSpPr>
        <p:spPr>
          <a:xfrm>
            <a:off x="1572768" y="2450592"/>
            <a:ext cx="4297680" cy="292608"/>
          </a:xfrm>
          <a:prstGeom prst="rect">
            <a:avLst/>
          </a:prstGeom>
          <a:noFill/>
          <a:ln/>
        </p:spPr>
        <p:txBody>
          <a:bodyPr wrap="square" lIns="0" tIns="0" rIns="0" bIns="0" rtlCol="0" anchor="t"/>
          <a:lstStyle/>
          <a:p>
            <a:pPr indent="0" marL="0">
              <a:buNone/>
            </a:pPr>
            <a:r>
              <a:rPr lang="en-US" sz="1300" dirty="0">
                <a:solidFill>
                  <a:srgbClr val="4A5468"/>
                </a:solidFill>
                <a:latin typeface="Arial" pitchFamily="34" charset="0"/>
                <a:ea typeface="Arial" pitchFamily="34" charset="-122"/>
                <a:cs typeface="Arial" pitchFamily="34" charset="-120"/>
              </a:rPr>
              <a:t>Discipline inside one session</a:t>
            </a:r>
            <a:endParaRPr lang="en-US" sz="1300" dirty="0"/>
          </a:p>
        </p:txBody>
      </p:sp>
      <p:pic>
        <p:nvPicPr>
          <p:cNvPr id="10" name="Image 1" descr="preencoded.png">    </p:cNvPr>
          <p:cNvPicPr>
            <a:picLocks noChangeAspect="1"/>
          </p:cNvPicPr>
          <p:nvPr/>
        </p:nvPicPr>
        <p:blipFill>
          <a:blip r:embed="rId2"/>
          <a:stretch>
            <a:fillRect/>
          </a:stretch>
        </p:blipFill>
        <p:spPr>
          <a:xfrm>
            <a:off x="914400" y="2999232"/>
            <a:ext cx="274320" cy="274320"/>
          </a:xfrm>
          <a:prstGeom prst="rect">
            <a:avLst/>
          </a:prstGeom>
        </p:spPr>
      </p:pic>
      <p:sp>
        <p:nvSpPr>
          <p:cNvPr id="11" name="Text 7"/>
          <p:cNvSpPr txBox="1"/>
          <p:nvPr/>
        </p:nvSpPr>
        <p:spPr>
          <a:xfrm>
            <a:off x="1417320" y="292608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Brainstorm, plan, one sub-agent per task, review, then finish the branch.</a:t>
            </a:r>
            <a:endParaRPr lang="en-US" sz="1250" dirty="0"/>
          </a:p>
        </p:txBody>
      </p:sp>
      <p:pic>
        <p:nvPicPr>
          <p:cNvPr id="12" name="Image 2" descr="preencoded.png">    </p:cNvPr>
          <p:cNvPicPr>
            <a:picLocks noChangeAspect="1"/>
          </p:cNvPicPr>
          <p:nvPr/>
        </p:nvPicPr>
        <p:blipFill>
          <a:blip r:embed="rId3"/>
          <a:stretch>
            <a:fillRect/>
          </a:stretch>
        </p:blipFill>
        <p:spPr>
          <a:xfrm>
            <a:off x="914400" y="3639312"/>
            <a:ext cx="274320" cy="274320"/>
          </a:xfrm>
          <a:prstGeom prst="rect">
            <a:avLst/>
          </a:prstGeom>
        </p:spPr>
      </p:pic>
      <p:sp>
        <p:nvSpPr>
          <p:cNvPr id="13" name="Text 8"/>
          <p:cNvSpPr txBox="1"/>
          <p:nvPr/>
        </p:nvSpPr>
        <p:spPr>
          <a:xfrm>
            <a:off x="1417320" y="356616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The process lives in the plugin, in each person's home directory. A hook loads it into every session.</a:t>
            </a:r>
            <a:endParaRPr lang="en-US" sz="1250" dirty="0"/>
          </a:p>
        </p:txBody>
      </p:sp>
      <p:pic>
        <p:nvPicPr>
          <p:cNvPr id="14" name="Image 3" descr="preencoded.png">    </p:cNvPr>
          <p:cNvPicPr>
            <a:picLocks noChangeAspect="1"/>
          </p:cNvPicPr>
          <p:nvPr/>
        </p:nvPicPr>
        <p:blipFill>
          <a:blip r:embed="rId4"/>
          <a:stretch>
            <a:fillRect/>
          </a:stretch>
        </p:blipFill>
        <p:spPr>
          <a:xfrm>
            <a:off x="914400" y="4279392"/>
            <a:ext cx="274320" cy="274320"/>
          </a:xfrm>
          <a:prstGeom prst="rect">
            <a:avLst/>
          </a:prstGeom>
        </p:spPr>
      </p:pic>
      <p:sp>
        <p:nvSpPr>
          <p:cNvPr id="15" name="Text 9"/>
          <p:cNvSpPr txBox="1"/>
          <p:nvPr/>
        </p:nvSpPr>
        <p:spPr>
          <a:xfrm>
            <a:off x="1417320" y="420624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Reviewers check a generic list that ships with the plugin.</a:t>
            </a:r>
            <a:endParaRPr lang="en-US" sz="1250" dirty="0"/>
          </a:p>
        </p:txBody>
      </p:sp>
      <p:pic>
        <p:nvPicPr>
          <p:cNvPr id="16" name="Image 4" descr="preencoded.png">    </p:cNvPr>
          <p:cNvPicPr>
            <a:picLocks noChangeAspect="1"/>
          </p:cNvPicPr>
          <p:nvPr/>
        </p:nvPicPr>
        <p:blipFill>
          <a:blip r:embed="rId5"/>
          <a:stretch>
            <a:fillRect/>
          </a:stretch>
        </p:blipFill>
        <p:spPr>
          <a:xfrm>
            <a:off x="914400" y="4919472"/>
            <a:ext cx="274320" cy="274320"/>
          </a:xfrm>
          <a:prstGeom prst="rect">
            <a:avLst/>
          </a:prstGeom>
        </p:spPr>
      </p:pic>
      <p:sp>
        <p:nvSpPr>
          <p:cNvPr id="17" name="Text 10"/>
          <p:cNvSpPr txBox="1"/>
          <p:nvPr/>
        </p:nvSpPr>
        <p:spPr>
          <a:xfrm>
            <a:off x="1417320" y="484632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Specs and plans are dated markdown files in the repo.</a:t>
            </a:r>
            <a:endParaRPr lang="en-US" sz="1250" dirty="0"/>
          </a:p>
        </p:txBody>
      </p:sp>
      <p:sp>
        <p:nvSpPr>
          <p:cNvPr id="18" name="Shape 11"/>
          <p:cNvSpPr/>
          <p:nvPr/>
        </p:nvSpPr>
        <p:spPr>
          <a:xfrm>
            <a:off x="822960" y="5577840"/>
            <a:ext cx="4901184" cy="475488"/>
          </a:xfrm>
          <a:prstGeom prst="roundRect">
            <a:avLst>
              <a:gd name="adj" fmla="val 15385"/>
            </a:avLst>
          </a:prstGeom>
          <a:solidFill>
            <a:srgbClr val="F1F4F9"/>
          </a:solidFill>
          <a:ln w="12700">
            <a:solidFill>
              <a:srgbClr val="F1F4F9"/>
            </a:solidFill>
            <a:prstDash val="solid"/>
          </a:ln>
        </p:spPr>
      </p:sp>
      <p:sp>
        <p:nvSpPr>
          <p:cNvPr id="19" name="Text 12"/>
          <p:cNvSpPr txBox="1"/>
          <p:nvPr/>
        </p:nvSpPr>
        <p:spPr>
          <a:xfrm>
            <a:off x="1005840" y="5577840"/>
            <a:ext cx="4572000" cy="475488"/>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Strongest at test discipline inside one session.</a:t>
            </a:r>
            <a:endParaRPr lang="en-US" sz="1200" dirty="0"/>
          </a:p>
        </p:txBody>
      </p:sp>
      <p:sp>
        <p:nvSpPr>
          <p:cNvPr id="20" name="Shape 13"/>
          <p:cNvSpPr/>
          <p:nvPr/>
        </p:nvSpPr>
        <p:spPr>
          <a:xfrm>
            <a:off x="6190488" y="1920240"/>
            <a:ext cx="5449824" cy="4315968"/>
          </a:xfrm>
          <a:prstGeom prst="roundRect">
            <a:avLst>
              <a:gd name="adj" fmla="val 2119"/>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21" name="Shape 14"/>
          <p:cNvSpPr/>
          <p:nvPr/>
        </p:nvSpPr>
        <p:spPr>
          <a:xfrm>
            <a:off x="6464808" y="2121408"/>
            <a:ext cx="603504" cy="603504"/>
          </a:xfrm>
          <a:prstGeom prst="ellipse">
            <a:avLst/>
          </a:prstGeom>
          <a:solidFill>
            <a:srgbClr val="14213D"/>
          </a:solidFill>
          <a:ln w="12700">
            <a:solidFill>
              <a:srgbClr val="14213D"/>
            </a:solidFill>
            <a:prstDash val="solid"/>
          </a:ln>
        </p:spPr>
      </p:sp>
      <p:pic>
        <p:nvPicPr>
          <p:cNvPr id="22" name="Image 5" descr="preencoded.png">    </p:cNvPr>
          <p:cNvPicPr>
            <a:picLocks noChangeAspect="1"/>
          </p:cNvPicPr>
          <p:nvPr/>
        </p:nvPicPr>
        <p:blipFill>
          <a:blip r:embed="rId6"/>
          <a:stretch>
            <a:fillRect/>
          </a:stretch>
        </p:blipFill>
        <p:spPr>
          <a:xfrm>
            <a:off x="6609649" y="2266249"/>
            <a:ext cx="313822" cy="313822"/>
          </a:xfrm>
          <a:prstGeom prst="rect">
            <a:avLst/>
          </a:prstGeom>
        </p:spPr>
      </p:pic>
      <p:sp>
        <p:nvSpPr>
          <p:cNvPr id="23" name="Text 15"/>
          <p:cNvSpPr txBox="1"/>
          <p:nvPr/>
        </p:nvSpPr>
        <p:spPr>
          <a:xfrm>
            <a:off x="7214616" y="2103120"/>
            <a:ext cx="4297680" cy="36576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Pocock's skills + agent-ready</a:t>
            </a:r>
            <a:endParaRPr lang="en-US" sz="1800" dirty="0"/>
          </a:p>
        </p:txBody>
      </p:sp>
      <p:sp>
        <p:nvSpPr>
          <p:cNvPr id="24" name="Text 16"/>
          <p:cNvSpPr txBox="1"/>
          <p:nvPr/>
        </p:nvSpPr>
        <p:spPr>
          <a:xfrm>
            <a:off x="7214616" y="2450592"/>
            <a:ext cx="4297680" cy="292608"/>
          </a:xfrm>
          <a:prstGeom prst="rect">
            <a:avLst/>
          </a:prstGeom>
          <a:noFill/>
          <a:ln/>
        </p:spPr>
        <p:txBody>
          <a:bodyPr wrap="square" lIns="0" tIns="0" rIns="0" bIns="0" rtlCol="0" anchor="t"/>
          <a:lstStyle/>
          <a:p>
            <a:pPr indent="0" marL="0">
              <a:buNone/>
            </a:pPr>
            <a:r>
              <a:rPr lang="en-US" sz="1300" dirty="0">
                <a:solidFill>
                  <a:srgbClr val="4A5468"/>
                </a:solidFill>
                <a:latin typeface="Arial" pitchFamily="34" charset="0"/>
                <a:ea typeface="Arial" pitchFamily="34" charset="-122"/>
                <a:cs typeface="Arial" pitchFamily="34" charset="-120"/>
              </a:rPr>
              <a:t>The repo holds the rules</a:t>
            </a:r>
            <a:endParaRPr lang="en-US" sz="1300" dirty="0"/>
          </a:p>
        </p:txBody>
      </p:sp>
      <p:pic>
        <p:nvPicPr>
          <p:cNvPr id="25" name="Image 6" descr="preencoded.png">    </p:cNvPr>
          <p:cNvPicPr>
            <a:picLocks noChangeAspect="1"/>
          </p:cNvPicPr>
          <p:nvPr/>
        </p:nvPicPr>
        <p:blipFill>
          <a:blip r:embed="rId7"/>
          <a:stretch>
            <a:fillRect/>
          </a:stretch>
        </p:blipFill>
        <p:spPr>
          <a:xfrm>
            <a:off x="6556248" y="2999232"/>
            <a:ext cx="274320" cy="274320"/>
          </a:xfrm>
          <a:prstGeom prst="rect">
            <a:avLst/>
          </a:prstGeom>
        </p:spPr>
      </p:pic>
      <p:sp>
        <p:nvSpPr>
          <p:cNvPr id="26" name="Text 17"/>
          <p:cNvSpPr txBox="1"/>
          <p:nvPr/>
        </p:nvSpPr>
        <p:spPr>
          <a:xfrm>
            <a:off x="7059168" y="292608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Grill the idea, write a spec, cut tickets, implement test-first, review, open a PR.</a:t>
            </a:r>
            <a:endParaRPr lang="en-US" sz="1250" dirty="0"/>
          </a:p>
        </p:txBody>
      </p:sp>
      <p:pic>
        <p:nvPicPr>
          <p:cNvPr id="27" name="Image 7" descr="preencoded.png">    </p:cNvPr>
          <p:cNvPicPr>
            <a:picLocks noChangeAspect="1"/>
          </p:cNvPicPr>
          <p:nvPr/>
        </p:nvPicPr>
        <p:blipFill>
          <a:blip r:embed="rId8"/>
          <a:stretch>
            <a:fillRect/>
          </a:stretch>
        </p:blipFill>
        <p:spPr>
          <a:xfrm>
            <a:off x="6556248" y="3639312"/>
            <a:ext cx="274320" cy="274320"/>
          </a:xfrm>
          <a:prstGeom prst="rect">
            <a:avLst/>
          </a:prstGeom>
        </p:spPr>
      </p:pic>
      <p:sp>
        <p:nvSpPr>
          <p:cNvPr id="28" name="Text 18"/>
          <p:cNvSpPr txBox="1"/>
          <p:nvPr/>
        </p:nvSpPr>
        <p:spPr>
          <a:xfrm>
            <a:off x="7059168" y="356616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Rules, standards, domain words and gates live in the repo. A human merges every change to them.</a:t>
            </a:r>
            <a:endParaRPr lang="en-US" sz="1250" dirty="0"/>
          </a:p>
        </p:txBody>
      </p:sp>
      <p:pic>
        <p:nvPicPr>
          <p:cNvPr id="29" name="Image 8" descr="preencoded.png">    </p:cNvPr>
          <p:cNvPicPr>
            <a:picLocks noChangeAspect="1"/>
          </p:cNvPicPr>
          <p:nvPr/>
        </p:nvPicPr>
        <p:blipFill>
          <a:blip r:embed="rId9"/>
          <a:stretch>
            <a:fillRect/>
          </a:stretch>
        </p:blipFill>
        <p:spPr>
          <a:xfrm>
            <a:off x="6556248" y="4279392"/>
            <a:ext cx="274320" cy="274320"/>
          </a:xfrm>
          <a:prstGeom prst="rect">
            <a:avLst/>
          </a:prstGeom>
        </p:spPr>
      </p:pic>
      <p:sp>
        <p:nvSpPr>
          <p:cNvPr id="30" name="Text 19"/>
          <p:cNvSpPr txBox="1"/>
          <p:nvPr/>
        </p:nvSpPr>
        <p:spPr>
          <a:xfrm>
            <a:off x="7059168" y="420624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The reviewer reads the team's own docs/CODING_STANDARDS.md.</a:t>
            </a:r>
            <a:endParaRPr lang="en-US" sz="1250" dirty="0"/>
          </a:p>
        </p:txBody>
      </p:sp>
      <p:pic>
        <p:nvPicPr>
          <p:cNvPr id="31" name="Image 9" descr="preencoded.png">    </p:cNvPr>
          <p:cNvPicPr>
            <a:picLocks noChangeAspect="1"/>
          </p:cNvPicPr>
          <p:nvPr/>
        </p:nvPicPr>
        <p:blipFill>
          <a:blip r:embed="rId10"/>
          <a:stretch>
            <a:fillRect/>
          </a:stretch>
        </p:blipFill>
        <p:spPr>
          <a:xfrm>
            <a:off x="6556248" y="4919472"/>
            <a:ext cx="274320" cy="274320"/>
          </a:xfrm>
          <a:prstGeom prst="rect">
            <a:avLst/>
          </a:prstGeom>
        </p:spPr>
      </p:pic>
      <p:sp>
        <p:nvSpPr>
          <p:cNvPr id="32" name="Text 20"/>
          <p:cNvSpPr txBox="1"/>
          <p:nvPr/>
        </p:nvSpPr>
        <p:spPr>
          <a:xfrm>
            <a:off x="7059168" y="4846320"/>
            <a:ext cx="4389120" cy="566928"/>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Specs become issues. Agents take ready-for-agent tickets with nobody watching.</a:t>
            </a:r>
            <a:endParaRPr lang="en-US" sz="1250" dirty="0"/>
          </a:p>
        </p:txBody>
      </p:sp>
      <p:sp>
        <p:nvSpPr>
          <p:cNvPr id="33" name="Shape 21"/>
          <p:cNvSpPr/>
          <p:nvPr/>
        </p:nvSpPr>
        <p:spPr>
          <a:xfrm>
            <a:off x="6464808" y="5577840"/>
            <a:ext cx="4901184" cy="475488"/>
          </a:xfrm>
          <a:prstGeom prst="roundRect">
            <a:avLst>
              <a:gd name="adj" fmla="val 15385"/>
            </a:avLst>
          </a:prstGeom>
          <a:solidFill>
            <a:srgbClr val="E4E7FB"/>
          </a:solidFill>
          <a:ln w="12700">
            <a:solidFill>
              <a:srgbClr val="E4E7FB"/>
            </a:solidFill>
            <a:prstDash val="solid"/>
          </a:ln>
        </p:spPr>
      </p:sp>
      <p:sp>
        <p:nvSpPr>
          <p:cNvPr id="34" name="Text 22"/>
          <p:cNvSpPr txBox="1"/>
          <p:nvPr/>
        </p:nvSpPr>
        <p:spPr>
          <a:xfrm>
            <a:off x="6647688" y="5577840"/>
            <a:ext cx="4572000" cy="475488"/>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Strongest at team-owned rules and many parallel agents.</a:t>
            </a:r>
            <a:endParaRPr lang="en-US" sz="1200" dirty="0"/>
          </a:p>
        </p:txBody>
      </p:sp>
      <p:sp>
        <p:nvSpPr>
          <p:cNvPr id="35" name="Text 23"/>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and main, agent-ready main (2026-09-27)</a:t>
            </a:r>
            <a:endParaRPr lang="en-US" sz="900" dirty="0"/>
          </a:p>
        </p:txBody>
      </p:sp>
      <p:sp>
        <p:nvSpPr>
          <p:cNvPr id="36" name="Text 24"/>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9184"/>
            <a:ext cx="2896819" cy="274320"/>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COMPARISON · BRAKES 1 AND 2</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Checks and review: only one side reads your standards</a:t>
            </a:r>
            <a:endParaRPr lang="en-US" sz="2800" dirty="0"/>
          </a:p>
        </p:txBody>
      </p:sp>
      <p:sp>
        <p:nvSpPr>
          <p:cNvPr id="4" name="Text 2"/>
          <p:cNvSpPr txBox="1"/>
          <p:nvPr/>
        </p:nvSpPr>
        <p:spPr>
          <a:xfrm>
            <a:off x="548640" y="1481328"/>
            <a:ext cx="3383280" cy="384048"/>
          </a:xfrm>
          <a:prstGeom prst="rect">
            <a:avLst/>
          </a:prstGeom>
          <a:noFill/>
          <a:ln/>
        </p:spPr>
        <p:txBody>
          <a:bodyPr wrap="square" lIns="0" tIns="0" rIns="0" bIns="0" rtlCol="0" anchor="ctr"/>
          <a:lstStyle/>
          <a:p>
            <a:pPr indent="0" marL="0">
              <a:buNone/>
            </a:pPr>
            <a:r>
              <a:rPr lang="en-US" sz="1000" b="1" spc="100" kern="0" dirty="0">
                <a:solidFill>
                  <a:srgbClr val="8D99B3"/>
                </a:solidFill>
                <a:latin typeface="Arial" pitchFamily="34" charset="0"/>
                <a:ea typeface="Arial" pitchFamily="34" charset="-122"/>
                <a:cs typeface="Arial" pitchFamily="34" charset="-120"/>
              </a:rPr>
              <a:t>WHAT MATT'S MODEL ASKS FOR</a:t>
            </a:r>
            <a:endParaRPr lang="en-US" sz="1000" dirty="0"/>
          </a:p>
        </p:txBody>
      </p:sp>
      <p:sp>
        <p:nvSpPr>
          <p:cNvPr id="5" name="Text 3"/>
          <p:cNvSpPr/>
          <p:nvPr/>
        </p:nvSpPr>
        <p:spPr>
          <a:xfrm>
            <a:off x="4069080" y="1481328"/>
            <a:ext cx="3703320" cy="384048"/>
          </a:xfrm>
          <a:prstGeom prst="roundRect">
            <a:avLst>
              <a:gd name="adj" fmla="val 14286"/>
            </a:avLst>
          </a:prstGeom>
          <a:solidFill>
            <a:srgbClr val="4A5468"/>
          </a:solidFill>
          <a:ln>
            <a:solidFill>
              <a:srgbClr val="4A5468"/>
            </a:solid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Superpowers v6.4</a:t>
            </a:r>
            <a:endParaRPr lang="en-US" sz="1300" dirty="0"/>
          </a:p>
        </p:txBody>
      </p:sp>
      <p:sp>
        <p:nvSpPr>
          <p:cNvPr id="6" name="Text 4"/>
          <p:cNvSpPr/>
          <p:nvPr/>
        </p:nvSpPr>
        <p:spPr>
          <a:xfrm>
            <a:off x="7863840" y="1481328"/>
            <a:ext cx="3776472" cy="384048"/>
          </a:xfrm>
          <a:prstGeom prst="roundRect">
            <a:avLst>
              <a:gd name="adj" fmla="val 14286"/>
            </a:avLst>
          </a:prstGeom>
          <a:solidFill>
            <a:srgbClr val="14213D"/>
          </a:solidFill>
          <a:ln>
            <a:solidFill>
              <a:srgbClr val="14213D"/>
            </a:solid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Pocock's skills + agent-ready</a:t>
            </a:r>
            <a:endParaRPr lang="en-US" sz="1300" dirty="0"/>
          </a:p>
        </p:txBody>
      </p:sp>
      <p:sp>
        <p:nvSpPr>
          <p:cNvPr id="7" name="Shape 5"/>
          <p:cNvSpPr/>
          <p:nvPr/>
        </p:nvSpPr>
        <p:spPr>
          <a:xfrm>
            <a:off x="548640" y="1956816"/>
            <a:ext cx="11094415" cy="530352"/>
          </a:xfrm>
          <a:prstGeom prst="rect">
            <a:avLst/>
          </a:prstGeom>
          <a:solidFill>
            <a:srgbClr val="F1F4F9"/>
          </a:solidFill>
          <a:ln w="12700">
            <a:solidFill>
              <a:srgbClr val="F1F4F9"/>
            </a:solidFill>
            <a:prstDash val="solid"/>
          </a:ln>
        </p:spPr>
      </p:sp>
      <p:sp>
        <p:nvSpPr>
          <p:cNvPr id="8" name="Text 6"/>
          <p:cNvSpPr/>
          <p:nvPr/>
        </p:nvSpPr>
        <p:spPr>
          <a:xfrm>
            <a:off x="658368" y="2075688"/>
            <a:ext cx="292608" cy="292608"/>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txBox="1"/>
          <p:nvPr/>
        </p:nvSpPr>
        <p:spPr>
          <a:xfrm>
            <a:off x="1060704" y="1956816"/>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One check command for lint, types and tests</a:t>
            </a:r>
            <a:endParaRPr lang="en-US" sz="1200" dirty="0"/>
          </a:p>
        </p:txBody>
      </p:sp>
      <p:sp>
        <p:nvSpPr>
          <p:cNvPr id="10" name="Shape 8"/>
          <p:cNvSpPr/>
          <p:nvPr/>
        </p:nvSpPr>
        <p:spPr>
          <a:xfrm>
            <a:off x="4160520" y="2066544"/>
            <a:ext cx="310896" cy="310896"/>
          </a:xfrm>
          <a:prstGeom prst="ellipse">
            <a:avLst/>
          </a:prstGeom>
          <a:solidFill>
            <a:srgbClr val="E0962B"/>
          </a:solidFill>
          <a:ln w="12700">
            <a:solidFill>
              <a:srgbClr val="E0962B"/>
            </a:solidFill>
            <a:prstDash val="solid"/>
          </a:ln>
        </p:spPr>
      </p:sp>
      <p:pic>
        <p:nvPicPr>
          <p:cNvPr id="11" name="Image 0" descr="preencoded.png">    </p:cNvPr>
          <p:cNvPicPr>
            <a:picLocks noChangeAspect="1"/>
          </p:cNvPicPr>
          <p:nvPr/>
        </p:nvPicPr>
        <p:blipFill>
          <a:blip r:embed="rId1"/>
          <a:stretch>
            <a:fillRect/>
          </a:stretch>
        </p:blipFill>
        <p:spPr>
          <a:xfrm>
            <a:off x="4233672" y="2139696"/>
            <a:ext cx="164592" cy="164592"/>
          </a:xfrm>
          <a:prstGeom prst="rect">
            <a:avLst/>
          </a:prstGeom>
        </p:spPr>
      </p:pic>
      <p:sp>
        <p:nvSpPr>
          <p:cNvPr id="12" name="Text 9"/>
          <p:cNvSpPr txBox="1"/>
          <p:nvPr/>
        </p:nvSpPr>
        <p:spPr>
          <a:xfrm>
            <a:off x="4572000" y="1956816"/>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Demands fresh evidence before it says "done". Sets up no command.</a:t>
            </a:r>
            <a:endParaRPr lang="en-US" sz="1100" dirty="0"/>
          </a:p>
        </p:txBody>
      </p:sp>
      <p:sp>
        <p:nvSpPr>
          <p:cNvPr id="13" name="Shape 10"/>
          <p:cNvSpPr/>
          <p:nvPr/>
        </p:nvSpPr>
        <p:spPr>
          <a:xfrm>
            <a:off x="7955280" y="2066544"/>
            <a:ext cx="310896" cy="310896"/>
          </a:xfrm>
          <a:prstGeom prst="ellipse">
            <a:avLst/>
          </a:prstGeom>
          <a:solidFill>
            <a:srgbClr val="2E9E5B"/>
          </a:solidFill>
          <a:ln w="12700">
            <a:solidFill>
              <a:srgbClr val="2E9E5B"/>
            </a:solidFill>
            <a:prstDash val="solid"/>
          </a:ln>
        </p:spPr>
      </p:sp>
      <p:pic>
        <p:nvPicPr>
          <p:cNvPr id="14" name="Image 1" descr="preencoded.png">    </p:cNvPr>
          <p:cNvPicPr>
            <a:picLocks noChangeAspect="1"/>
          </p:cNvPicPr>
          <p:nvPr/>
        </p:nvPicPr>
        <p:blipFill>
          <a:blip r:embed="rId2"/>
          <a:stretch>
            <a:fillRect/>
          </a:stretch>
        </p:blipFill>
        <p:spPr>
          <a:xfrm>
            <a:off x="8028432" y="2139696"/>
            <a:ext cx="164592" cy="164592"/>
          </a:xfrm>
          <a:prstGeom prst="rect">
            <a:avLst/>
          </a:prstGeom>
        </p:spPr>
      </p:pic>
      <p:sp>
        <p:nvSpPr>
          <p:cNvPr id="15" name="Text 11"/>
          <p:cNvSpPr txBox="1"/>
          <p:nvPr/>
        </p:nvSpPr>
        <p:spPr>
          <a:xfrm>
            <a:off x="8366760" y="1956816"/>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Setup writes one check command and offers the missing tools.</a:t>
            </a:r>
            <a:endParaRPr lang="en-US" sz="1100" dirty="0"/>
          </a:p>
        </p:txBody>
      </p:sp>
      <p:sp>
        <p:nvSpPr>
          <p:cNvPr id="16" name="Shape 12"/>
          <p:cNvSpPr/>
          <p:nvPr/>
        </p:nvSpPr>
        <p:spPr>
          <a:xfrm>
            <a:off x="548640" y="2532888"/>
            <a:ext cx="11094415" cy="530352"/>
          </a:xfrm>
          <a:prstGeom prst="rect">
            <a:avLst/>
          </a:prstGeom>
          <a:solidFill>
            <a:srgbClr val="FFFFFF"/>
          </a:solidFill>
          <a:ln w="12700">
            <a:solidFill>
              <a:srgbClr val="FFFFFF"/>
            </a:solidFill>
            <a:prstDash val="solid"/>
          </a:ln>
        </p:spPr>
      </p:sp>
      <p:sp>
        <p:nvSpPr>
          <p:cNvPr id="17" name="Text 13"/>
          <p:cNvSpPr/>
          <p:nvPr/>
        </p:nvSpPr>
        <p:spPr>
          <a:xfrm>
            <a:off x="658368" y="2651760"/>
            <a:ext cx="292608" cy="292608"/>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8" name="Text 14"/>
          <p:cNvSpPr txBox="1"/>
          <p:nvPr/>
        </p:nvSpPr>
        <p:spPr>
          <a:xfrm>
            <a:off x="1060704" y="2532888"/>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Rules against tests that lie</a:t>
            </a:r>
            <a:endParaRPr lang="en-US" sz="1200" dirty="0"/>
          </a:p>
        </p:txBody>
      </p:sp>
      <p:sp>
        <p:nvSpPr>
          <p:cNvPr id="19" name="Shape 15"/>
          <p:cNvSpPr/>
          <p:nvPr/>
        </p:nvSpPr>
        <p:spPr>
          <a:xfrm>
            <a:off x="4160520" y="2642616"/>
            <a:ext cx="310896" cy="310896"/>
          </a:xfrm>
          <a:prstGeom prst="ellipse">
            <a:avLst/>
          </a:prstGeom>
          <a:solidFill>
            <a:srgbClr val="2E9E5B"/>
          </a:solidFill>
          <a:ln w="12700">
            <a:solidFill>
              <a:srgbClr val="2E9E5B"/>
            </a:solidFill>
            <a:prstDash val="solid"/>
          </a:ln>
        </p:spPr>
      </p:sp>
      <p:pic>
        <p:nvPicPr>
          <p:cNvPr id="20" name="Image 2" descr="preencoded.png">    </p:cNvPr>
          <p:cNvPicPr>
            <a:picLocks noChangeAspect="1"/>
          </p:cNvPicPr>
          <p:nvPr/>
        </p:nvPicPr>
        <p:blipFill>
          <a:blip r:embed="rId3"/>
          <a:stretch>
            <a:fillRect/>
          </a:stretch>
        </p:blipFill>
        <p:spPr>
          <a:xfrm>
            <a:off x="4233672" y="2715768"/>
            <a:ext cx="164592" cy="164592"/>
          </a:xfrm>
          <a:prstGeom prst="rect">
            <a:avLst/>
          </a:prstGeom>
        </p:spPr>
      </p:pic>
      <p:sp>
        <p:nvSpPr>
          <p:cNvPr id="21" name="Text 16"/>
          <p:cNvSpPr txBox="1"/>
          <p:nvPr/>
        </p:nvSpPr>
        <p:spPr>
          <a:xfrm>
            <a:off x="4572000" y="2532888"/>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writing-good-tests.md bans mirror asserts, change detectors, source-grepping tests.</a:t>
            </a:r>
            <a:endParaRPr lang="en-US" sz="1100" dirty="0"/>
          </a:p>
        </p:txBody>
      </p:sp>
      <p:sp>
        <p:nvSpPr>
          <p:cNvPr id="22" name="Shape 17"/>
          <p:cNvSpPr/>
          <p:nvPr/>
        </p:nvSpPr>
        <p:spPr>
          <a:xfrm>
            <a:off x="7955280" y="2642616"/>
            <a:ext cx="310896" cy="310896"/>
          </a:xfrm>
          <a:prstGeom prst="ellipse">
            <a:avLst/>
          </a:prstGeom>
          <a:solidFill>
            <a:srgbClr val="E0962B"/>
          </a:solidFill>
          <a:ln w="12700">
            <a:solidFill>
              <a:srgbClr val="E0962B"/>
            </a:solidFill>
            <a:prstDash val="solid"/>
          </a:ln>
        </p:spPr>
      </p:sp>
      <p:pic>
        <p:nvPicPr>
          <p:cNvPr id="23" name="Image 3" descr="preencoded.png">    </p:cNvPr>
          <p:cNvPicPr>
            <a:picLocks noChangeAspect="1"/>
          </p:cNvPicPr>
          <p:nvPr/>
        </p:nvPicPr>
        <p:blipFill>
          <a:blip r:embed="rId4"/>
          <a:stretch>
            <a:fillRect/>
          </a:stretch>
        </p:blipFill>
        <p:spPr>
          <a:xfrm>
            <a:off x="8028432" y="2715768"/>
            <a:ext cx="164592" cy="164592"/>
          </a:xfrm>
          <a:prstGeom prst="rect">
            <a:avLst/>
          </a:prstGeom>
        </p:spPr>
      </p:pic>
      <p:sp>
        <p:nvSpPr>
          <p:cNvPr id="24" name="Text 18"/>
          <p:cNvSpPr txBox="1"/>
          <p:nvPr/>
        </p:nvSpPr>
        <p:spPr>
          <a:xfrm>
            <a:off x="8366760" y="2532888"/>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tdd names tautological and implementation-coupled tests. Tests at agreed seams.</a:t>
            </a:r>
            <a:endParaRPr lang="en-US" sz="1100" dirty="0"/>
          </a:p>
        </p:txBody>
      </p:sp>
      <p:sp>
        <p:nvSpPr>
          <p:cNvPr id="25" name="Shape 19"/>
          <p:cNvSpPr/>
          <p:nvPr/>
        </p:nvSpPr>
        <p:spPr>
          <a:xfrm>
            <a:off x="548640" y="3108960"/>
            <a:ext cx="11094415" cy="530352"/>
          </a:xfrm>
          <a:prstGeom prst="rect">
            <a:avLst/>
          </a:prstGeom>
          <a:solidFill>
            <a:srgbClr val="F1F4F9"/>
          </a:solidFill>
          <a:ln w="12700">
            <a:solidFill>
              <a:srgbClr val="F1F4F9"/>
            </a:solidFill>
            <a:prstDash val="solid"/>
          </a:ln>
        </p:spPr>
      </p:sp>
      <p:sp>
        <p:nvSpPr>
          <p:cNvPr id="26" name="Text 20"/>
          <p:cNvSpPr/>
          <p:nvPr/>
        </p:nvSpPr>
        <p:spPr>
          <a:xfrm>
            <a:off x="658368" y="3227832"/>
            <a:ext cx="292608" cy="292608"/>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1"/>
          <p:cNvSpPr txBox="1"/>
          <p:nvPr/>
        </p:nvSpPr>
        <p:spPr>
          <a:xfrm>
            <a:off x="1060704" y="3108960"/>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Deep modules, designed on purpose</a:t>
            </a:r>
            <a:endParaRPr lang="en-US" sz="1200" dirty="0"/>
          </a:p>
        </p:txBody>
      </p:sp>
      <p:sp>
        <p:nvSpPr>
          <p:cNvPr id="28" name="Shape 22"/>
          <p:cNvSpPr/>
          <p:nvPr/>
        </p:nvSpPr>
        <p:spPr>
          <a:xfrm>
            <a:off x="4160520" y="3218688"/>
            <a:ext cx="310896" cy="310896"/>
          </a:xfrm>
          <a:prstGeom prst="ellipse">
            <a:avLst/>
          </a:prstGeom>
          <a:solidFill>
            <a:srgbClr val="FFFFFF"/>
          </a:solidFill>
          <a:ln w="15875">
            <a:solidFill>
              <a:srgbClr val="D7DDE8"/>
            </a:solidFill>
            <a:prstDash val="solid"/>
          </a:ln>
        </p:spPr>
      </p:sp>
      <p:pic>
        <p:nvPicPr>
          <p:cNvPr id="29" name="Image 4" descr="preencoded.png">    </p:cNvPr>
          <p:cNvPicPr>
            <a:picLocks noChangeAspect="1"/>
          </p:cNvPicPr>
          <p:nvPr/>
        </p:nvPicPr>
        <p:blipFill>
          <a:blip r:embed="rId5"/>
          <a:stretch>
            <a:fillRect/>
          </a:stretch>
        </p:blipFill>
        <p:spPr>
          <a:xfrm>
            <a:off x="4233672" y="3291840"/>
            <a:ext cx="164592" cy="164592"/>
          </a:xfrm>
          <a:prstGeom prst="rect">
            <a:avLst/>
          </a:prstGeom>
        </p:spPr>
      </p:pic>
      <p:sp>
        <p:nvSpPr>
          <p:cNvPr id="30" name="Text 23"/>
          <p:cNvSpPr txBox="1"/>
          <p:nvPr/>
        </p:nvSpPr>
        <p:spPr>
          <a:xfrm>
            <a:off x="4572000" y="3108960"/>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No design skill. One hint: a hard test means a complex interface.</a:t>
            </a:r>
            <a:endParaRPr lang="en-US" sz="1100" dirty="0"/>
          </a:p>
        </p:txBody>
      </p:sp>
      <p:sp>
        <p:nvSpPr>
          <p:cNvPr id="31" name="Shape 24"/>
          <p:cNvSpPr/>
          <p:nvPr/>
        </p:nvSpPr>
        <p:spPr>
          <a:xfrm>
            <a:off x="7955280" y="3218688"/>
            <a:ext cx="310896" cy="310896"/>
          </a:xfrm>
          <a:prstGeom prst="ellipse">
            <a:avLst/>
          </a:prstGeom>
          <a:solidFill>
            <a:srgbClr val="2E9E5B"/>
          </a:solidFill>
          <a:ln w="12700">
            <a:solidFill>
              <a:srgbClr val="2E9E5B"/>
            </a:solidFill>
            <a:prstDash val="solid"/>
          </a:ln>
        </p:spPr>
      </p:sp>
      <p:pic>
        <p:nvPicPr>
          <p:cNvPr id="32" name="Image 5" descr="preencoded.png">    </p:cNvPr>
          <p:cNvPicPr>
            <a:picLocks noChangeAspect="1"/>
          </p:cNvPicPr>
          <p:nvPr/>
        </p:nvPicPr>
        <p:blipFill>
          <a:blip r:embed="rId6"/>
          <a:stretch>
            <a:fillRect/>
          </a:stretch>
        </p:blipFill>
        <p:spPr>
          <a:xfrm>
            <a:off x="8028432" y="3291840"/>
            <a:ext cx="164592" cy="164592"/>
          </a:xfrm>
          <a:prstGeom prst="rect">
            <a:avLst/>
          </a:prstGeom>
        </p:spPr>
      </p:pic>
      <p:sp>
        <p:nvSpPr>
          <p:cNvPr id="33" name="Text 25"/>
          <p:cNvSpPr txBox="1"/>
          <p:nvPr/>
        </p:nvSpPr>
        <p:spPr>
          <a:xfrm>
            <a:off x="8366760" y="3108960"/>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codebase-design terms, /improve-codebase-architecture, a reminder every N days.</a:t>
            </a:r>
            <a:endParaRPr lang="en-US" sz="1100" dirty="0"/>
          </a:p>
        </p:txBody>
      </p:sp>
      <p:sp>
        <p:nvSpPr>
          <p:cNvPr id="34" name="Shape 26"/>
          <p:cNvSpPr/>
          <p:nvPr/>
        </p:nvSpPr>
        <p:spPr>
          <a:xfrm>
            <a:off x="548640" y="3685032"/>
            <a:ext cx="11094415" cy="530352"/>
          </a:xfrm>
          <a:prstGeom prst="rect">
            <a:avLst/>
          </a:prstGeom>
          <a:solidFill>
            <a:srgbClr val="FFFFFF"/>
          </a:solidFill>
          <a:ln w="12700">
            <a:solidFill>
              <a:srgbClr val="FFFFFF"/>
            </a:solidFill>
            <a:prstDash val="solid"/>
          </a:ln>
        </p:spPr>
      </p:sp>
      <p:sp>
        <p:nvSpPr>
          <p:cNvPr id="35" name="Text 27"/>
          <p:cNvSpPr/>
          <p:nvPr/>
        </p:nvSpPr>
        <p:spPr>
          <a:xfrm>
            <a:off x="658368" y="3803904"/>
            <a:ext cx="292608" cy="292608"/>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6" name="Text 28"/>
          <p:cNvSpPr txBox="1"/>
          <p:nvPr/>
        </p:nvSpPr>
        <p:spPr>
          <a:xfrm>
            <a:off x="1060704" y="3685032"/>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Review in a separate context</a:t>
            </a:r>
            <a:endParaRPr lang="en-US" sz="1200" dirty="0"/>
          </a:p>
        </p:txBody>
      </p:sp>
      <p:sp>
        <p:nvSpPr>
          <p:cNvPr id="37" name="Shape 29"/>
          <p:cNvSpPr/>
          <p:nvPr/>
        </p:nvSpPr>
        <p:spPr>
          <a:xfrm>
            <a:off x="4160520" y="3794760"/>
            <a:ext cx="310896" cy="310896"/>
          </a:xfrm>
          <a:prstGeom prst="ellipse">
            <a:avLst/>
          </a:prstGeom>
          <a:solidFill>
            <a:srgbClr val="2E9E5B"/>
          </a:solidFill>
          <a:ln w="12700">
            <a:solidFill>
              <a:srgbClr val="2E9E5B"/>
            </a:solidFill>
            <a:prstDash val="solid"/>
          </a:ln>
        </p:spPr>
      </p:sp>
      <p:pic>
        <p:nvPicPr>
          <p:cNvPr id="38" name="Image 6" descr="preencoded.png">    </p:cNvPr>
          <p:cNvPicPr>
            <a:picLocks noChangeAspect="1"/>
          </p:cNvPicPr>
          <p:nvPr/>
        </p:nvPicPr>
        <p:blipFill>
          <a:blip r:embed="rId7"/>
          <a:stretch>
            <a:fillRect/>
          </a:stretch>
        </p:blipFill>
        <p:spPr>
          <a:xfrm>
            <a:off x="4233672" y="3867912"/>
            <a:ext cx="164592" cy="164592"/>
          </a:xfrm>
          <a:prstGeom prst="rect">
            <a:avLst/>
          </a:prstGeom>
        </p:spPr>
      </p:pic>
      <p:sp>
        <p:nvSpPr>
          <p:cNvPr id="39" name="Text 30"/>
          <p:cNvSpPr txBox="1"/>
          <p:nvPr/>
        </p:nvSpPr>
        <p:spPr>
          <a:xfrm>
            <a:off x="4572000" y="3685032"/>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A read-only reviewer sub-agent per task, and a final branch review.</a:t>
            </a:r>
            <a:endParaRPr lang="en-US" sz="1100" dirty="0"/>
          </a:p>
        </p:txBody>
      </p:sp>
      <p:sp>
        <p:nvSpPr>
          <p:cNvPr id="40" name="Shape 31"/>
          <p:cNvSpPr/>
          <p:nvPr/>
        </p:nvSpPr>
        <p:spPr>
          <a:xfrm>
            <a:off x="7955280" y="3794760"/>
            <a:ext cx="310896" cy="310896"/>
          </a:xfrm>
          <a:prstGeom prst="ellipse">
            <a:avLst/>
          </a:prstGeom>
          <a:solidFill>
            <a:srgbClr val="2E9E5B"/>
          </a:solidFill>
          <a:ln w="12700">
            <a:solidFill>
              <a:srgbClr val="2E9E5B"/>
            </a:solidFill>
            <a:prstDash val="solid"/>
          </a:ln>
        </p:spPr>
      </p:sp>
      <p:pic>
        <p:nvPicPr>
          <p:cNvPr id="41" name="Image 7" descr="preencoded.png">    </p:cNvPr>
          <p:cNvPicPr>
            <a:picLocks noChangeAspect="1"/>
          </p:cNvPicPr>
          <p:nvPr/>
        </p:nvPicPr>
        <p:blipFill>
          <a:blip r:embed="rId8"/>
          <a:stretch>
            <a:fillRect/>
          </a:stretch>
        </p:blipFill>
        <p:spPr>
          <a:xfrm>
            <a:off x="8028432" y="3867912"/>
            <a:ext cx="164592" cy="164592"/>
          </a:xfrm>
          <a:prstGeom prst="rect">
            <a:avLst/>
          </a:prstGeom>
        </p:spPr>
      </p:pic>
      <p:sp>
        <p:nvSpPr>
          <p:cNvPr id="42" name="Text 32"/>
          <p:cNvSpPr txBox="1"/>
          <p:nvPr/>
        </p:nvSpPr>
        <p:spPr>
          <a:xfrm>
            <a:off x="8366760" y="3685032"/>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/code-review runs a Standards and a Spec sub-agent in parallel.</a:t>
            </a:r>
            <a:endParaRPr lang="en-US" sz="1100" dirty="0"/>
          </a:p>
        </p:txBody>
      </p:sp>
      <p:sp>
        <p:nvSpPr>
          <p:cNvPr id="43" name="Shape 33"/>
          <p:cNvSpPr/>
          <p:nvPr/>
        </p:nvSpPr>
        <p:spPr>
          <a:xfrm>
            <a:off x="548640" y="4261104"/>
            <a:ext cx="11094415" cy="530352"/>
          </a:xfrm>
          <a:prstGeom prst="rect">
            <a:avLst/>
          </a:prstGeom>
          <a:solidFill>
            <a:srgbClr val="F1F4F9"/>
          </a:solidFill>
          <a:ln w="12700">
            <a:solidFill>
              <a:srgbClr val="F1F4F9"/>
            </a:solidFill>
            <a:prstDash val="solid"/>
          </a:ln>
        </p:spPr>
      </p:sp>
      <p:sp>
        <p:nvSpPr>
          <p:cNvPr id="44" name="Text 34"/>
          <p:cNvSpPr/>
          <p:nvPr/>
        </p:nvSpPr>
        <p:spPr>
          <a:xfrm>
            <a:off x="658368" y="4379976"/>
            <a:ext cx="292608" cy="292608"/>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45" name="Text 35"/>
          <p:cNvSpPr txBox="1"/>
          <p:nvPr/>
        </p:nvSpPr>
        <p:spPr>
          <a:xfrm>
            <a:off x="1060704" y="4261104"/>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Team standards only the reviewer reads</a:t>
            </a:r>
            <a:endParaRPr lang="en-US" sz="1200" dirty="0"/>
          </a:p>
        </p:txBody>
      </p:sp>
      <p:sp>
        <p:nvSpPr>
          <p:cNvPr id="46" name="Shape 36"/>
          <p:cNvSpPr/>
          <p:nvPr/>
        </p:nvSpPr>
        <p:spPr>
          <a:xfrm>
            <a:off x="4160520" y="4370832"/>
            <a:ext cx="310896" cy="310896"/>
          </a:xfrm>
          <a:prstGeom prst="ellipse">
            <a:avLst/>
          </a:prstGeom>
          <a:solidFill>
            <a:srgbClr val="FFFFFF"/>
          </a:solidFill>
          <a:ln w="15875">
            <a:solidFill>
              <a:srgbClr val="D7DDE8"/>
            </a:solidFill>
            <a:prstDash val="solid"/>
          </a:ln>
        </p:spPr>
      </p:sp>
      <p:pic>
        <p:nvPicPr>
          <p:cNvPr id="47" name="Image 8" descr="preencoded.png">    </p:cNvPr>
          <p:cNvPicPr>
            <a:picLocks noChangeAspect="1"/>
          </p:cNvPicPr>
          <p:nvPr/>
        </p:nvPicPr>
        <p:blipFill>
          <a:blip r:embed="rId9"/>
          <a:stretch>
            <a:fillRect/>
          </a:stretch>
        </p:blipFill>
        <p:spPr>
          <a:xfrm>
            <a:off x="4233672" y="4443984"/>
            <a:ext cx="164592" cy="164592"/>
          </a:xfrm>
          <a:prstGeom prst="rect">
            <a:avLst/>
          </a:prstGeom>
        </p:spPr>
      </p:pic>
      <p:sp>
        <p:nvSpPr>
          <p:cNvPr id="48" name="Text 37"/>
          <p:cNvSpPr txBox="1"/>
          <p:nvPr/>
        </p:nvSpPr>
        <p:spPr>
          <a:xfrm>
            <a:off x="4572000" y="4261104"/>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A generic checklist inside the plugin. It reads no repo standards file.</a:t>
            </a:r>
            <a:endParaRPr lang="en-US" sz="1100" dirty="0"/>
          </a:p>
        </p:txBody>
      </p:sp>
      <p:sp>
        <p:nvSpPr>
          <p:cNvPr id="49" name="Shape 38"/>
          <p:cNvSpPr/>
          <p:nvPr/>
        </p:nvSpPr>
        <p:spPr>
          <a:xfrm>
            <a:off x="7955280" y="4370832"/>
            <a:ext cx="310896" cy="310896"/>
          </a:xfrm>
          <a:prstGeom prst="ellipse">
            <a:avLst/>
          </a:prstGeom>
          <a:solidFill>
            <a:srgbClr val="2E9E5B"/>
          </a:solidFill>
          <a:ln w="12700">
            <a:solidFill>
              <a:srgbClr val="2E9E5B"/>
            </a:solidFill>
            <a:prstDash val="solid"/>
          </a:ln>
        </p:spPr>
      </p:sp>
      <p:pic>
        <p:nvPicPr>
          <p:cNvPr id="50" name="Image 9" descr="preencoded.png">    </p:cNvPr>
          <p:cNvPicPr>
            <a:picLocks noChangeAspect="1"/>
          </p:cNvPicPr>
          <p:nvPr/>
        </p:nvPicPr>
        <p:blipFill>
          <a:blip r:embed="rId10"/>
          <a:stretch>
            <a:fillRect/>
          </a:stretch>
        </p:blipFill>
        <p:spPr>
          <a:xfrm>
            <a:off x="8028432" y="4443984"/>
            <a:ext cx="164592" cy="164592"/>
          </a:xfrm>
          <a:prstGeom prst="rect">
            <a:avLst/>
          </a:prstGeom>
        </p:spPr>
      </p:pic>
      <p:sp>
        <p:nvSpPr>
          <p:cNvPr id="51" name="Text 39"/>
          <p:cNvSpPr txBox="1"/>
          <p:nvPr/>
        </p:nvSpPr>
        <p:spPr>
          <a:xfrm>
            <a:off x="8366760" y="4261104"/>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docs/CODING_STANDARDS.md lives in the repo and stays out of AGENTS.md.</a:t>
            </a:r>
            <a:endParaRPr lang="en-US" sz="1100" dirty="0"/>
          </a:p>
        </p:txBody>
      </p:sp>
      <p:sp>
        <p:nvSpPr>
          <p:cNvPr id="52" name="Shape 40"/>
          <p:cNvSpPr/>
          <p:nvPr/>
        </p:nvSpPr>
        <p:spPr>
          <a:xfrm>
            <a:off x="548640" y="4837176"/>
            <a:ext cx="11094415" cy="530352"/>
          </a:xfrm>
          <a:prstGeom prst="rect">
            <a:avLst/>
          </a:prstGeom>
          <a:solidFill>
            <a:srgbClr val="FFFFFF"/>
          </a:solidFill>
          <a:ln w="12700">
            <a:solidFill>
              <a:srgbClr val="FFFFFF"/>
            </a:solidFill>
            <a:prstDash val="solid"/>
          </a:ln>
        </p:spPr>
      </p:sp>
      <p:sp>
        <p:nvSpPr>
          <p:cNvPr id="53" name="Text 41"/>
          <p:cNvSpPr/>
          <p:nvPr/>
        </p:nvSpPr>
        <p:spPr>
          <a:xfrm>
            <a:off x="658368" y="4956048"/>
            <a:ext cx="292608" cy="292608"/>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54" name="Text 42"/>
          <p:cNvSpPr txBox="1"/>
          <p:nvPr/>
        </p:nvSpPr>
        <p:spPr>
          <a:xfrm>
            <a:off x="1060704" y="4837176"/>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The reviewer commits its fixes</a:t>
            </a:r>
            <a:endParaRPr lang="en-US" sz="1200" dirty="0"/>
          </a:p>
        </p:txBody>
      </p:sp>
      <p:sp>
        <p:nvSpPr>
          <p:cNvPr id="55" name="Shape 43"/>
          <p:cNvSpPr/>
          <p:nvPr/>
        </p:nvSpPr>
        <p:spPr>
          <a:xfrm>
            <a:off x="4160520" y="4946904"/>
            <a:ext cx="310896" cy="310896"/>
          </a:xfrm>
          <a:prstGeom prst="ellipse">
            <a:avLst/>
          </a:prstGeom>
          <a:solidFill>
            <a:srgbClr val="FFFFFF"/>
          </a:solidFill>
          <a:ln w="15875">
            <a:solidFill>
              <a:srgbClr val="D7DDE8"/>
            </a:solidFill>
            <a:prstDash val="solid"/>
          </a:ln>
        </p:spPr>
      </p:sp>
      <p:pic>
        <p:nvPicPr>
          <p:cNvPr id="56" name="Image 10" descr="preencoded.png">    </p:cNvPr>
          <p:cNvPicPr>
            <a:picLocks noChangeAspect="1"/>
          </p:cNvPicPr>
          <p:nvPr/>
        </p:nvPicPr>
        <p:blipFill>
          <a:blip r:embed="rId11"/>
          <a:stretch>
            <a:fillRect/>
          </a:stretch>
        </p:blipFill>
        <p:spPr>
          <a:xfrm>
            <a:off x="4233672" y="5020056"/>
            <a:ext cx="164592" cy="164592"/>
          </a:xfrm>
          <a:prstGeom prst="rect">
            <a:avLst/>
          </a:prstGeom>
        </p:spPr>
      </p:pic>
      <p:sp>
        <p:nvSpPr>
          <p:cNvPr id="57" name="Text 44"/>
          <p:cNvSpPr txBox="1"/>
          <p:nvPr/>
        </p:nvSpPr>
        <p:spPr>
          <a:xfrm>
            <a:off x="4572000" y="4837176"/>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The reviewer is read-only. The implementer fixes, for up to 5 rounds.</a:t>
            </a:r>
            <a:endParaRPr lang="en-US" sz="1100" dirty="0"/>
          </a:p>
        </p:txBody>
      </p:sp>
      <p:sp>
        <p:nvSpPr>
          <p:cNvPr id="58" name="Shape 45"/>
          <p:cNvSpPr/>
          <p:nvPr/>
        </p:nvSpPr>
        <p:spPr>
          <a:xfrm>
            <a:off x="7955280" y="4946904"/>
            <a:ext cx="310896" cy="310896"/>
          </a:xfrm>
          <a:prstGeom prst="ellipse">
            <a:avLst/>
          </a:prstGeom>
          <a:solidFill>
            <a:srgbClr val="E0962B"/>
          </a:solidFill>
          <a:ln w="12700">
            <a:solidFill>
              <a:srgbClr val="E0962B"/>
            </a:solidFill>
            <a:prstDash val="solid"/>
          </a:ln>
        </p:spPr>
      </p:sp>
      <p:pic>
        <p:nvPicPr>
          <p:cNvPr id="59" name="Image 11" descr="preencoded.png">    </p:cNvPr>
          <p:cNvPicPr>
            <a:picLocks noChangeAspect="1"/>
          </p:cNvPicPr>
          <p:nvPr/>
        </p:nvPicPr>
        <p:blipFill>
          <a:blip r:embed="rId12"/>
          <a:stretch>
            <a:fillRect/>
          </a:stretch>
        </p:blipFill>
        <p:spPr>
          <a:xfrm>
            <a:off x="8028432" y="5020056"/>
            <a:ext cx="164592" cy="164592"/>
          </a:xfrm>
          <a:prstGeom prst="rect">
            <a:avLst/>
          </a:prstGeom>
        </p:spPr>
      </p:pic>
      <p:sp>
        <p:nvSpPr>
          <p:cNvPr id="60" name="Text 46"/>
          <p:cNvSpPr txBox="1"/>
          <p:nvPr/>
        </p:nvSpPr>
        <p:spPr>
          <a:xfrm>
            <a:off x="8366760" y="4837176"/>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comment-review commits its fixes. /code-review only reports.</a:t>
            </a:r>
            <a:endParaRPr lang="en-US" sz="1100" dirty="0"/>
          </a:p>
        </p:txBody>
      </p:sp>
      <p:sp>
        <p:nvSpPr>
          <p:cNvPr id="61" name="Shape 47"/>
          <p:cNvSpPr/>
          <p:nvPr/>
        </p:nvSpPr>
        <p:spPr>
          <a:xfrm>
            <a:off x="548640" y="5413248"/>
            <a:ext cx="11094415" cy="530352"/>
          </a:xfrm>
          <a:prstGeom prst="rect">
            <a:avLst/>
          </a:prstGeom>
          <a:solidFill>
            <a:srgbClr val="F1F4F9"/>
          </a:solidFill>
          <a:ln w="12700">
            <a:solidFill>
              <a:srgbClr val="F1F4F9"/>
            </a:solidFill>
            <a:prstDash val="solid"/>
          </a:ln>
        </p:spPr>
      </p:sp>
      <p:sp>
        <p:nvSpPr>
          <p:cNvPr id="62" name="Text 48"/>
          <p:cNvSpPr/>
          <p:nvPr/>
        </p:nvSpPr>
        <p:spPr>
          <a:xfrm>
            <a:off x="658368" y="5532120"/>
            <a:ext cx="292608" cy="292608"/>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63" name="Text 49"/>
          <p:cNvSpPr txBox="1"/>
          <p:nvPr/>
        </p:nvSpPr>
        <p:spPr>
          <a:xfrm>
            <a:off x="1060704" y="5413248"/>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No push without a review</a:t>
            </a:r>
            <a:endParaRPr lang="en-US" sz="1200" dirty="0"/>
          </a:p>
        </p:txBody>
      </p:sp>
      <p:sp>
        <p:nvSpPr>
          <p:cNvPr id="64" name="Shape 50"/>
          <p:cNvSpPr/>
          <p:nvPr/>
        </p:nvSpPr>
        <p:spPr>
          <a:xfrm>
            <a:off x="4160520" y="5522976"/>
            <a:ext cx="310896" cy="310896"/>
          </a:xfrm>
          <a:prstGeom prst="ellipse">
            <a:avLst/>
          </a:prstGeom>
          <a:solidFill>
            <a:srgbClr val="FFFFFF"/>
          </a:solidFill>
          <a:ln w="15875">
            <a:solidFill>
              <a:srgbClr val="D7DDE8"/>
            </a:solidFill>
            <a:prstDash val="solid"/>
          </a:ln>
        </p:spPr>
      </p:sp>
      <p:pic>
        <p:nvPicPr>
          <p:cNvPr id="65" name="Image 12" descr="preencoded.png">    </p:cNvPr>
          <p:cNvPicPr>
            <a:picLocks noChangeAspect="1"/>
          </p:cNvPicPr>
          <p:nvPr/>
        </p:nvPicPr>
        <p:blipFill>
          <a:blip r:embed="rId13"/>
          <a:stretch>
            <a:fillRect/>
          </a:stretch>
        </p:blipFill>
        <p:spPr>
          <a:xfrm>
            <a:off x="4233672" y="5596128"/>
            <a:ext cx="164592" cy="164592"/>
          </a:xfrm>
          <a:prstGeom prst="rect">
            <a:avLst/>
          </a:prstGeom>
        </p:spPr>
      </p:pic>
      <p:sp>
        <p:nvSpPr>
          <p:cNvPr id="66" name="Text 51"/>
          <p:cNvSpPr txBox="1"/>
          <p:nvPr/>
        </p:nvSpPr>
        <p:spPr>
          <a:xfrm>
            <a:off x="4572000" y="5413248"/>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Prose only. Its one hook runs at session start.</a:t>
            </a:r>
            <a:endParaRPr lang="en-US" sz="1100" dirty="0"/>
          </a:p>
        </p:txBody>
      </p:sp>
      <p:sp>
        <p:nvSpPr>
          <p:cNvPr id="67" name="Shape 52"/>
          <p:cNvSpPr/>
          <p:nvPr/>
        </p:nvSpPr>
        <p:spPr>
          <a:xfrm>
            <a:off x="7955280" y="5522976"/>
            <a:ext cx="310896" cy="310896"/>
          </a:xfrm>
          <a:prstGeom prst="ellipse">
            <a:avLst/>
          </a:prstGeom>
          <a:solidFill>
            <a:srgbClr val="E0962B"/>
          </a:solidFill>
          <a:ln w="12700">
            <a:solidFill>
              <a:srgbClr val="E0962B"/>
            </a:solidFill>
            <a:prstDash val="solid"/>
          </a:ln>
        </p:spPr>
      </p:sp>
      <p:pic>
        <p:nvPicPr>
          <p:cNvPr id="68" name="Image 13" descr="preencoded.png">    </p:cNvPr>
          <p:cNvPicPr>
            <a:picLocks noChangeAspect="1"/>
          </p:cNvPicPr>
          <p:nvPr/>
        </p:nvPicPr>
        <p:blipFill>
          <a:blip r:embed="rId14"/>
          <a:stretch>
            <a:fillRect/>
          </a:stretch>
        </p:blipFill>
        <p:spPr>
          <a:xfrm>
            <a:off x="8028432" y="5596128"/>
            <a:ext cx="164592" cy="164592"/>
          </a:xfrm>
          <a:prstGeom prst="rect">
            <a:avLst/>
          </a:prstGeom>
        </p:spPr>
      </p:pic>
      <p:sp>
        <p:nvSpPr>
          <p:cNvPr id="69" name="Text 53"/>
          <p:cNvSpPr txBox="1"/>
          <p:nvPr/>
        </p:nvSpPr>
        <p:spPr>
          <a:xfrm>
            <a:off x="8366760" y="5413248"/>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A push hook waits for comment-review. /code-review runs by instruction.</a:t>
            </a:r>
            <a:endParaRPr lang="en-US" sz="1100" dirty="0"/>
          </a:p>
        </p:txBody>
      </p:sp>
      <p:sp>
        <p:nvSpPr>
          <p:cNvPr id="70" name="Shape 54"/>
          <p:cNvSpPr/>
          <p:nvPr/>
        </p:nvSpPr>
        <p:spPr>
          <a:xfrm>
            <a:off x="5760720" y="6053328"/>
            <a:ext cx="310896" cy="310896"/>
          </a:xfrm>
          <a:prstGeom prst="ellipse">
            <a:avLst/>
          </a:prstGeom>
          <a:solidFill>
            <a:srgbClr val="2E9E5B"/>
          </a:solidFill>
          <a:ln w="12700">
            <a:solidFill>
              <a:srgbClr val="2E9E5B"/>
            </a:solidFill>
            <a:prstDash val="solid"/>
          </a:ln>
        </p:spPr>
      </p:sp>
      <p:pic>
        <p:nvPicPr>
          <p:cNvPr id="71" name="Image 14" descr="preencoded.png">    </p:cNvPr>
          <p:cNvPicPr>
            <a:picLocks noChangeAspect="1"/>
          </p:cNvPicPr>
          <p:nvPr/>
        </p:nvPicPr>
        <p:blipFill>
          <a:blip r:embed="rId15"/>
          <a:stretch>
            <a:fillRect/>
          </a:stretch>
        </p:blipFill>
        <p:spPr>
          <a:xfrm>
            <a:off x="5833872" y="6126480"/>
            <a:ext cx="164592" cy="164592"/>
          </a:xfrm>
          <a:prstGeom prst="rect">
            <a:avLst/>
          </a:prstGeom>
        </p:spPr>
      </p:pic>
      <p:sp>
        <p:nvSpPr>
          <p:cNvPr id="72" name="Text 55"/>
          <p:cNvSpPr txBox="1"/>
          <p:nvPr/>
        </p:nvSpPr>
        <p:spPr>
          <a:xfrm>
            <a:off x="614476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covers it</a:t>
            </a:r>
            <a:endParaRPr lang="en-US" sz="1050" dirty="0"/>
          </a:p>
        </p:txBody>
      </p:sp>
      <p:sp>
        <p:nvSpPr>
          <p:cNvPr id="73" name="Shape 56"/>
          <p:cNvSpPr/>
          <p:nvPr/>
        </p:nvSpPr>
        <p:spPr>
          <a:xfrm>
            <a:off x="7223760" y="6053328"/>
            <a:ext cx="310896" cy="310896"/>
          </a:xfrm>
          <a:prstGeom prst="ellipse">
            <a:avLst/>
          </a:prstGeom>
          <a:solidFill>
            <a:srgbClr val="E0962B"/>
          </a:solidFill>
          <a:ln w="12700">
            <a:solidFill>
              <a:srgbClr val="E0962B"/>
            </a:solidFill>
            <a:prstDash val="solid"/>
          </a:ln>
        </p:spPr>
      </p:sp>
      <p:pic>
        <p:nvPicPr>
          <p:cNvPr id="74" name="Image 15" descr="preencoded.png">    </p:cNvPr>
          <p:cNvPicPr>
            <a:picLocks noChangeAspect="1"/>
          </p:cNvPicPr>
          <p:nvPr/>
        </p:nvPicPr>
        <p:blipFill>
          <a:blip r:embed="rId16"/>
          <a:stretch>
            <a:fillRect/>
          </a:stretch>
        </p:blipFill>
        <p:spPr>
          <a:xfrm>
            <a:off x="7296912" y="6126480"/>
            <a:ext cx="164592" cy="164592"/>
          </a:xfrm>
          <a:prstGeom prst="rect">
            <a:avLst/>
          </a:prstGeom>
        </p:spPr>
      </p:pic>
      <p:sp>
        <p:nvSpPr>
          <p:cNvPr id="75" name="Text 57"/>
          <p:cNvSpPr txBox="1"/>
          <p:nvPr/>
        </p:nvSpPr>
        <p:spPr>
          <a:xfrm>
            <a:off x="760780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partly, or prose only</a:t>
            </a:r>
            <a:endParaRPr lang="en-US" sz="1050" dirty="0"/>
          </a:p>
        </p:txBody>
      </p:sp>
      <p:sp>
        <p:nvSpPr>
          <p:cNvPr id="76" name="Shape 58"/>
          <p:cNvSpPr/>
          <p:nvPr/>
        </p:nvSpPr>
        <p:spPr>
          <a:xfrm>
            <a:off x="9464040" y="6053328"/>
            <a:ext cx="310896" cy="310896"/>
          </a:xfrm>
          <a:prstGeom prst="ellipse">
            <a:avLst/>
          </a:prstGeom>
          <a:solidFill>
            <a:srgbClr val="FFFFFF"/>
          </a:solidFill>
          <a:ln w="15875">
            <a:solidFill>
              <a:srgbClr val="D7DDE8"/>
            </a:solidFill>
            <a:prstDash val="solid"/>
          </a:ln>
        </p:spPr>
      </p:sp>
      <p:pic>
        <p:nvPicPr>
          <p:cNvPr id="77" name="Image 16" descr="preencoded.png">    </p:cNvPr>
          <p:cNvPicPr>
            <a:picLocks noChangeAspect="1"/>
          </p:cNvPicPr>
          <p:nvPr/>
        </p:nvPicPr>
        <p:blipFill>
          <a:blip r:embed="rId17"/>
          <a:stretch>
            <a:fillRect/>
          </a:stretch>
        </p:blipFill>
        <p:spPr>
          <a:xfrm>
            <a:off x="9537192" y="6126480"/>
            <a:ext cx="164592" cy="164592"/>
          </a:xfrm>
          <a:prstGeom prst="rect">
            <a:avLst/>
          </a:prstGeom>
        </p:spPr>
      </p:pic>
      <p:sp>
        <p:nvSpPr>
          <p:cNvPr id="78" name="Text 59"/>
          <p:cNvSpPr txBox="1"/>
          <p:nvPr/>
        </p:nvSpPr>
        <p:spPr>
          <a:xfrm>
            <a:off x="984808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not covered</a:t>
            </a:r>
            <a:endParaRPr lang="en-US" sz="1050" dirty="0"/>
          </a:p>
        </p:txBody>
      </p:sp>
      <p:sp>
        <p:nvSpPr>
          <p:cNvPr id="79" name="Text 60"/>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and main, agent-ready main (2026-09-27)</a:t>
            </a:r>
            <a:endParaRPr lang="en-US" sz="900" dirty="0"/>
          </a:p>
        </p:txBody>
      </p:sp>
      <p:sp>
        <p:nvSpPr>
          <p:cNvPr id="80" name="Text 61"/>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9184"/>
            <a:ext cx="3467405" cy="274320"/>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COMPARISON · BRAKE 3 AND THE LOOP</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Human review and the loop: the rules live in the repo</a:t>
            </a:r>
            <a:endParaRPr lang="en-US" sz="2800" dirty="0"/>
          </a:p>
        </p:txBody>
      </p:sp>
      <p:sp>
        <p:nvSpPr>
          <p:cNvPr id="4" name="Text 2"/>
          <p:cNvSpPr txBox="1"/>
          <p:nvPr/>
        </p:nvSpPr>
        <p:spPr>
          <a:xfrm>
            <a:off x="548640" y="1481328"/>
            <a:ext cx="3383280" cy="384048"/>
          </a:xfrm>
          <a:prstGeom prst="rect">
            <a:avLst/>
          </a:prstGeom>
          <a:noFill/>
          <a:ln/>
        </p:spPr>
        <p:txBody>
          <a:bodyPr wrap="square" lIns="0" tIns="0" rIns="0" bIns="0" rtlCol="0" anchor="ctr"/>
          <a:lstStyle/>
          <a:p>
            <a:pPr indent="0" marL="0">
              <a:buNone/>
            </a:pPr>
            <a:r>
              <a:rPr lang="en-US" sz="1000" b="1" spc="100" kern="0" dirty="0">
                <a:solidFill>
                  <a:srgbClr val="8D99B3"/>
                </a:solidFill>
                <a:latin typeface="Arial" pitchFamily="34" charset="0"/>
                <a:ea typeface="Arial" pitchFamily="34" charset="-122"/>
                <a:cs typeface="Arial" pitchFamily="34" charset="-120"/>
              </a:rPr>
              <a:t>WHAT MATT'S MODEL ASKS FOR</a:t>
            </a:r>
            <a:endParaRPr lang="en-US" sz="1000" dirty="0"/>
          </a:p>
        </p:txBody>
      </p:sp>
      <p:sp>
        <p:nvSpPr>
          <p:cNvPr id="5" name="Text 3"/>
          <p:cNvSpPr/>
          <p:nvPr/>
        </p:nvSpPr>
        <p:spPr>
          <a:xfrm>
            <a:off x="4069080" y="1481328"/>
            <a:ext cx="3703320" cy="384048"/>
          </a:xfrm>
          <a:prstGeom prst="roundRect">
            <a:avLst>
              <a:gd name="adj" fmla="val 14286"/>
            </a:avLst>
          </a:prstGeom>
          <a:solidFill>
            <a:srgbClr val="4A5468"/>
          </a:solidFill>
          <a:ln>
            <a:solidFill>
              <a:srgbClr val="4A5468"/>
            </a:solid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Superpowers v6.4</a:t>
            </a:r>
            <a:endParaRPr lang="en-US" sz="1300" dirty="0"/>
          </a:p>
        </p:txBody>
      </p:sp>
      <p:sp>
        <p:nvSpPr>
          <p:cNvPr id="6" name="Text 4"/>
          <p:cNvSpPr/>
          <p:nvPr/>
        </p:nvSpPr>
        <p:spPr>
          <a:xfrm>
            <a:off x="7863840" y="1481328"/>
            <a:ext cx="3776472" cy="384048"/>
          </a:xfrm>
          <a:prstGeom prst="roundRect">
            <a:avLst>
              <a:gd name="adj" fmla="val 14286"/>
            </a:avLst>
          </a:prstGeom>
          <a:solidFill>
            <a:srgbClr val="14213D"/>
          </a:solidFill>
          <a:ln>
            <a:solidFill>
              <a:srgbClr val="14213D"/>
            </a:solid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Pocock's skills + agent-ready</a:t>
            </a:r>
            <a:endParaRPr lang="en-US" sz="1300" dirty="0"/>
          </a:p>
        </p:txBody>
      </p:sp>
      <p:sp>
        <p:nvSpPr>
          <p:cNvPr id="7" name="Shape 5"/>
          <p:cNvSpPr/>
          <p:nvPr/>
        </p:nvSpPr>
        <p:spPr>
          <a:xfrm>
            <a:off x="548640" y="1956816"/>
            <a:ext cx="11094415" cy="530352"/>
          </a:xfrm>
          <a:prstGeom prst="rect">
            <a:avLst/>
          </a:prstGeom>
          <a:solidFill>
            <a:srgbClr val="F1F4F9"/>
          </a:solidFill>
          <a:ln w="12700">
            <a:solidFill>
              <a:srgbClr val="F1F4F9"/>
            </a:solidFill>
            <a:prstDash val="solid"/>
          </a:ln>
        </p:spPr>
      </p:sp>
      <p:sp>
        <p:nvSpPr>
          <p:cNvPr id="8" name="Text 6"/>
          <p:cNvSpPr/>
          <p:nvPr/>
        </p:nvSpPr>
        <p:spPr>
          <a:xfrm>
            <a:off x="658368" y="2075688"/>
            <a:ext cx="292608" cy="292608"/>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9" name="Text 7"/>
          <p:cNvSpPr txBox="1"/>
          <p:nvPr/>
        </p:nvSpPr>
        <p:spPr>
          <a:xfrm>
            <a:off x="1060704" y="1956816"/>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A PR body written for the reviewer</a:t>
            </a:r>
            <a:endParaRPr lang="en-US" sz="1200" dirty="0"/>
          </a:p>
        </p:txBody>
      </p:sp>
      <p:sp>
        <p:nvSpPr>
          <p:cNvPr id="10" name="Shape 8"/>
          <p:cNvSpPr/>
          <p:nvPr/>
        </p:nvSpPr>
        <p:spPr>
          <a:xfrm>
            <a:off x="4160520" y="2066544"/>
            <a:ext cx="310896" cy="310896"/>
          </a:xfrm>
          <a:prstGeom prst="ellipse">
            <a:avLst/>
          </a:prstGeom>
          <a:solidFill>
            <a:srgbClr val="FFFFFF"/>
          </a:solidFill>
          <a:ln w="15875">
            <a:solidFill>
              <a:srgbClr val="D7DDE8"/>
            </a:solidFill>
            <a:prstDash val="solid"/>
          </a:ln>
        </p:spPr>
      </p:sp>
      <p:pic>
        <p:nvPicPr>
          <p:cNvPr id="11" name="Image 0" descr="preencoded.png">    </p:cNvPr>
          <p:cNvPicPr>
            <a:picLocks noChangeAspect="1"/>
          </p:cNvPicPr>
          <p:nvPr/>
        </p:nvPicPr>
        <p:blipFill>
          <a:blip r:embed="rId1"/>
          <a:stretch>
            <a:fillRect/>
          </a:stretch>
        </p:blipFill>
        <p:spPr>
          <a:xfrm>
            <a:off x="4233672" y="2139696"/>
            <a:ext cx="164592" cy="164592"/>
          </a:xfrm>
          <a:prstGeom prst="rect">
            <a:avLst/>
          </a:prstGeom>
        </p:spPr>
      </p:pic>
      <p:sp>
        <p:nvSpPr>
          <p:cNvPr id="12" name="Text 9"/>
          <p:cNvSpPr txBox="1"/>
          <p:nvPr/>
        </p:nvSpPr>
        <p:spPr>
          <a:xfrm>
            <a:off x="4572000" y="1956816"/>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No template. It follows the repo's PR template, if one exists.</a:t>
            </a:r>
            <a:endParaRPr lang="en-US" sz="1100" dirty="0"/>
          </a:p>
        </p:txBody>
      </p:sp>
      <p:sp>
        <p:nvSpPr>
          <p:cNvPr id="13" name="Shape 10"/>
          <p:cNvSpPr/>
          <p:nvPr/>
        </p:nvSpPr>
        <p:spPr>
          <a:xfrm>
            <a:off x="7955280" y="2066544"/>
            <a:ext cx="310896" cy="310896"/>
          </a:xfrm>
          <a:prstGeom prst="ellipse">
            <a:avLst/>
          </a:prstGeom>
          <a:solidFill>
            <a:srgbClr val="E0962B"/>
          </a:solidFill>
          <a:ln w="12700">
            <a:solidFill>
              <a:srgbClr val="E0962B"/>
            </a:solidFill>
            <a:prstDash val="solid"/>
          </a:ln>
        </p:spPr>
      </p:sp>
      <p:pic>
        <p:nvPicPr>
          <p:cNvPr id="14" name="Image 1" descr="preencoded.png">    </p:cNvPr>
          <p:cNvPicPr>
            <a:picLocks noChangeAspect="1"/>
          </p:cNvPicPr>
          <p:nvPr/>
        </p:nvPicPr>
        <p:blipFill>
          <a:blip r:embed="rId2"/>
          <a:stretch>
            <a:fillRect/>
          </a:stretch>
        </p:blipFill>
        <p:spPr>
          <a:xfrm>
            <a:off x="8028432" y="2139696"/>
            <a:ext cx="164592" cy="164592"/>
          </a:xfrm>
          <a:prstGeom prst="rect">
            <a:avLst/>
          </a:prstGeom>
        </p:spPr>
      </p:pic>
      <p:sp>
        <p:nvSpPr>
          <p:cNvPr id="15" name="Text 11"/>
          <p:cNvSpPr txBox="1"/>
          <p:nvPr/>
        </p:nvSpPr>
        <p:spPr>
          <a:xfrm>
            <a:off x="8366760" y="1956816"/>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Hand-back body: goal, decisions, not done, verification, least sure.</a:t>
            </a:r>
            <a:endParaRPr lang="en-US" sz="1100" dirty="0"/>
          </a:p>
        </p:txBody>
      </p:sp>
      <p:sp>
        <p:nvSpPr>
          <p:cNvPr id="16" name="Shape 12"/>
          <p:cNvSpPr/>
          <p:nvPr/>
        </p:nvSpPr>
        <p:spPr>
          <a:xfrm>
            <a:off x="548640" y="2532888"/>
            <a:ext cx="11094415" cy="530352"/>
          </a:xfrm>
          <a:prstGeom prst="rect">
            <a:avLst/>
          </a:prstGeom>
          <a:solidFill>
            <a:srgbClr val="FFFFFF"/>
          </a:solidFill>
          <a:ln w="12700">
            <a:solidFill>
              <a:srgbClr val="FFFFFF"/>
            </a:solidFill>
            <a:prstDash val="solid"/>
          </a:ln>
        </p:spPr>
      </p:sp>
      <p:sp>
        <p:nvSpPr>
          <p:cNvPr id="17" name="Text 13"/>
          <p:cNvSpPr/>
          <p:nvPr/>
        </p:nvSpPr>
        <p:spPr>
          <a:xfrm>
            <a:off x="658368" y="2651760"/>
            <a:ext cx="292608" cy="292608"/>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4"/>
          <p:cNvSpPr txBox="1"/>
          <p:nvPr/>
        </p:nvSpPr>
        <p:spPr>
          <a:xfrm>
            <a:off x="1060704" y="2532888"/>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Review effort that follows risk</a:t>
            </a:r>
            <a:endParaRPr lang="en-US" sz="1200" dirty="0"/>
          </a:p>
        </p:txBody>
      </p:sp>
      <p:sp>
        <p:nvSpPr>
          <p:cNvPr id="19" name="Shape 15"/>
          <p:cNvSpPr/>
          <p:nvPr/>
        </p:nvSpPr>
        <p:spPr>
          <a:xfrm>
            <a:off x="4160520" y="2642616"/>
            <a:ext cx="310896" cy="310896"/>
          </a:xfrm>
          <a:prstGeom prst="ellipse">
            <a:avLst/>
          </a:prstGeom>
          <a:solidFill>
            <a:srgbClr val="FFFFFF"/>
          </a:solidFill>
          <a:ln w="15875">
            <a:solidFill>
              <a:srgbClr val="D7DDE8"/>
            </a:solidFill>
            <a:prstDash val="solid"/>
          </a:ln>
        </p:spPr>
      </p:sp>
      <p:pic>
        <p:nvPicPr>
          <p:cNvPr id="20" name="Image 2" descr="preencoded.png">    </p:cNvPr>
          <p:cNvPicPr>
            <a:picLocks noChangeAspect="1"/>
          </p:cNvPicPr>
          <p:nvPr/>
        </p:nvPicPr>
        <p:blipFill>
          <a:blip r:embed="rId3"/>
          <a:stretch>
            <a:fillRect/>
          </a:stretch>
        </p:blipFill>
        <p:spPr>
          <a:xfrm>
            <a:off x="4233672" y="2715768"/>
            <a:ext cx="164592" cy="164592"/>
          </a:xfrm>
          <a:prstGeom prst="rect">
            <a:avLst/>
          </a:prstGeom>
        </p:spPr>
      </p:pic>
      <p:sp>
        <p:nvSpPr>
          <p:cNvPr id="21" name="Text 16"/>
          <p:cNvSpPr txBox="1"/>
          <p:nvPr/>
        </p:nvSpPr>
        <p:spPr>
          <a:xfrm>
            <a:off x="4572000" y="2532888"/>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Every branch ends in one menu: merge locally, open a PR, or keep it.</a:t>
            </a:r>
            <a:endParaRPr lang="en-US" sz="1100" dirty="0"/>
          </a:p>
        </p:txBody>
      </p:sp>
      <p:sp>
        <p:nvSpPr>
          <p:cNvPr id="22" name="Shape 17"/>
          <p:cNvSpPr/>
          <p:nvPr/>
        </p:nvSpPr>
        <p:spPr>
          <a:xfrm>
            <a:off x="7955280" y="2642616"/>
            <a:ext cx="310896" cy="310896"/>
          </a:xfrm>
          <a:prstGeom prst="ellipse">
            <a:avLst/>
          </a:prstGeom>
          <a:solidFill>
            <a:srgbClr val="E0962B"/>
          </a:solidFill>
          <a:ln w="12700">
            <a:solidFill>
              <a:srgbClr val="E0962B"/>
            </a:solidFill>
            <a:prstDash val="solid"/>
          </a:ln>
        </p:spPr>
      </p:sp>
      <p:pic>
        <p:nvPicPr>
          <p:cNvPr id="23" name="Image 3" descr="preencoded.png">    </p:cNvPr>
          <p:cNvPicPr>
            <a:picLocks noChangeAspect="1"/>
          </p:cNvPicPr>
          <p:nvPr/>
        </p:nvPicPr>
        <p:blipFill>
          <a:blip r:embed="rId4"/>
          <a:stretch>
            <a:fillRect/>
          </a:stretch>
        </p:blipFill>
        <p:spPr>
          <a:xfrm>
            <a:off x="8028432" y="2715768"/>
            <a:ext cx="164592" cy="164592"/>
          </a:xfrm>
          <a:prstGeom prst="rect">
            <a:avLst/>
          </a:prstGeom>
        </p:spPr>
      </p:pic>
      <p:sp>
        <p:nvSpPr>
          <p:cNvPr id="24" name="Text 18"/>
          <p:cNvSpPr txBox="1"/>
          <p:nvPr/>
        </p:nvSpPr>
        <p:spPr>
          <a:xfrm>
            <a:off x="8366760" y="2532888"/>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Agents merge behaviour-neutral cleanup PRs. Steering diffs go to a human.</a:t>
            </a:r>
            <a:endParaRPr lang="en-US" sz="1100" dirty="0"/>
          </a:p>
        </p:txBody>
      </p:sp>
      <p:sp>
        <p:nvSpPr>
          <p:cNvPr id="25" name="Shape 19"/>
          <p:cNvSpPr/>
          <p:nvPr/>
        </p:nvSpPr>
        <p:spPr>
          <a:xfrm>
            <a:off x="548640" y="3108960"/>
            <a:ext cx="11094415" cy="530352"/>
          </a:xfrm>
          <a:prstGeom prst="rect">
            <a:avLst/>
          </a:prstGeom>
          <a:solidFill>
            <a:srgbClr val="F1F4F9"/>
          </a:solidFill>
          <a:ln w="12700">
            <a:solidFill>
              <a:srgbClr val="F1F4F9"/>
            </a:solidFill>
            <a:prstDash val="solid"/>
          </a:ln>
        </p:spPr>
      </p:sp>
      <p:sp>
        <p:nvSpPr>
          <p:cNvPr id="26" name="Text 20"/>
          <p:cNvSpPr/>
          <p:nvPr/>
        </p:nvSpPr>
        <p:spPr>
          <a:xfrm>
            <a:off x="658368" y="3227832"/>
            <a:ext cx="292608" cy="292608"/>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7" name="Text 21"/>
          <p:cNvSpPr txBox="1"/>
          <p:nvPr/>
        </p:nvSpPr>
        <p:spPr>
          <a:xfrm>
            <a:off x="1060704" y="3108960"/>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One-way doors stop the agent</a:t>
            </a:r>
            <a:endParaRPr lang="en-US" sz="1200" dirty="0"/>
          </a:p>
        </p:txBody>
      </p:sp>
      <p:sp>
        <p:nvSpPr>
          <p:cNvPr id="28" name="Shape 22"/>
          <p:cNvSpPr/>
          <p:nvPr/>
        </p:nvSpPr>
        <p:spPr>
          <a:xfrm>
            <a:off x="4160520" y="3218688"/>
            <a:ext cx="310896" cy="310896"/>
          </a:xfrm>
          <a:prstGeom prst="ellipse">
            <a:avLst/>
          </a:prstGeom>
          <a:solidFill>
            <a:srgbClr val="E0962B"/>
          </a:solidFill>
          <a:ln w="12700">
            <a:solidFill>
              <a:srgbClr val="E0962B"/>
            </a:solidFill>
            <a:prstDash val="solid"/>
          </a:ln>
        </p:spPr>
      </p:sp>
      <p:pic>
        <p:nvPicPr>
          <p:cNvPr id="29" name="Image 4" descr="preencoded.png">    </p:cNvPr>
          <p:cNvPicPr>
            <a:picLocks noChangeAspect="1"/>
          </p:cNvPicPr>
          <p:nvPr/>
        </p:nvPicPr>
        <p:blipFill>
          <a:blip r:embed="rId5"/>
          <a:stretch>
            <a:fillRect/>
          </a:stretch>
        </p:blipFill>
        <p:spPr>
          <a:xfrm>
            <a:off x="4233672" y="3291840"/>
            <a:ext cx="164592" cy="164592"/>
          </a:xfrm>
          <a:prstGeom prst="rect">
            <a:avLst/>
          </a:prstGeom>
        </p:spPr>
      </p:pic>
      <p:sp>
        <p:nvSpPr>
          <p:cNvPr id="30" name="Text 23"/>
          <p:cNvSpPr txBox="1"/>
          <p:nvPr/>
        </p:nvSpPr>
        <p:spPr>
          <a:xfrm>
            <a:off x="4572000" y="3108960"/>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The executor stops before a merge, a push to a shared branch, a publish.</a:t>
            </a:r>
            <a:endParaRPr lang="en-US" sz="1100" dirty="0"/>
          </a:p>
        </p:txBody>
      </p:sp>
      <p:sp>
        <p:nvSpPr>
          <p:cNvPr id="31" name="Shape 24"/>
          <p:cNvSpPr/>
          <p:nvPr/>
        </p:nvSpPr>
        <p:spPr>
          <a:xfrm>
            <a:off x="7955280" y="3218688"/>
            <a:ext cx="310896" cy="310896"/>
          </a:xfrm>
          <a:prstGeom prst="ellipse">
            <a:avLst/>
          </a:prstGeom>
          <a:solidFill>
            <a:srgbClr val="2E9E5B"/>
          </a:solidFill>
          <a:ln w="12700">
            <a:solidFill>
              <a:srgbClr val="2E9E5B"/>
            </a:solidFill>
            <a:prstDash val="solid"/>
          </a:ln>
        </p:spPr>
      </p:sp>
      <p:pic>
        <p:nvPicPr>
          <p:cNvPr id="32" name="Image 5" descr="preencoded.png">    </p:cNvPr>
          <p:cNvPicPr>
            <a:picLocks noChangeAspect="1"/>
          </p:cNvPicPr>
          <p:nvPr/>
        </p:nvPicPr>
        <p:blipFill>
          <a:blip r:embed="rId6"/>
          <a:stretch>
            <a:fillRect/>
          </a:stretch>
        </p:blipFill>
        <p:spPr>
          <a:xfrm>
            <a:off x="8028432" y="3291840"/>
            <a:ext cx="164592" cy="164592"/>
          </a:xfrm>
          <a:prstGeom prst="rect">
            <a:avLst/>
          </a:prstGeom>
        </p:spPr>
      </p:pic>
      <p:sp>
        <p:nvSpPr>
          <p:cNvPr id="33" name="Text 25"/>
          <p:cNvSpPr txBox="1"/>
          <p:nvPr/>
        </p:nvSpPr>
        <p:spPr>
          <a:xfrm>
            <a:off x="8366760" y="3108960"/>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A hard-to-undo change stops it before coding. A hook blocks steering merges.</a:t>
            </a:r>
            <a:endParaRPr lang="en-US" sz="1100" dirty="0"/>
          </a:p>
        </p:txBody>
      </p:sp>
      <p:sp>
        <p:nvSpPr>
          <p:cNvPr id="34" name="Shape 26"/>
          <p:cNvSpPr/>
          <p:nvPr/>
        </p:nvSpPr>
        <p:spPr>
          <a:xfrm>
            <a:off x="548640" y="3685032"/>
            <a:ext cx="11094415" cy="530352"/>
          </a:xfrm>
          <a:prstGeom prst="rect">
            <a:avLst/>
          </a:prstGeom>
          <a:solidFill>
            <a:srgbClr val="FFFFFF"/>
          </a:solidFill>
          <a:ln w="12700">
            <a:solidFill>
              <a:srgbClr val="FFFFFF"/>
            </a:solidFill>
            <a:prstDash val="solid"/>
          </a:ln>
        </p:spPr>
      </p:sp>
      <p:sp>
        <p:nvSpPr>
          <p:cNvPr id="35" name="Shape 27"/>
          <p:cNvSpPr/>
          <p:nvPr/>
        </p:nvSpPr>
        <p:spPr>
          <a:xfrm>
            <a:off x="658368" y="3803904"/>
            <a:ext cx="292608" cy="292608"/>
          </a:xfrm>
          <a:prstGeom prst="ellipse">
            <a:avLst/>
          </a:prstGeom>
          <a:solidFill>
            <a:srgbClr val="7C4DDB"/>
          </a:solidFill>
          <a:ln w="12700">
            <a:solidFill>
              <a:srgbClr val="7C4DDB"/>
            </a:solidFill>
            <a:prstDash val="solid"/>
          </a:ln>
        </p:spPr>
      </p:sp>
      <p:pic>
        <p:nvPicPr>
          <p:cNvPr id="36" name="Image 6" descr="preencoded.png">    </p:cNvPr>
          <p:cNvPicPr>
            <a:picLocks noChangeAspect="1"/>
          </p:cNvPicPr>
          <p:nvPr/>
        </p:nvPicPr>
        <p:blipFill>
          <a:blip r:embed="rId7"/>
          <a:stretch>
            <a:fillRect/>
          </a:stretch>
        </p:blipFill>
        <p:spPr>
          <a:xfrm>
            <a:off x="722742" y="3868278"/>
            <a:ext cx="163860" cy="163860"/>
          </a:xfrm>
          <a:prstGeom prst="rect">
            <a:avLst/>
          </a:prstGeom>
        </p:spPr>
      </p:pic>
      <p:sp>
        <p:nvSpPr>
          <p:cNvPr id="37" name="Text 28"/>
          <p:cNvSpPr txBox="1"/>
          <p:nvPr/>
        </p:nvSpPr>
        <p:spPr>
          <a:xfrm>
            <a:off x="1060704" y="3685032"/>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Findings turn into checks and rules</a:t>
            </a:r>
            <a:endParaRPr lang="en-US" sz="1200" dirty="0"/>
          </a:p>
        </p:txBody>
      </p:sp>
      <p:sp>
        <p:nvSpPr>
          <p:cNvPr id="38" name="Shape 29"/>
          <p:cNvSpPr/>
          <p:nvPr/>
        </p:nvSpPr>
        <p:spPr>
          <a:xfrm>
            <a:off x="4160520" y="3794760"/>
            <a:ext cx="310896" cy="310896"/>
          </a:xfrm>
          <a:prstGeom prst="ellipse">
            <a:avLst/>
          </a:prstGeom>
          <a:solidFill>
            <a:srgbClr val="FFFFFF"/>
          </a:solidFill>
          <a:ln w="15875">
            <a:solidFill>
              <a:srgbClr val="D7DDE8"/>
            </a:solidFill>
            <a:prstDash val="solid"/>
          </a:ln>
        </p:spPr>
      </p:sp>
      <p:pic>
        <p:nvPicPr>
          <p:cNvPr id="39" name="Image 7" descr="preencoded.png">    </p:cNvPr>
          <p:cNvPicPr>
            <a:picLocks noChangeAspect="1"/>
          </p:cNvPicPr>
          <p:nvPr/>
        </p:nvPicPr>
        <p:blipFill>
          <a:blip r:embed="rId8"/>
          <a:stretch>
            <a:fillRect/>
          </a:stretch>
        </p:blipFill>
        <p:spPr>
          <a:xfrm>
            <a:off x="4233672" y="3867912"/>
            <a:ext cx="164592" cy="164592"/>
          </a:xfrm>
          <a:prstGeom prst="rect">
            <a:avLst/>
          </a:prstGeom>
        </p:spPr>
      </p:pic>
      <p:sp>
        <p:nvSpPr>
          <p:cNvPr id="40" name="Text 30"/>
          <p:cNvSpPr txBox="1"/>
          <p:nvPr/>
        </p:nvSpPr>
        <p:spPr>
          <a:xfrm>
            <a:off x="4572000" y="3685032"/>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No retro. The run ledger is deleted, and diagnostics go upstream.</a:t>
            </a:r>
            <a:endParaRPr lang="en-US" sz="1100" dirty="0"/>
          </a:p>
        </p:txBody>
      </p:sp>
      <p:sp>
        <p:nvSpPr>
          <p:cNvPr id="41" name="Shape 31"/>
          <p:cNvSpPr/>
          <p:nvPr/>
        </p:nvSpPr>
        <p:spPr>
          <a:xfrm>
            <a:off x="7955280" y="3794760"/>
            <a:ext cx="310896" cy="310896"/>
          </a:xfrm>
          <a:prstGeom prst="ellipse">
            <a:avLst/>
          </a:prstGeom>
          <a:solidFill>
            <a:srgbClr val="E0962B"/>
          </a:solidFill>
          <a:ln w="12700">
            <a:solidFill>
              <a:srgbClr val="E0962B"/>
            </a:solidFill>
            <a:prstDash val="solid"/>
          </a:ln>
        </p:spPr>
      </p:sp>
      <p:pic>
        <p:nvPicPr>
          <p:cNvPr id="42" name="Image 8" descr="preencoded.png">    </p:cNvPr>
          <p:cNvPicPr>
            <a:picLocks noChangeAspect="1"/>
          </p:cNvPicPr>
          <p:nvPr/>
        </p:nvPicPr>
        <p:blipFill>
          <a:blip r:embed="rId9"/>
          <a:stretch>
            <a:fillRect/>
          </a:stretch>
        </p:blipFill>
        <p:spPr>
          <a:xfrm>
            <a:off x="8028432" y="3867912"/>
            <a:ext cx="164592" cy="164592"/>
          </a:xfrm>
          <a:prstGeom prst="rect">
            <a:avLst/>
          </a:prstGeom>
        </p:spPr>
      </p:pic>
      <p:sp>
        <p:nvSpPr>
          <p:cNvPr id="43" name="Text 32"/>
          <p:cNvSpPr txBox="1"/>
          <p:nvPr/>
        </p:nvSpPr>
        <p:spPr>
          <a:xfrm>
            <a:off x="8366760" y="3685032"/>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The comment pass queues rules for CODING_STANDARDS.md. /retro is a beta stub.</a:t>
            </a:r>
            <a:endParaRPr lang="en-US" sz="1100" dirty="0"/>
          </a:p>
        </p:txBody>
      </p:sp>
      <p:sp>
        <p:nvSpPr>
          <p:cNvPr id="44" name="Shape 33"/>
          <p:cNvSpPr/>
          <p:nvPr/>
        </p:nvSpPr>
        <p:spPr>
          <a:xfrm>
            <a:off x="548640" y="4261104"/>
            <a:ext cx="11094415" cy="530352"/>
          </a:xfrm>
          <a:prstGeom prst="rect">
            <a:avLst/>
          </a:prstGeom>
          <a:solidFill>
            <a:srgbClr val="F1F4F9"/>
          </a:solidFill>
          <a:ln w="12700">
            <a:solidFill>
              <a:srgbClr val="F1F4F9"/>
            </a:solidFill>
            <a:prstDash val="solid"/>
          </a:ln>
        </p:spPr>
      </p:sp>
      <p:sp>
        <p:nvSpPr>
          <p:cNvPr id="45" name="Shape 34"/>
          <p:cNvSpPr/>
          <p:nvPr/>
        </p:nvSpPr>
        <p:spPr>
          <a:xfrm>
            <a:off x="658368" y="4379976"/>
            <a:ext cx="292608" cy="292608"/>
          </a:xfrm>
          <a:prstGeom prst="ellipse">
            <a:avLst/>
          </a:prstGeom>
          <a:solidFill>
            <a:srgbClr val="14213D"/>
          </a:solidFill>
          <a:ln w="12700">
            <a:solidFill>
              <a:srgbClr val="14213D"/>
            </a:solidFill>
            <a:prstDash val="solid"/>
          </a:ln>
        </p:spPr>
      </p:sp>
      <p:pic>
        <p:nvPicPr>
          <p:cNvPr id="46" name="Image 9" descr="preencoded.png">    </p:cNvPr>
          <p:cNvPicPr>
            <a:picLocks noChangeAspect="1"/>
          </p:cNvPicPr>
          <p:nvPr/>
        </p:nvPicPr>
        <p:blipFill>
          <a:blip r:embed="rId10"/>
          <a:stretch>
            <a:fillRect/>
          </a:stretch>
        </p:blipFill>
        <p:spPr>
          <a:xfrm>
            <a:off x="722742" y="4444350"/>
            <a:ext cx="163860" cy="163860"/>
          </a:xfrm>
          <a:prstGeom prst="rect">
            <a:avLst/>
          </a:prstGeom>
        </p:spPr>
      </p:pic>
      <p:sp>
        <p:nvSpPr>
          <p:cNvPr id="47" name="Text 35"/>
          <p:cNvSpPr txBox="1"/>
          <p:nvPr/>
        </p:nvSpPr>
        <p:spPr>
          <a:xfrm>
            <a:off x="1060704" y="4261104"/>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The team reviews changes to agent rules</a:t>
            </a:r>
            <a:endParaRPr lang="en-US" sz="1200" dirty="0"/>
          </a:p>
        </p:txBody>
      </p:sp>
      <p:sp>
        <p:nvSpPr>
          <p:cNvPr id="48" name="Shape 36"/>
          <p:cNvSpPr/>
          <p:nvPr/>
        </p:nvSpPr>
        <p:spPr>
          <a:xfrm>
            <a:off x="4160520" y="4370832"/>
            <a:ext cx="310896" cy="310896"/>
          </a:xfrm>
          <a:prstGeom prst="ellipse">
            <a:avLst/>
          </a:prstGeom>
          <a:solidFill>
            <a:srgbClr val="FFFFFF"/>
          </a:solidFill>
          <a:ln w="15875">
            <a:solidFill>
              <a:srgbClr val="D7DDE8"/>
            </a:solidFill>
            <a:prstDash val="solid"/>
          </a:ln>
        </p:spPr>
      </p:sp>
      <p:pic>
        <p:nvPicPr>
          <p:cNvPr id="49" name="Image 10" descr="preencoded.png">    </p:cNvPr>
          <p:cNvPicPr>
            <a:picLocks noChangeAspect="1"/>
          </p:cNvPicPr>
          <p:nvPr/>
        </p:nvPicPr>
        <p:blipFill>
          <a:blip r:embed="rId11"/>
          <a:stretch>
            <a:fillRect/>
          </a:stretch>
        </p:blipFill>
        <p:spPr>
          <a:xfrm>
            <a:off x="4233672" y="4443984"/>
            <a:ext cx="164592" cy="164592"/>
          </a:xfrm>
          <a:prstGeom prst="rect">
            <a:avLst/>
          </a:prstGeom>
        </p:spPr>
      </p:pic>
      <p:sp>
        <p:nvSpPr>
          <p:cNvPr id="50" name="Text 37"/>
          <p:cNvSpPr txBox="1"/>
          <p:nvPr/>
        </p:nvSpPr>
        <p:spPr>
          <a:xfrm>
            <a:off x="4572000" y="4261104"/>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Rules live in the plugin. An update changes behaviour with no repo diff.</a:t>
            </a:r>
            <a:endParaRPr lang="en-US" sz="1100" dirty="0"/>
          </a:p>
        </p:txBody>
      </p:sp>
      <p:sp>
        <p:nvSpPr>
          <p:cNvPr id="51" name="Shape 38"/>
          <p:cNvSpPr/>
          <p:nvPr/>
        </p:nvSpPr>
        <p:spPr>
          <a:xfrm>
            <a:off x="7955280" y="4370832"/>
            <a:ext cx="310896" cy="310896"/>
          </a:xfrm>
          <a:prstGeom prst="ellipse">
            <a:avLst/>
          </a:prstGeom>
          <a:solidFill>
            <a:srgbClr val="2E9E5B"/>
          </a:solidFill>
          <a:ln w="12700">
            <a:solidFill>
              <a:srgbClr val="2E9E5B"/>
            </a:solidFill>
            <a:prstDash val="solid"/>
          </a:ln>
        </p:spPr>
      </p:sp>
      <p:pic>
        <p:nvPicPr>
          <p:cNvPr id="52" name="Image 11" descr="preencoded.png">    </p:cNvPr>
          <p:cNvPicPr>
            <a:picLocks noChangeAspect="1"/>
          </p:cNvPicPr>
          <p:nvPr/>
        </p:nvPicPr>
        <p:blipFill>
          <a:blip r:embed="rId12"/>
          <a:stretch>
            <a:fillRect/>
          </a:stretch>
        </p:blipFill>
        <p:spPr>
          <a:xfrm>
            <a:off x="8028432" y="4443984"/>
            <a:ext cx="164592" cy="164592"/>
          </a:xfrm>
          <a:prstGeom prst="rect">
            <a:avLst/>
          </a:prstGeom>
        </p:spPr>
      </p:pic>
      <p:sp>
        <p:nvSpPr>
          <p:cNvPr id="53" name="Text 39"/>
          <p:cNvSpPr txBox="1"/>
          <p:nvPr/>
        </p:nvSpPr>
        <p:spPr>
          <a:xfrm>
            <a:off x="8366760" y="4261104"/>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Steering files live in the repo. A merge hook, CODEOWNERS and a ruleset guard them.</a:t>
            </a:r>
            <a:endParaRPr lang="en-US" sz="1100" dirty="0"/>
          </a:p>
        </p:txBody>
      </p:sp>
      <p:sp>
        <p:nvSpPr>
          <p:cNvPr id="54" name="Shape 40"/>
          <p:cNvSpPr/>
          <p:nvPr/>
        </p:nvSpPr>
        <p:spPr>
          <a:xfrm>
            <a:off x="548640" y="4837176"/>
            <a:ext cx="11094415" cy="530352"/>
          </a:xfrm>
          <a:prstGeom prst="rect">
            <a:avLst/>
          </a:prstGeom>
          <a:solidFill>
            <a:srgbClr val="FFFFFF"/>
          </a:solidFill>
          <a:ln w="12700">
            <a:solidFill>
              <a:srgbClr val="FFFFFF"/>
            </a:solidFill>
            <a:prstDash val="solid"/>
          </a:ln>
        </p:spPr>
      </p:sp>
      <p:sp>
        <p:nvSpPr>
          <p:cNvPr id="55" name="Shape 41"/>
          <p:cNvSpPr/>
          <p:nvPr/>
        </p:nvSpPr>
        <p:spPr>
          <a:xfrm>
            <a:off x="658368" y="4956048"/>
            <a:ext cx="292608" cy="292608"/>
          </a:xfrm>
          <a:prstGeom prst="ellipse">
            <a:avLst/>
          </a:prstGeom>
          <a:solidFill>
            <a:srgbClr val="14213D"/>
          </a:solidFill>
          <a:ln w="12700">
            <a:solidFill>
              <a:srgbClr val="14213D"/>
            </a:solidFill>
            <a:prstDash val="solid"/>
          </a:ln>
        </p:spPr>
      </p:sp>
      <p:pic>
        <p:nvPicPr>
          <p:cNvPr id="56" name="Image 12" descr="preencoded.png">    </p:cNvPr>
          <p:cNvPicPr>
            <a:picLocks noChangeAspect="1"/>
          </p:cNvPicPr>
          <p:nvPr/>
        </p:nvPicPr>
        <p:blipFill>
          <a:blip r:embed="rId13"/>
          <a:stretch>
            <a:fillRect/>
          </a:stretch>
        </p:blipFill>
        <p:spPr>
          <a:xfrm>
            <a:off x="722742" y="5020422"/>
            <a:ext cx="163860" cy="163860"/>
          </a:xfrm>
          <a:prstGeom prst="rect">
            <a:avLst/>
          </a:prstGeom>
        </p:spPr>
      </p:pic>
      <p:sp>
        <p:nvSpPr>
          <p:cNvPr id="57" name="Text 42"/>
          <p:cNvSpPr txBox="1"/>
          <p:nvPr/>
        </p:nvSpPr>
        <p:spPr>
          <a:xfrm>
            <a:off x="1060704" y="4837176"/>
            <a:ext cx="2880360" cy="530352"/>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Parallel work with nobody watching</a:t>
            </a:r>
            <a:endParaRPr lang="en-US" sz="1200" dirty="0"/>
          </a:p>
        </p:txBody>
      </p:sp>
      <p:sp>
        <p:nvSpPr>
          <p:cNvPr id="58" name="Shape 43"/>
          <p:cNvSpPr/>
          <p:nvPr/>
        </p:nvSpPr>
        <p:spPr>
          <a:xfrm>
            <a:off x="4160520" y="4946904"/>
            <a:ext cx="310896" cy="310896"/>
          </a:xfrm>
          <a:prstGeom prst="ellipse">
            <a:avLst/>
          </a:prstGeom>
          <a:solidFill>
            <a:srgbClr val="E0962B"/>
          </a:solidFill>
          <a:ln w="12700">
            <a:solidFill>
              <a:srgbClr val="E0962B"/>
            </a:solidFill>
            <a:prstDash val="solid"/>
          </a:ln>
        </p:spPr>
      </p:sp>
      <p:pic>
        <p:nvPicPr>
          <p:cNvPr id="59" name="Image 13" descr="preencoded.png">    </p:cNvPr>
          <p:cNvPicPr>
            <a:picLocks noChangeAspect="1"/>
          </p:cNvPicPr>
          <p:nvPr/>
        </p:nvPicPr>
        <p:blipFill>
          <a:blip r:embed="rId14"/>
          <a:stretch>
            <a:fillRect/>
          </a:stretch>
        </p:blipFill>
        <p:spPr>
          <a:xfrm>
            <a:off x="4233672" y="5020056"/>
            <a:ext cx="164592" cy="164592"/>
          </a:xfrm>
          <a:prstGeom prst="rect">
            <a:avLst/>
          </a:prstGeom>
        </p:spPr>
      </p:pic>
      <p:sp>
        <p:nvSpPr>
          <p:cNvPr id="60" name="Text 44"/>
          <p:cNvSpPr txBox="1"/>
          <p:nvPr/>
        </p:nvSpPr>
        <p:spPr>
          <a:xfrm>
            <a:off x="4572000" y="4837176"/>
            <a:ext cx="3136392"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Markdown plans. One session runs the implementers one after another.</a:t>
            </a:r>
            <a:endParaRPr lang="en-US" sz="1100" dirty="0"/>
          </a:p>
        </p:txBody>
      </p:sp>
      <p:sp>
        <p:nvSpPr>
          <p:cNvPr id="61" name="Shape 45"/>
          <p:cNvSpPr/>
          <p:nvPr/>
        </p:nvSpPr>
        <p:spPr>
          <a:xfrm>
            <a:off x="7955280" y="4946904"/>
            <a:ext cx="310896" cy="310896"/>
          </a:xfrm>
          <a:prstGeom prst="ellipse">
            <a:avLst/>
          </a:prstGeom>
          <a:solidFill>
            <a:srgbClr val="2E9E5B"/>
          </a:solidFill>
          <a:ln w="12700">
            <a:solidFill>
              <a:srgbClr val="2E9E5B"/>
            </a:solidFill>
            <a:prstDash val="solid"/>
          </a:ln>
        </p:spPr>
      </p:sp>
      <p:pic>
        <p:nvPicPr>
          <p:cNvPr id="62" name="Image 14" descr="preencoded.png">    </p:cNvPr>
          <p:cNvPicPr>
            <a:picLocks noChangeAspect="1"/>
          </p:cNvPicPr>
          <p:nvPr/>
        </p:nvPicPr>
        <p:blipFill>
          <a:blip r:embed="rId15"/>
          <a:stretch>
            <a:fillRect/>
          </a:stretch>
        </p:blipFill>
        <p:spPr>
          <a:xfrm>
            <a:off x="8028432" y="5020056"/>
            <a:ext cx="164592" cy="164592"/>
          </a:xfrm>
          <a:prstGeom prst="rect">
            <a:avLst/>
          </a:prstGeom>
        </p:spPr>
      </p:pic>
      <p:sp>
        <p:nvSpPr>
          <p:cNvPr id="63" name="Text 46"/>
          <p:cNvSpPr txBox="1"/>
          <p:nvPr/>
        </p:nvSpPr>
        <p:spPr>
          <a:xfrm>
            <a:off x="8366760" y="4837176"/>
            <a:ext cx="3209544" cy="530352"/>
          </a:xfrm>
          <a:prstGeom prst="rect">
            <a:avLst/>
          </a:prstGeom>
          <a:noFill/>
          <a:ln/>
        </p:spPr>
        <p:txBody>
          <a:bodyPr wrap="square" lIns="0" tIns="0" rIns="0" bIns="0" rtlCol="0" anchor="ctr"/>
          <a:lstStyle/>
          <a:p>
            <a:pPr indent="0" marL="0">
              <a:buNone/>
            </a:pPr>
            <a:r>
              <a:rPr lang="en-US" sz="1100" dirty="0">
                <a:solidFill>
                  <a:srgbClr val="4A5468"/>
                </a:solidFill>
                <a:latin typeface="Arial" pitchFamily="34" charset="0"/>
                <a:ea typeface="Arial" pitchFamily="34" charset="-122"/>
                <a:cs typeface="Arial" pitchFamily="34" charset="-120"/>
              </a:rPr>
              <a:t>ready-for-agent issues, an AFK environment file and hand-back rules.</a:t>
            </a:r>
            <a:endParaRPr lang="en-US" sz="1100" dirty="0"/>
          </a:p>
        </p:txBody>
      </p:sp>
      <p:sp>
        <p:nvSpPr>
          <p:cNvPr id="64" name="Shape 47"/>
          <p:cNvSpPr/>
          <p:nvPr/>
        </p:nvSpPr>
        <p:spPr>
          <a:xfrm>
            <a:off x="5760720" y="6053328"/>
            <a:ext cx="310896" cy="310896"/>
          </a:xfrm>
          <a:prstGeom prst="ellipse">
            <a:avLst/>
          </a:prstGeom>
          <a:solidFill>
            <a:srgbClr val="2E9E5B"/>
          </a:solidFill>
          <a:ln w="12700">
            <a:solidFill>
              <a:srgbClr val="2E9E5B"/>
            </a:solidFill>
            <a:prstDash val="solid"/>
          </a:ln>
        </p:spPr>
      </p:sp>
      <p:pic>
        <p:nvPicPr>
          <p:cNvPr id="65" name="Image 15" descr="preencoded.png">    </p:cNvPr>
          <p:cNvPicPr>
            <a:picLocks noChangeAspect="1"/>
          </p:cNvPicPr>
          <p:nvPr/>
        </p:nvPicPr>
        <p:blipFill>
          <a:blip r:embed="rId16"/>
          <a:stretch>
            <a:fillRect/>
          </a:stretch>
        </p:blipFill>
        <p:spPr>
          <a:xfrm>
            <a:off x="5833872" y="6126480"/>
            <a:ext cx="164592" cy="164592"/>
          </a:xfrm>
          <a:prstGeom prst="rect">
            <a:avLst/>
          </a:prstGeom>
        </p:spPr>
      </p:pic>
      <p:sp>
        <p:nvSpPr>
          <p:cNvPr id="66" name="Text 48"/>
          <p:cNvSpPr txBox="1"/>
          <p:nvPr/>
        </p:nvSpPr>
        <p:spPr>
          <a:xfrm>
            <a:off x="614476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covers it</a:t>
            </a:r>
            <a:endParaRPr lang="en-US" sz="1050" dirty="0"/>
          </a:p>
        </p:txBody>
      </p:sp>
      <p:sp>
        <p:nvSpPr>
          <p:cNvPr id="67" name="Shape 49"/>
          <p:cNvSpPr/>
          <p:nvPr/>
        </p:nvSpPr>
        <p:spPr>
          <a:xfrm>
            <a:off x="7223760" y="6053328"/>
            <a:ext cx="310896" cy="310896"/>
          </a:xfrm>
          <a:prstGeom prst="ellipse">
            <a:avLst/>
          </a:prstGeom>
          <a:solidFill>
            <a:srgbClr val="E0962B"/>
          </a:solidFill>
          <a:ln w="12700">
            <a:solidFill>
              <a:srgbClr val="E0962B"/>
            </a:solidFill>
            <a:prstDash val="solid"/>
          </a:ln>
        </p:spPr>
      </p:sp>
      <p:pic>
        <p:nvPicPr>
          <p:cNvPr id="68" name="Image 16" descr="preencoded.png">    </p:cNvPr>
          <p:cNvPicPr>
            <a:picLocks noChangeAspect="1"/>
          </p:cNvPicPr>
          <p:nvPr/>
        </p:nvPicPr>
        <p:blipFill>
          <a:blip r:embed="rId17"/>
          <a:stretch>
            <a:fillRect/>
          </a:stretch>
        </p:blipFill>
        <p:spPr>
          <a:xfrm>
            <a:off x="7296912" y="6126480"/>
            <a:ext cx="164592" cy="164592"/>
          </a:xfrm>
          <a:prstGeom prst="rect">
            <a:avLst/>
          </a:prstGeom>
        </p:spPr>
      </p:pic>
      <p:sp>
        <p:nvSpPr>
          <p:cNvPr id="69" name="Text 50"/>
          <p:cNvSpPr txBox="1"/>
          <p:nvPr/>
        </p:nvSpPr>
        <p:spPr>
          <a:xfrm>
            <a:off x="760780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partly, or prose only</a:t>
            </a:r>
            <a:endParaRPr lang="en-US" sz="1050" dirty="0"/>
          </a:p>
        </p:txBody>
      </p:sp>
      <p:sp>
        <p:nvSpPr>
          <p:cNvPr id="70" name="Shape 51"/>
          <p:cNvSpPr/>
          <p:nvPr/>
        </p:nvSpPr>
        <p:spPr>
          <a:xfrm>
            <a:off x="9464040" y="6053328"/>
            <a:ext cx="310896" cy="310896"/>
          </a:xfrm>
          <a:prstGeom prst="ellipse">
            <a:avLst/>
          </a:prstGeom>
          <a:solidFill>
            <a:srgbClr val="FFFFFF"/>
          </a:solidFill>
          <a:ln w="15875">
            <a:solidFill>
              <a:srgbClr val="D7DDE8"/>
            </a:solidFill>
            <a:prstDash val="solid"/>
          </a:ln>
        </p:spPr>
      </p:sp>
      <p:pic>
        <p:nvPicPr>
          <p:cNvPr id="71" name="Image 17" descr="preencoded.png">    </p:cNvPr>
          <p:cNvPicPr>
            <a:picLocks noChangeAspect="1"/>
          </p:cNvPicPr>
          <p:nvPr/>
        </p:nvPicPr>
        <p:blipFill>
          <a:blip r:embed="rId18"/>
          <a:stretch>
            <a:fillRect/>
          </a:stretch>
        </p:blipFill>
        <p:spPr>
          <a:xfrm>
            <a:off x="9537192" y="6126480"/>
            <a:ext cx="164592" cy="164592"/>
          </a:xfrm>
          <a:prstGeom prst="rect">
            <a:avLst/>
          </a:prstGeom>
        </p:spPr>
      </p:pic>
      <p:sp>
        <p:nvSpPr>
          <p:cNvPr id="72" name="Text 52"/>
          <p:cNvSpPr txBox="1"/>
          <p:nvPr/>
        </p:nvSpPr>
        <p:spPr>
          <a:xfrm>
            <a:off x="9848088" y="6053328"/>
            <a:ext cx="1737360" cy="310896"/>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not covered</a:t>
            </a:r>
            <a:endParaRPr lang="en-US" sz="1050" dirty="0"/>
          </a:p>
        </p:txBody>
      </p:sp>
      <p:sp>
        <p:nvSpPr>
          <p:cNvPr id="73" name="Text 53"/>
          <p:cNvSpPr txBox="1"/>
          <p:nvPr/>
        </p:nvSpPr>
        <p:spPr>
          <a:xfrm>
            <a:off x="548640" y="5504688"/>
            <a:ext cx="5120640" cy="822960"/>
          </a:xfrm>
          <a:prstGeom prst="rect">
            <a:avLst/>
          </a:prstGeom>
          <a:noFill/>
          <a:ln/>
        </p:spPr>
        <p:txBody>
          <a:bodyPr wrap="square" lIns="0" tIns="0" rIns="0" bIns="0" rtlCol="0" anchor="ctr"/>
          <a:lstStyle/>
          <a:p>
            <a:pPr indent="0" marL="0">
              <a:buNone/>
            </a:pPr>
            <a:r>
              <a:rPr lang="en-US" sz="1050" dirty="0">
                <a:solidFill>
                  <a:srgbClr val="4A5468"/>
                </a:solidFill>
                <a:latin typeface="Arial" pitchFamily="34" charset="0"/>
                <a:ea typeface="Arial" pitchFamily="34" charset="-122"/>
                <a:cs typeface="Arial" pitchFamily="34" charset="-120"/>
              </a:rPr>
              <a:t>Pocock's /pr, with door and blast radius, and /retro are in beta on his main branch. agent-ready pins v1.2.3, which has neither.</a:t>
            </a:r>
            <a:endParaRPr lang="en-US" sz="1050" dirty="0"/>
          </a:p>
        </p:txBody>
      </p:sp>
      <p:sp>
        <p:nvSpPr>
          <p:cNvPr id="74" name="Text 54"/>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and main, agent-ready main (2026-09-27)</a:t>
            </a:r>
            <a:endParaRPr lang="en-US" sz="900" dirty="0"/>
          </a:p>
        </p:txBody>
      </p:sp>
      <p:sp>
        <p:nvSpPr>
          <p:cNvPr id="75" name="Text 55"/>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9184"/>
            <a:ext cx="2991917" cy="274320"/>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AGENT-READY · BRAKES 1 AND 2</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Every rule goes to the cheapest place that enforces it</a:t>
            </a:r>
            <a:endParaRPr lang="en-US" sz="2800" dirty="0"/>
          </a:p>
        </p:txBody>
      </p:sp>
      <p:sp>
        <p:nvSpPr>
          <p:cNvPr id="4" name="Shape 2"/>
          <p:cNvSpPr/>
          <p:nvPr/>
        </p:nvSpPr>
        <p:spPr>
          <a:xfrm>
            <a:off x="548640" y="2788920"/>
            <a:ext cx="2331720" cy="1188720"/>
          </a:xfrm>
          <a:prstGeom prst="roundRect">
            <a:avLst>
              <a:gd name="adj" fmla="val 7692"/>
            </a:avLst>
          </a:prstGeom>
          <a:solidFill>
            <a:srgbClr val="F1F4F9"/>
          </a:solidFill>
          <a:ln w="12700">
            <a:solidFill>
              <a:srgbClr val="F1F4F9"/>
            </a:solidFill>
            <a:prstDash val="solid"/>
          </a:ln>
        </p:spPr>
      </p:sp>
      <p:pic>
        <p:nvPicPr>
          <p:cNvPr id="5" name="Image 0" descr="preencoded.png">    </p:cNvPr>
          <p:cNvPicPr>
            <a:picLocks noChangeAspect="1"/>
          </p:cNvPicPr>
          <p:nvPr/>
        </p:nvPicPr>
        <p:blipFill>
          <a:blip r:embed="rId1"/>
          <a:stretch>
            <a:fillRect/>
          </a:stretch>
        </p:blipFill>
        <p:spPr>
          <a:xfrm>
            <a:off x="731520" y="2971800"/>
            <a:ext cx="365760" cy="365760"/>
          </a:xfrm>
          <a:prstGeom prst="rect">
            <a:avLst/>
          </a:prstGeom>
        </p:spPr>
      </p:pic>
      <p:sp>
        <p:nvSpPr>
          <p:cNvPr id="6" name="Text 3"/>
          <p:cNvSpPr txBox="1"/>
          <p:nvPr/>
        </p:nvSpPr>
        <p:spPr>
          <a:xfrm>
            <a:off x="731520" y="3401568"/>
            <a:ext cx="2011680" cy="502920"/>
          </a:xfrm>
          <a:prstGeom prst="rect">
            <a:avLst/>
          </a:prstGeom>
          <a:noFill/>
          <a:ln/>
        </p:spPr>
        <p:txBody>
          <a:bodyPr wrap="square" lIns="0" tIns="0" rIns="0" bIns="0" rtlCol="0" anchor="t"/>
          <a:lstStyle/>
          <a:p>
            <a:pPr indent="0" marL="0">
              <a:buNone/>
            </a:pPr>
            <a:r>
              <a:rPr lang="en-US" sz="1300" b="1" dirty="0">
                <a:solidFill>
                  <a:srgbClr val="14213D"/>
                </a:solidFill>
                <a:latin typeface="Arial" pitchFamily="34" charset="0"/>
                <a:ea typeface="Arial" pitchFamily="34" charset="-122"/>
                <a:cs typeface="Arial" pitchFamily="34" charset="-120"/>
              </a:rPr>
              <a:t>A rule, a fact or a decision</a:t>
            </a:r>
            <a:endParaRPr lang="en-US" sz="1300" dirty="0"/>
          </a:p>
        </p:txBody>
      </p:sp>
      <p:sp>
        <p:nvSpPr>
          <p:cNvPr id="7" name="Shape 4"/>
          <p:cNvSpPr/>
          <p:nvPr/>
        </p:nvSpPr>
        <p:spPr>
          <a:xfrm>
            <a:off x="2880360" y="3383280"/>
            <a:ext cx="365760" cy="0"/>
          </a:xfrm>
          <a:prstGeom prst="line">
            <a:avLst/>
          </a:prstGeom>
          <a:noFill/>
          <a:ln w="25400">
            <a:solidFill>
              <a:srgbClr val="4A5468"/>
            </a:solidFill>
            <a:prstDash val="solid"/>
            <a:tailEnd type="triangle"/>
          </a:ln>
        </p:spPr>
      </p:sp>
      <p:sp>
        <p:nvSpPr>
          <p:cNvPr id="8" name="Shape 5"/>
          <p:cNvSpPr/>
          <p:nvPr/>
        </p:nvSpPr>
        <p:spPr>
          <a:xfrm>
            <a:off x="3291840" y="2880360"/>
            <a:ext cx="1005840" cy="1005840"/>
          </a:xfrm>
          <a:prstGeom prst="ellipse">
            <a:avLst/>
          </a:prstGeom>
          <a:solidFill>
            <a:srgbClr val="14213D"/>
          </a:solidFill>
          <a:ln w="12700">
            <a:solidFill>
              <a:srgbClr val="14213D"/>
            </a:solidFill>
            <a:prstDash val="solid"/>
          </a:ln>
        </p:spPr>
      </p:sp>
      <p:pic>
        <p:nvPicPr>
          <p:cNvPr id="9" name="Image 1" descr="preencoded.png">    </p:cNvPr>
          <p:cNvPicPr>
            <a:picLocks noChangeAspect="1"/>
          </p:cNvPicPr>
          <p:nvPr/>
        </p:nvPicPr>
        <p:blipFill>
          <a:blip r:embed="rId2"/>
          <a:stretch>
            <a:fillRect/>
          </a:stretch>
        </p:blipFill>
        <p:spPr>
          <a:xfrm>
            <a:off x="3533242" y="3121762"/>
            <a:ext cx="523037" cy="523037"/>
          </a:xfrm>
          <a:prstGeom prst="rect">
            <a:avLst/>
          </a:prstGeom>
        </p:spPr>
      </p:pic>
      <p:sp>
        <p:nvSpPr>
          <p:cNvPr id="10" name="Text 6"/>
          <p:cNvSpPr txBox="1"/>
          <p:nvPr/>
        </p:nvSpPr>
        <p:spPr>
          <a:xfrm>
            <a:off x="3063240" y="3950208"/>
            <a:ext cx="1463040" cy="274320"/>
          </a:xfrm>
          <a:prstGeom prst="rect">
            <a:avLst/>
          </a:prstGeom>
          <a:noFill/>
          <a:ln/>
        </p:spPr>
        <p:txBody>
          <a:bodyPr wrap="square" lIns="0" tIns="0" rIns="0" bIns="0" rtlCol="0" anchor="t"/>
          <a:lstStyle/>
          <a:p>
            <a:pPr algn="ctr" indent="0" marL="0">
              <a:buNone/>
            </a:pPr>
            <a:r>
              <a:rPr lang="en-US" sz="1100" dirty="0">
                <a:solidFill>
                  <a:srgbClr val="4A5468"/>
                </a:solidFill>
                <a:latin typeface="Arial" pitchFamily="34" charset="0"/>
                <a:ea typeface="Arial" pitchFamily="34" charset="-122"/>
                <a:cs typeface="Arial" pitchFamily="34" charset="-120"/>
              </a:rPr>
              <a:t>routing table</a:t>
            </a:r>
            <a:endParaRPr lang="en-US" sz="1100" dirty="0"/>
          </a:p>
        </p:txBody>
      </p:sp>
      <p:sp>
        <p:nvSpPr>
          <p:cNvPr id="11" name="Shape 7"/>
          <p:cNvSpPr/>
          <p:nvPr/>
        </p:nvSpPr>
        <p:spPr>
          <a:xfrm flipV="1">
            <a:off x="4315968" y="1837944"/>
            <a:ext cx="576072" cy="1545336"/>
          </a:xfrm>
          <a:prstGeom prst="line">
            <a:avLst/>
          </a:prstGeom>
          <a:noFill/>
          <a:ln w="15875">
            <a:solidFill>
              <a:srgbClr val="8D99B3"/>
            </a:solidFill>
            <a:prstDash val="solid"/>
            <a:tailEnd type="triangle"/>
          </a:ln>
        </p:spPr>
      </p:sp>
      <p:sp>
        <p:nvSpPr>
          <p:cNvPr id="12" name="Shape 8"/>
          <p:cNvSpPr/>
          <p:nvPr/>
        </p:nvSpPr>
        <p:spPr>
          <a:xfrm>
            <a:off x="4937760" y="1572768"/>
            <a:ext cx="6702552" cy="530352"/>
          </a:xfrm>
          <a:prstGeom prst="roundRect">
            <a:avLst>
              <a:gd name="adj" fmla="val 17241"/>
            </a:avLst>
          </a:prstGeom>
          <a:solidFill>
            <a:srgbClr val="F1F4F9"/>
          </a:solidFill>
          <a:ln w="9525">
            <a:solidFill>
              <a:srgbClr val="D7DDE8"/>
            </a:solidFill>
            <a:prstDash val="solid"/>
          </a:ln>
        </p:spPr>
      </p:sp>
      <p:sp>
        <p:nvSpPr>
          <p:cNvPr id="13" name="Shape 9"/>
          <p:cNvSpPr/>
          <p:nvPr/>
        </p:nvSpPr>
        <p:spPr>
          <a:xfrm>
            <a:off x="5029200" y="1645920"/>
            <a:ext cx="384048" cy="384048"/>
          </a:xfrm>
          <a:prstGeom prst="ellipse">
            <a:avLst/>
          </a:prstGeom>
          <a:solidFill>
            <a:srgbClr val="1F9E89"/>
          </a:solidFill>
          <a:ln w="12700">
            <a:solidFill>
              <a:srgbClr val="1F9E89"/>
            </a:solidFill>
            <a:prstDash val="solid"/>
          </a:ln>
        </p:spPr>
      </p:sp>
      <p:pic>
        <p:nvPicPr>
          <p:cNvPr id="14" name="Image 2" descr="preencoded.png">    </p:cNvPr>
          <p:cNvPicPr>
            <a:picLocks noChangeAspect="1"/>
          </p:cNvPicPr>
          <p:nvPr/>
        </p:nvPicPr>
        <p:blipFill>
          <a:blip r:embed="rId3"/>
          <a:stretch>
            <a:fillRect/>
          </a:stretch>
        </p:blipFill>
        <p:spPr>
          <a:xfrm>
            <a:off x="5121372" y="1738092"/>
            <a:ext cx="199705" cy="199705"/>
          </a:xfrm>
          <a:prstGeom prst="rect">
            <a:avLst/>
          </a:prstGeom>
        </p:spPr>
      </p:pic>
      <p:sp>
        <p:nvSpPr>
          <p:cNvPr id="15" name="Text 10"/>
          <p:cNvSpPr txBox="1"/>
          <p:nvPr/>
        </p:nvSpPr>
        <p:spPr>
          <a:xfrm>
            <a:off x="5532120" y="1572768"/>
            <a:ext cx="2514600" cy="530352"/>
          </a:xfrm>
          <a:prstGeom prst="rect">
            <a:avLst/>
          </a:prstGeom>
          <a:noFill/>
          <a:ln/>
        </p:spPr>
        <p:txBody>
          <a:bodyPr wrap="square" lIns="0" tIns="0" rIns="0" bIns="0" rtlCol="0" anchor="ctr"/>
          <a:lstStyle/>
          <a:p>
            <a:pPr indent="0" marL="0">
              <a:buNone/>
            </a:pPr>
            <a:r>
              <a:rPr lang="en-US" sz="1200" b="1" dirty="0">
                <a:solidFill>
                  <a:srgbClr val="1F9E89"/>
                </a:solidFill>
                <a:latin typeface="Arial" pitchFamily="34" charset="0"/>
                <a:ea typeface="Arial" pitchFamily="34" charset="-122"/>
                <a:cs typeface="Arial" pitchFamily="34" charset="-120"/>
              </a:rPr>
              <a:t>Lint, typecheck, tests</a:t>
            </a:r>
            <a:endParaRPr lang="en-US" sz="1200" dirty="0"/>
          </a:p>
        </p:txBody>
      </p:sp>
      <p:sp>
        <p:nvSpPr>
          <p:cNvPr id="16" name="Text 11"/>
          <p:cNvSpPr txBox="1"/>
          <p:nvPr/>
        </p:nvSpPr>
        <p:spPr>
          <a:xfrm>
            <a:off x="8092440" y="1572768"/>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 tool can check it. The tool wins.</a:t>
            </a:r>
            <a:endParaRPr lang="en-US" sz="1200" dirty="0"/>
          </a:p>
        </p:txBody>
      </p:sp>
      <p:sp>
        <p:nvSpPr>
          <p:cNvPr id="17" name="Shape 12"/>
          <p:cNvSpPr/>
          <p:nvPr/>
        </p:nvSpPr>
        <p:spPr>
          <a:xfrm flipV="1">
            <a:off x="4315968" y="2441448"/>
            <a:ext cx="576072" cy="941832"/>
          </a:xfrm>
          <a:prstGeom prst="line">
            <a:avLst/>
          </a:prstGeom>
          <a:noFill/>
          <a:ln w="15875">
            <a:solidFill>
              <a:srgbClr val="8D99B3"/>
            </a:solidFill>
            <a:prstDash val="solid"/>
            <a:tailEnd type="triangle"/>
          </a:ln>
        </p:spPr>
      </p:sp>
      <p:sp>
        <p:nvSpPr>
          <p:cNvPr id="18" name="Shape 13"/>
          <p:cNvSpPr/>
          <p:nvPr/>
        </p:nvSpPr>
        <p:spPr>
          <a:xfrm>
            <a:off x="4937760" y="2176272"/>
            <a:ext cx="6702552" cy="530352"/>
          </a:xfrm>
          <a:prstGeom prst="roundRect">
            <a:avLst>
              <a:gd name="adj" fmla="val 17241"/>
            </a:avLst>
          </a:prstGeom>
          <a:solidFill>
            <a:srgbClr val="FFFFFF"/>
          </a:solidFill>
          <a:ln w="9525">
            <a:solidFill>
              <a:srgbClr val="D7DDE8"/>
            </a:solidFill>
            <a:prstDash val="solid"/>
          </a:ln>
        </p:spPr>
      </p:sp>
      <p:sp>
        <p:nvSpPr>
          <p:cNvPr id="19" name="Shape 14"/>
          <p:cNvSpPr/>
          <p:nvPr/>
        </p:nvSpPr>
        <p:spPr>
          <a:xfrm>
            <a:off x="5029200" y="2249424"/>
            <a:ext cx="384048" cy="384048"/>
          </a:xfrm>
          <a:prstGeom prst="ellipse">
            <a:avLst/>
          </a:prstGeom>
          <a:solidFill>
            <a:srgbClr val="4F5BD5"/>
          </a:solidFill>
          <a:ln w="12700">
            <a:solidFill>
              <a:srgbClr val="4F5BD5"/>
            </a:solidFill>
            <a:prstDash val="solid"/>
          </a:ln>
        </p:spPr>
      </p:sp>
      <p:pic>
        <p:nvPicPr>
          <p:cNvPr id="20" name="Image 3" descr="preencoded.png">    </p:cNvPr>
          <p:cNvPicPr>
            <a:picLocks noChangeAspect="1"/>
          </p:cNvPicPr>
          <p:nvPr/>
        </p:nvPicPr>
        <p:blipFill>
          <a:blip r:embed="rId4"/>
          <a:stretch>
            <a:fillRect/>
          </a:stretch>
        </p:blipFill>
        <p:spPr>
          <a:xfrm>
            <a:off x="5121372" y="2341596"/>
            <a:ext cx="199705" cy="199705"/>
          </a:xfrm>
          <a:prstGeom prst="rect">
            <a:avLst/>
          </a:prstGeom>
        </p:spPr>
      </p:pic>
      <p:sp>
        <p:nvSpPr>
          <p:cNvPr id="21" name="Text 15"/>
          <p:cNvSpPr txBox="1"/>
          <p:nvPr/>
        </p:nvSpPr>
        <p:spPr>
          <a:xfrm>
            <a:off x="5532120" y="2176272"/>
            <a:ext cx="2514600" cy="530352"/>
          </a:xfrm>
          <a:prstGeom prst="rect">
            <a:avLst/>
          </a:prstGeom>
          <a:noFill/>
          <a:ln/>
        </p:spPr>
        <p:txBody>
          <a:bodyPr wrap="square" lIns="0" tIns="0" rIns="0" bIns="0" rtlCol="0" anchor="ctr"/>
          <a:lstStyle/>
          <a:p>
            <a:pPr indent="0" marL="0">
              <a:buNone/>
            </a:pPr>
            <a:r>
              <a:rPr lang="en-US" sz="1200" b="1" dirty="0">
                <a:solidFill>
                  <a:srgbClr val="4F5BD5"/>
                </a:solidFill>
                <a:latin typeface="Courier New" pitchFamily="34" charset="0"/>
                <a:ea typeface="Courier New" pitchFamily="34" charset="-122"/>
                <a:cs typeface="Courier New" pitchFamily="34" charset="-120"/>
              </a:rPr>
              <a:t>docs/CODING_STANDARDS.md</a:t>
            </a:r>
            <a:endParaRPr lang="en-US" sz="1200" dirty="0"/>
          </a:p>
        </p:txBody>
      </p:sp>
      <p:sp>
        <p:nvSpPr>
          <p:cNvPr id="22" name="Text 16"/>
          <p:cNvSpPr txBox="1"/>
          <p:nvPr/>
        </p:nvSpPr>
        <p:spPr>
          <a:xfrm>
            <a:off x="8092440" y="2176272"/>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 judgment call. Only the reviewer reads it.</a:t>
            </a:r>
            <a:endParaRPr lang="en-US" sz="1200" dirty="0"/>
          </a:p>
        </p:txBody>
      </p:sp>
      <p:sp>
        <p:nvSpPr>
          <p:cNvPr id="23" name="Shape 17"/>
          <p:cNvSpPr/>
          <p:nvPr/>
        </p:nvSpPr>
        <p:spPr>
          <a:xfrm flipV="1">
            <a:off x="4315968" y="3044952"/>
            <a:ext cx="576072" cy="338328"/>
          </a:xfrm>
          <a:prstGeom prst="line">
            <a:avLst/>
          </a:prstGeom>
          <a:noFill/>
          <a:ln w="15875">
            <a:solidFill>
              <a:srgbClr val="8D99B3"/>
            </a:solidFill>
            <a:prstDash val="solid"/>
            <a:tailEnd type="triangle"/>
          </a:ln>
        </p:spPr>
      </p:sp>
      <p:sp>
        <p:nvSpPr>
          <p:cNvPr id="24" name="Shape 18"/>
          <p:cNvSpPr/>
          <p:nvPr/>
        </p:nvSpPr>
        <p:spPr>
          <a:xfrm>
            <a:off x="4937760" y="2779776"/>
            <a:ext cx="6702552" cy="530352"/>
          </a:xfrm>
          <a:prstGeom prst="roundRect">
            <a:avLst>
              <a:gd name="adj" fmla="val 17241"/>
            </a:avLst>
          </a:prstGeom>
          <a:solidFill>
            <a:srgbClr val="F1F4F9"/>
          </a:solidFill>
          <a:ln w="9525">
            <a:solidFill>
              <a:srgbClr val="D7DDE8"/>
            </a:solidFill>
            <a:prstDash val="solid"/>
          </a:ln>
        </p:spPr>
      </p:sp>
      <p:sp>
        <p:nvSpPr>
          <p:cNvPr id="25" name="Shape 19"/>
          <p:cNvSpPr/>
          <p:nvPr/>
        </p:nvSpPr>
        <p:spPr>
          <a:xfrm>
            <a:off x="5029200" y="2852928"/>
            <a:ext cx="384048" cy="384048"/>
          </a:xfrm>
          <a:prstGeom prst="ellipse">
            <a:avLst/>
          </a:prstGeom>
          <a:solidFill>
            <a:srgbClr val="14213D"/>
          </a:solidFill>
          <a:ln w="12700">
            <a:solidFill>
              <a:srgbClr val="14213D"/>
            </a:solidFill>
            <a:prstDash val="solid"/>
          </a:ln>
        </p:spPr>
      </p:sp>
      <p:pic>
        <p:nvPicPr>
          <p:cNvPr id="26" name="Image 4" descr="preencoded.png">    </p:cNvPr>
          <p:cNvPicPr>
            <a:picLocks noChangeAspect="1"/>
          </p:cNvPicPr>
          <p:nvPr/>
        </p:nvPicPr>
        <p:blipFill>
          <a:blip r:embed="rId5"/>
          <a:stretch>
            <a:fillRect/>
          </a:stretch>
        </p:blipFill>
        <p:spPr>
          <a:xfrm>
            <a:off x="5121372" y="2945100"/>
            <a:ext cx="199705" cy="199705"/>
          </a:xfrm>
          <a:prstGeom prst="rect">
            <a:avLst/>
          </a:prstGeom>
        </p:spPr>
      </p:pic>
      <p:sp>
        <p:nvSpPr>
          <p:cNvPr id="27" name="Text 20"/>
          <p:cNvSpPr txBox="1"/>
          <p:nvPr/>
        </p:nvSpPr>
        <p:spPr>
          <a:xfrm>
            <a:off x="5532120" y="2779776"/>
            <a:ext cx="2514600" cy="530352"/>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AGENTS.md</a:t>
            </a:r>
            <a:endParaRPr lang="en-US" sz="1200" dirty="0"/>
          </a:p>
        </p:txBody>
      </p:sp>
      <p:sp>
        <p:nvSpPr>
          <p:cNvPr id="28" name="Text 21"/>
          <p:cNvSpPr txBox="1"/>
          <p:nvPr/>
        </p:nvSpPr>
        <p:spPr>
          <a:xfrm>
            <a:off x="8092440" y="2779776"/>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What every task needs. Loaded every time, so kept small.</a:t>
            </a:r>
            <a:endParaRPr lang="en-US" sz="1200" dirty="0"/>
          </a:p>
        </p:txBody>
      </p:sp>
      <p:sp>
        <p:nvSpPr>
          <p:cNvPr id="29" name="Shape 22"/>
          <p:cNvSpPr/>
          <p:nvPr/>
        </p:nvSpPr>
        <p:spPr>
          <a:xfrm>
            <a:off x="4315968" y="3383280"/>
            <a:ext cx="576072" cy="265176"/>
          </a:xfrm>
          <a:prstGeom prst="line">
            <a:avLst/>
          </a:prstGeom>
          <a:noFill/>
          <a:ln w="15875">
            <a:solidFill>
              <a:srgbClr val="8D99B3"/>
            </a:solidFill>
            <a:prstDash val="solid"/>
            <a:tailEnd type="triangle"/>
          </a:ln>
        </p:spPr>
      </p:sp>
      <p:sp>
        <p:nvSpPr>
          <p:cNvPr id="30" name="Shape 23"/>
          <p:cNvSpPr/>
          <p:nvPr/>
        </p:nvSpPr>
        <p:spPr>
          <a:xfrm>
            <a:off x="4937760" y="3383280"/>
            <a:ext cx="6702552" cy="530352"/>
          </a:xfrm>
          <a:prstGeom prst="roundRect">
            <a:avLst>
              <a:gd name="adj" fmla="val 17241"/>
            </a:avLst>
          </a:prstGeom>
          <a:solidFill>
            <a:srgbClr val="FFFFFF"/>
          </a:solidFill>
          <a:ln w="9525">
            <a:solidFill>
              <a:srgbClr val="D7DDE8"/>
            </a:solidFill>
            <a:prstDash val="solid"/>
          </a:ln>
        </p:spPr>
      </p:sp>
      <p:sp>
        <p:nvSpPr>
          <p:cNvPr id="31" name="Shape 24"/>
          <p:cNvSpPr/>
          <p:nvPr/>
        </p:nvSpPr>
        <p:spPr>
          <a:xfrm>
            <a:off x="5029200" y="3456432"/>
            <a:ext cx="384048" cy="384048"/>
          </a:xfrm>
          <a:prstGeom prst="ellipse">
            <a:avLst/>
          </a:prstGeom>
          <a:solidFill>
            <a:srgbClr val="7C4DDB"/>
          </a:solidFill>
          <a:ln w="12700">
            <a:solidFill>
              <a:srgbClr val="7C4DDB"/>
            </a:solidFill>
            <a:prstDash val="solid"/>
          </a:ln>
        </p:spPr>
      </p:sp>
      <p:pic>
        <p:nvPicPr>
          <p:cNvPr id="32" name="Image 5" descr="preencoded.png">    </p:cNvPr>
          <p:cNvPicPr>
            <a:picLocks noChangeAspect="1"/>
          </p:cNvPicPr>
          <p:nvPr/>
        </p:nvPicPr>
        <p:blipFill>
          <a:blip r:embed="rId6"/>
          <a:stretch>
            <a:fillRect/>
          </a:stretch>
        </p:blipFill>
        <p:spPr>
          <a:xfrm>
            <a:off x="5121372" y="3548604"/>
            <a:ext cx="199705" cy="199705"/>
          </a:xfrm>
          <a:prstGeom prst="rect">
            <a:avLst/>
          </a:prstGeom>
        </p:spPr>
      </p:pic>
      <p:sp>
        <p:nvSpPr>
          <p:cNvPr id="33" name="Text 25"/>
          <p:cNvSpPr txBox="1"/>
          <p:nvPr/>
        </p:nvSpPr>
        <p:spPr>
          <a:xfrm>
            <a:off x="5532120" y="3383280"/>
            <a:ext cx="2514600" cy="530352"/>
          </a:xfrm>
          <a:prstGeom prst="rect">
            <a:avLst/>
          </a:prstGeom>
          <a:noFill/>
          <a:ln/>
        </p:spPr>
        <p:txBody>
          <a:bodyPr wrap="square" lIns="0" tIns="0" rIns="0" bIns="0" rtlCol="0" anchor="ctr"/>
          <a:lstStyle/>
          <a:p>
            <a:pPr indent="0" marL="0">
              <a:buNone/>
            </a:pPr>
            <a:r>
              <a:rPr lang="en-US" sz="1200" b="1" dirty="0">
                <a:solidFill>
                  <a:srgbClr val="7C4DDB"/>
                </a:solidFill>
                <a:latin typeface="Courier New" pitchFamily="34" charset="0"/>
                <a:ea typeface="Courier New" pitchFamily="34" charset="-122"/>
                <a:cs typeface="Courier New" pitchFamily="34" charset="-120"/>
              </a:rPr>
              <a:t>CONTEXT.md</a:t>
            </a:r>
            <a:endParaRPr lang="en-US" sz="1200" dirty="0"/>
          </a:p>
        </p:txBody>
      </p:sp>
      <p:sp>
        <p:nvSpPr>
          <p:cNvPr id="34" name="Text 26"/>
          <p:cNvSpPr txBox="1"/>
          <p:nvPr/>
        </p:nvSpPr>
        <p:spPr>
          <a:xfrm>
            <a:off x="8092440" y="3383280"/>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 domain word. Every Pocock skill reads it.</a:t>
            </a:r>
            <a:endParaRPr lang="en-US" sz="1200" dirty="0"/>
          </a:p>
        </p:txBody>
      </p:sp>
      <p:sp>
        <p:nvSpPr>
          <p:cNvPr id="35" name="Shape 27"/>
          <p:cNvSpPr/>
          <p:nvPr/>
        </p:nvSpPr>
        <p:spPr>
          <a:xfrm>
            <a:off x="4315968" y="3383280"/>
            <a:ext cx="576072" cy="868680"/>
          </a:xfrm>
          <a:prstGeom prst="line">
            <a:avLst/>
          </a:prstGeom>
          <a:noFill/>
          <a:ln w="15875">
            <a:solidFill>
              <a:srgbClr val="8D99B3"/>
            </a:solidFill>
            <a:prstDash val="solid"/>
            <a:tailEnd type="triangle"/>
          </a:ln>
        </p:spPr>
      </p:sp>
      <p:sp>
        <p:nvSpPr>
          <p:cNvPr id="36" name="Shape 28"/>
          <p:cNvSpPr/>
          <p:nvPr/>
        </p:nvSpPr>
        <p:spPr>
          <a:xfrm>
            <a:off x="4937760" y="3986784"/>
            <a:ext cx="6702552" cy="530352"/>
          </a:xfrm>
          <a:prstGeom prst="roundRect">
            <a:avLst>
              <a:gd name="adj" fmla="val 17241"/>
            </a:avLst>
          </a:prstGeom>
          <a:solidFill>
            <a:srgbClr val="F1F4F9"/>
          </a:solidFill>
          <a:ln w="9525">
            <a:solidFill>
              <a:srgbClr val="D7DDE8"/>
            </a:solidFill>
            <a:prstDash val="solid"/>
          </a:ln>
        </p:spPr>
      </p:sp>
      <p:sp>
        <p:nvSpPr>
          <p:cNvPr id="37" name="Shape 29"/>
          <p:cNvSpPr/>
          <p:nvPr/>
        </p:nvSpPr>
        <p:spPr>
          <a:xfrm>
            <a:off x="5029200" y="4059936"/>
            <a:ext cx="384048" cy="384048"/>
          </a:xfrm>
          <a:prstGeom prst="ellipse">
            <a:avLst/>
          </a:prstGeom>
          <a:solidFill>
            <a:srgbClr val="4A5468"/>
          </a:solidFill>
          <a:ln w="12700">
            <a:solidFill>
              <a:srgbClr val="4A5468"/>
            </a:solidFill>
            <a:prstDash val="solid"/>
          </a:ln>
        </p:spPr>
      </p:sp>
      <p:pic>
        <p:nvPicPr>
          <p:cNvPr id="38" name="Image 6" descr="preencoded.png">    </p:cNvPr>
          <p:cNvPicPr>
            <a:picLocks noChangeAspect="1"/>
          </p:cNvPicPr>
          <p:nvPr/>
        </p:nvPicPr>
        <p:blipFill>
          <a:blip r:embed="rId7"/>
          <a:stretch>
            <a:fillRect/>
          </a:stretch>
        </p:blipFill>
        <p:spPr>
          <a:xfrm>
            <a:off x="5121372" y="4152108"/>
            <a:ext cx="199705" cy="199705"/>
          </a:xfrm>
          <a:prstGeom prst="rect">
            <a:avLst/>
          </a:prstGeom>
        </p:spPr>
      </p:pic>
      <p:sp>
        <p:nvSpPr>
          <p:cNvPr id="39" name="Text 30"/>
          <p:cNvSpPr txBox="1"/>
          <p:nvPr/>
        </p:nvSpPr>
        <p:spPr>
          <a:xfrm>
            <a:off x="5532120" y="3986784"/>
            <a:ext cx="2514600" cy="530352"/>
          </a:xfrm>
          <a:prstGeom prst="rect">
            <a:avLst/>
          </a:prstGeom>
          <a:noFill/>
          <a:ln/>
        </p:spPr>
        <p:txBody>
          <a:bodyPr wrap="square" lIns="0" tIns="0" rIns="0" bIns="0" rtlCol="0" anchor="ctr"/>
          <a:lstStyle/>
          <a:p>
            <a:pPr indent="0" marL="0">
              <a:buNone/>
            </a:pPr>
            <a:r>
              <a:rPr lang="en-US" sz="1200" b="1" dirty="0">
                <a:solidFill>
                  <a:srgbClr val="4A5468"/>
                </a:solidFill>
                <a:latin typeface="Courier New" pitchFamily="34" charset="0"/>
                <a:ea typeface="Courier New" pitchFamily="34" charset="-122"/>
                <a:cs typeface="Courier New" pitchFamily="34" charset="-120"/>
              </a:rPr>
              <a:t>docs/adr/</a:t>
            </a:r>
            <a:endParaRPr lang="en-US" sz="1200" dirty="0"/>
          </a:p>
        </p:txBody>
      </p:sp>
      <p:sp>
        <p:nvSpPr>
          <p:cNvPr id="40" name="Text 31"/>
          <p:cNvSpPr txBox="1"/>
          <p:nvPr/>
        </p:nvSpPr>
        <p:spPr>
          <a:xfrm>
            <a:off x="8092440" y="3986784"/>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 decision that is hard to reverse, with the options rejected.</a:t>
            </a:r>
            <a:endParaRPr lang="en-US" sz="1200" dirty="0"/>
          </a:p>
        </p:txBody>
      </p:sp>
      <p:sp>
        <p:nvSpPr>
          <p:cNvPr id="41" name="Shape 32"/>
          <p:cNvSpPr/>
          <p:nvPr/>
        </p:nvSpPr>
        <p:spPr>
          <a:xfrm>
            <a:off x="4315968" y="3383280"/>
            <a:ext cx="576072" cy="1472184"/>
          </a:xfrm>
          <a:prstGeom prst="line">
            <a:avLst/>
          </a:prstGeom>
          <a:noFill/>
          <a:ln w="15875">
            <a:solidFill>
              <a:srgbClr val="8D99B3"/>
            </a:solidFill>
            <a:prstDash val="solid"/>
            <a:tailEnd type="triangle"/>
          </a:ln>
        </p:spPr>
      </p:sp>
      <p:sp>
        <p:nvSpPr>
          <p:cNvPr id="42" name="Shape 33"/>
          <p:cNvSpPr/>
          <p:nvPr/>
        </p:nvSpPr>
        <p:spPr>
          <a:xfrm>
            <a:off x="4937760" y="4590288"/>
            <a:ext cx="6702552" cy="530352"/>
          </a:xfrm>
          <a:prstGeom prst="roundRect">
            <a:avLst>
              <a:gd name="adj" fmla="val 17241"/>
            </a:avLst>
          </a:prstGeom>
          <a:solidFill>
            <a:srgbClr val="FFFFFF"/>
          </a:solidFill>
          <a:ln w="9525">
            <a:solidFill>
              <a:srgbClr val="D7DDE8"/>
            </a:solidFill>
            <a:prstDash val="solid"/>
          </a:ln>
        </p:spPr>
      </p:sp>
      <p:sp>
        <p:nvSpPr>
          <p:cNvPr id="43" name="Shape 34"/>
          <p:cNvSpPr/>
          <p:nvPr/>
        </p:nvSpPr>
        <p:spPr>
          <a:xfrm>
            <a:off x="5029200" y="4663440"/>
            <a:ext cx="384048" cy="384048"/>
          </a:xfrm>
          <a:prstGeom prst="ellipse">
            <a:avLst/>
          </a:prstGeom>
          <a:solidFill>
            <a:srgbClr val="F26B38"/>
          </a:solidFill>
          <a:ln w="12700">
            <a:solidFill>
              <a:srgbClr val="F26B38"/>
            </a:solidFill>
            <a:prstDash val="solid"/>
          </a:ln>
        </p:spPr>
      </p:sp>
      <p:pic>
        <p:nvPicPr>
          <p:cNvPr id="44" name="Image 7" descr="preencoded.png">    </p:cNvPr>
          <p:cNvPicPr>
            <a:picLocks noChangeAspect="1"/>
          </p:cNvPicPr>
          <p:nvPr/>
        </p:nvPicPr>
        <p:blipFill>
          <a:blip r:embed="rId8"/>
          <a:stretch>
            <a:fillRect/>
          </a:stretch>
        </p:blipFill>
        <p:spPr>
          <a:xfrm>
            <a:off x="5121372" y="4755612"/>
            <a:ext cx="199705" cy="199705"/>
          </a:xfrm>
          <a:prstGeom prst="rect">
            <a:avLst/>
          </a:prstGeom>
        </p:spPr>
      </p:pic>
      <p:sp>
        <p:nvSpPr>
          <p:cNvPr id="45" name="Text 35"/>
          <p:cNvSpPr txBox="1"/>
          <p:nvPr/>
        </p:nvSpPr>
        <p:spPr>
          <a:xfrm>
            <a:off x="5532120" y="4590288"/>
            <a:ext cx="2514600" cy="530352"/>
          </a:xfrm>
          <a:prstGeom prst="rect">
            <a:avLst/>
          </a:prstGeom>
          <a:noFill/>
          <a:ln/>
        </p:spPr>
        <p:txBody>
          <a:bodyPr wrap="square" lIns="0" tIns="0" rIns="0" bIns="0" rtlCol="0" anchor="ctr"/>
          <a:lstStyle/>
          <a:p>
            <a:pPr indent="0" marL="0">
              <a:buNone/>
            </a:pPr>
            <a:r>
              <a:rPr lang="en-US" sz="1200" b="1" dirty="0">
                <a:solidFill>
                  <a:srgbClr val="F26B38"/>
                </a:solidFill>
                <a:latin typeface="Arial" pitchFamily="34" charset="0"/>
                <a:ea typeface="Arial" pitchFamily="34" charset="-122"/>
                <a:cs typeface="Arial" pitchFamily="34" charset="-120"/>
              </a:rPr>
              <a:t>Issues</a:t>
            </a:r>
            <a:endParaRPr lang="en-US" sz="1200" dirty="0"/>
          </a:p>
        </p:txBody>
      </p:sp>
      <p:sp>
        <p:nvSpPr>
          <p:cNvPr id="46" name="Text 36"/>
          <p:cNvSpPr txBox="1"/>
          <p:nvPr/>
        </p:nvSpPr>
        <p:spPr>
          <a:xfrm>
            <a:off x="8092440" y="4590288"/>
            <a:ext cx="3474720" cy="530352"/>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 spec. Closed once shipped, never left as a stale file.</a:t>
            </a:r>
            <a:endParaRPr lang="en-US" sz="1200" dirty="0"/>
          </a:p>
        </p:txBody>
      </p:sp>
      <p:sp>
        <p:nvSpPr>
          <p:cNvPr id="47" name="Shape 37"/>
          <p:cNvSpPr/>
          <p:nvPr/>
        </p:nvSpPr>
        <p:spPr>
          <a:xfrm>
            <a:off x="548640" y="5303520"/>
            <a:ext cx="11094415" cy="960120"/>
          </a:xfrm>
          <a:prstGeom prst="roundRect">
            <a:avLst>
              <a:gd name="adj" fmla="val 9524"/>
            </a:avLst>
          </a:prstGeom>
          <a:solidFill>
            <a:srgbClr val="14213D"/>
          </a:solidFill>
          <a:ln w="12700">
            <a:solidFill>
              <a:srgbClr val="14213D"/>
            </a:solidFill>
            <a:prstDash val="solid"/>
          </a:ln>
        </p:spPr>
      </p:sp>
      <p:sp>
        <p:nvSpPr>
          <p:cNvPr id="48" name="Text 38"/>
          <p:cNvSpPr txBox="1"/>
          <p:nvPr/>
        </p:nvSpPr>
        <p:spPr>
          <a:xfrm>
            <a:off x="822960" y="5303520"/>
            <a:ext cx="2194560" cy="9601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scan measures it</a:t>
            </a:r>
            <a:endParaRPr lang="en-US" sz="1400" dirty="0"/>
          </a:p>
        </p:txBody>
      </p:sp>
      <p:sp>
        <p:nvSpPr>
          <p:cNvPr id="49" name="Text 39"/>
          <p:cNvSpPr/>
          <p:nvPr/>
        </p:nvSpPr>
        <p:spPr>
          <a:xfrm>
            <a:off x="2697480" y="5550408"/>
            <a:ext cx="2834640" cy="457200"/>
          </a:xfrm>
          <a:prstGeom prst="roundRect">
            <a:avLst>
              <a:gd name="adj" fmla="val 16000"/>
            </a:avLst>
          </a:prstGeom>
          <a:solidFill>
            <a:srgbClr val="22305A"/>
          </a:solidFill>
          <a:ln>
            <a:solidFill>
              <a:srgbClr val="22305A"/>
            </a:solidFill>
          </a:ln>
        </p:spPr>
        <p:txBody>
          <a:bodyPr wrap="square" lIns="50800" tIns="50800" rIns="50800" bIns="50800" rtlCol="0" anchor="ctr"/>
          <a:lstStyle/>
          <a:p>
            <a:pPr algn="ctr" indent="0" marL="0">
              <a:buNone/>
            </a:pPr>
            <a:r>
              <a:rPr lang="en-US" sz="1200" b="1" dirty="0">
                <a:solidFill>
                  <a:srgbClr val="E6EAF2"/>
                </a:solidFill>
                <a:latin typeface="Courier New" pitchFamily="34" charset="0"/>
                <a:ea typeface="Courier New" pitchFamily="34" charset="-122"/>
                <a:cs typeface="Courier New" pitchFamily="34" charset="-120"/>
              </a:rPr>
              <a:t>rows X of Y in their home</a:t>
            </a:r>
            <a:endParaRPr lang="en-US" sz="1200" dirty="0"/>
          </a:p>
        </p:txBody>
      </p:sp>
      <p:sp>
        <p:nvSpPr>
          <p:cNvPr id="50" name="Text 40"/>
          <p:cNvSpPr/>
          <p:nvPr/>
        </p:nvSpPr>
        <p:spPr>
          <a:xfrm>
            <a:off x="5696712" y="5550408"/>
            <a:ext cx="2834640" cy="457200"/>
          </a:xfrm>
          <a:prstGeom prst="roundRect">
            <a:avLst>
              <a:gd name="adj" fmla="val 16000"/>
            </a:avLst>
          </a:prstGeom>
          <a:solidFill>
            <a:srgbClr val="22305A"/>
          </a:solidFill>
          <a:ln>
            <a:solidFill>
              <a:srgbClr val="22305A"/>
            </a:solidFill>
          </a:ln>
        </p:spPr>
        <p:txBody>
          <a:bodyPr wrap="square" lIns="50800" tIns="50800" rIns="50800" bIns="50800" rtlCol="0" anchor="ctr"/>
          <a:lstStyle/>
          <a:p>
            <a:pPr algn="ctr" indent="0" marL="0">
              <a:buNone/>
            </a:pPr>
            <a:r>
              <a:rPr lang="en-US" sz="1200" b="1" dirty="0">
                <a:solidFill>
                  <a:srgbClr val="E6EAF2"/>
                </a:solidFill>
                <a:latin typeface="Courier New" pitchFamily="34" charset="0"/>
                <a:ea typeface="Courier New" pitchFamily="34" charset="-122"/>
                <a:cs typeface="Courier New" pitchFamily="34" charset="-120"/>
              </a:rPr>
              <a:t>lines A of J pass</a:t>
            </a:r>
            <a:endParaRPr lang="en-US" sz="1200" dirty="0"/>
          </a:p>
        </p:txBody>
      </p:sp>
      <p:sp>
        <p:nvSpPr>
          <p:cNvPr id="51" name="Text 41"/>
          <p:cNvSpPr/>
          <p:nvPr/>
        </p:nvSpPr>
        <p:spPr>
          <a:xfrm>
            <a:off x="8695944" y="5550408"/>
            <a:ext cx="2834640" cy="457200"/>
          </a:xfrm>
          <a:prstGeom prst="roundRect">
            <a:avLst>
              <a:gd name="adj" fmla="val 16000"/>
            </a:avLst>
          </a:prstGeom>
          <a:solidFill>
            <a:srgbClr val="22305A"/>
          </a:solidFill>
          <a:ln>
            <a:solidFill>
              <a:srgbClr val="22305A"/>
            </a:solidFill>
          </a:ln>
        </p:spPr>
        <p:txBody>
          <a:bodyPr wrap="square" lIns="50800" tIns="50800" rIns="50800" bIns="50800" rtlCol="0" anchor="ctr"/>
          <a:lstStyle/>
          <a:p>
            <a:pPr algn="ctr" indent="0" marL="0">
              <a:buNone/>
            </a:pPr>
            <a:r>
              <a:rPr lang="en-US" sz="1200" b="1" dirty="0">
                <a:solidFill>
                  <a:srgbClr val="E6EAF2"/>
                </a:solidFill>
                <a:latin typeface="Courier New" pitchFamily="34" charset="0"/>
                <a:ea typeface="Courier New" pitchFamily="34" charset="-122"/>
                <a:cs typeface="Courier New" pitchFamily="34" charset="-120"/>
              </a:rPr>
              <a:t>load: L lines on every task</a:t>
            </a:r>
            <a:endParaRPr lang="en-US" sz="1200" dirty="0"/>
          </a:p>
        </p:txBody>
      </p:sp>
      <p:sp>
        <p:nvSpPr>
          <p:cNvPr id="52" name="Text 42"/>
          <p:cNvSpPr txBox="1"/>
          <p:nvPr/>
        </p:nvSpPr>
        <p:spPr>
          <a:xfrm>
            <a:off x="548640" y="4343400"/>
            <a:ext cx="4160520" cy="86868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Setup also writes one check command that runs unattended. A hook offers /improve-codebase-architecture when no review merged in N days.</a:t>
            </a:r>
            <a:endParaRPr lang="en-US" sz="1150" dirty="0"/>
          </a:p>
        </p:txBody>
      </p:sp>
      <p:sp>
        <p:nvSpPr>
          <p:cNvPr id="53" name="Text 43"/>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main (2026-09-27), plugins/agent-ready</a:t>
            </a:r>
            <a:endParaRPr lang="en-US" sz="900" dirty="0"/>
          </a:p>
        </p:txBody>
      </p:sp>
      <p:sp>
        <p:nvSpPr>
          <p:cNvPr id="54" name="Text 44"/>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9184"/>
            <a:ext cx="2326234" cy="274320"/>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AGENT-READY · BRAKE 2</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Review runs before the push, in fresh contexts</a:t>
            </a:r>
            <a:endParaRPr lang="en-US" sz="2800" dirty="0"/>
          </a:p>
        </p:txBody>
      </p:sp>
      <p:sp>
        <p:nvSpPr>
          <p:cNvPr id="4" name="Shape 2"/>
          <p:cNvSpPr/>
          <p:nvPr/>
        </p:nvSpPr>
        <p:spPr>
          <a:xfrm>
            <a:off x="548640" y="1554480"/>
            <a:ext cx="2926080" cy="777240"/>
          </a:xfrm>
          <a:prstGeom prst="roundRect">
            <a:avLst>
              <a:gd name="adj" fmla="val 11765"/>
            </a:avLst>
          </a:prstGeom>
          <a:solidFill>
            <a:srgbClr val="F1F4F9"/>
          </a:solidFill>
          <a:ln w="12700">
            <a:solidFill>
              <a:srgbClr val="F1F4F9"/>
            </a:solidFill>
            <a:prstDash val="solid"/>
          </a:ln>
        </p:spPr>
      </p:sp>
      <p:sp>
        <p:nvSpPr>
          <p:cNvPr id="5" name="Shape 3"/>
          <p:cNvSpPr/>
          <p:nvPr/>
        </p:nvSpPr>
        <p:spPr>
          <a:xfrm>
            <a:off x="685800" y="1691640"/>
            <a:ext cx="502920" cy="502920"/>
          </a:xfrm>
          <a:prstGeom prst="ellipse">
            <a:avLst/>
          </a:prstGeom>
          <a:solidFill>
            <a:srgbClr val="4F5BD5"/>
          </a:solidFill>
          <a:ln w="12700">
            <a:solidFill>
              <a:srgbClr val="4F5BD5"/>
            </a:solidFill>
            <a:prstDash val="solid"/>
          </a:ln>
        </p:spPr>
      </p:sp>
      <p:pic>
        <p:nvPicPr>
          <p:cNvPr id="6" name="Image 0" descr="preencoded.png">    </p:cNvPr>
          <p:cNvPicPr>
            <a:picLocks noChangeAspect="1"/>
          </p:cNvPicPr>
          <p:nvPr/>
        </p:nvPicPr>
        <p:blipFill>
          <a:blip r:embed="rId1"/>
          <a:stretch>
            <a:fillRect/>
          </a:stretch>
        </p:blipFill>
        <p:spPr>
          <a:xfrm>
            <a:off x="806501" y="1812341"/>
            <a:ext cx="261518" cy="261518"/>
          </a:xfrm>
          <a:prstGeom prst="rect">
            <a:avLst/>
          </a:prstGeom>
        </p:spPr>
      </p:pic>
      <p:sp>
        <p:nvSpPr>
          <p:cNvPr id="7" name="Text 4"/>
          <p:cNvSpPr txBox="1"/>
          <p:nvPr/>
        </p:nvSpPr>
        <p:spPr>
          <a:xfrm>
            <a:off x="1280160" y="1554480"/>
            <a:ext cx="2103120" cy="777240"/>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The agent runs git push or gh pr create</a:t>
            </a:r>
            <a:endParaRPr lang="en-US" sz="1200" dirty="0"/>
          </a:p>
        </p:txBody>
      </p:sp>
      <p:sp>
        <p:nvSpPr>
          <p:cNvPr id="8" name="Shape 5"/>
          <p:cNvSpPr/>
          <p:nvPr/>
        </p:nvSpPr>
        <p:spPr>
          <a:xfrm>
            <a:off x="3474720" y="1938528"/>
            <a:ext cx="411480" cy="0"/>
          </a:xfrm>
          <a:prstGeom prst="line">
            <a:avLst/>
          </a:prstGeom>
          <a:noFill/>
          <a:ln w="25400">
            <a:solidFill>
              <a:srgbClr val="4A5468"/>
            </a:solidFill>
            <a:prstDash val="solid"/>
            <a:tailEnd type="triangle"/>
          </a:ln>
        </p:spPr>
      </p:sp>
      <p:sp>
        <p:nvSpPr>
          <p:cNvPr id="9" name="Shape 6"/>
          <p:cNvSpPr/>
          <p:nvPr/>
        </p:nvSpPr>
        <p:spPr>
          <a:xfrm>
            <a:off x="3931920" y="1554480"/>
            <a:ext cx="3108960" cy="777240"/>
          </a:xfrm>
          <a:prstGeom prst="roundRect">
            <a:avLst>
              <a:gd name="adj" fmla="val 11765"/>
            </a:avLst>
          </a:prstGeom>
          <a:solidFill>
            <a:srgbClr val="E4E7FB"/>
          </a:solidFill>
          <a:ln w="19050">
            <a:solidFill>
              <a:srgbClr val="4F5BD5"/>
            </a:solidFill>
            <a:prstDash val="solid"/>
          </a:ln>
        </p:spPr>
      </p:sp>
      <p:pic>
        <p:nvPicPr>
          <p:cNvPr id="10" name="Image 1" descr="preencoded.png">    </p:cNvPr>
          <p:cNvPicPr>
            <a:picLocks noChangeAspect="1"/>
          </p:cNvPicPr>
          <p:nvPr/>
        </p:nvPicPr>
        <p:blipFill>
          <a:blip r:embed="rId2"/>
          <a:stretch>
            <a:fillRect/>
          </a:stretch>
        </p:blipFill>
        <p:spPr>
          <a:xfrm>
            <a:off x="4069080" y="1755648"/>
            <a:ext cx="365760" cy="365760"/>
          </a:xfrm>
          <a:prstGeom prst="rect">
            <a:avLst/>
          </a:prstGeom>
        </p:spPr>
      </p:pic>
      <p:sp>
        <p:nvSpPr>
          <p:cNvPr id="11" name="Text 7"/>
          <p:cNvSpPr txBox="1"/>
          <p:nvPr/>
        </p:nvSpPr>
        <p:spPr>
          <a:xfrm>
            <a:off x="4572000" y="1554480"/>
            <a:ext cx="2377440" cy="777240"/>
          </a:xfrm>
          <a:prstGeom prst="rect">
            <a:avLst/>
          </a:prstGeom>
          <a:noFill/>
          <a:ln/>
        </p:spPr>
        <p:txBody>
          <a:bodyPr wrap="square" lIns="0" tIns="0" rIns="0" bIns="0" rtlCol="0" anchor="ctr"/>
          <a:lstStyle/>
          <a:p>
            <a:pPr indent="0" marL="0">
              <a:buNone/>
            </a:pPr>
            <a:r>
              <a:rPr lang="en-US" sz="1200" b="1" dirty="0">
                <a:solidFill>
                  <a:srgbClr val="14213D"/>
                </a:solidFill>
                <a:latin typeface="Arial" pitchFamily="34" charset="0"/>
                <a:ea typeface="Arial" pitchFamily="34" charset="-122"/>
                <a:cs typeface="Arial" pitchFamily="34" charset="-120"/>
              </a:rPr>
              <a:t>Hook: is this commit stamped as reviewed?</a:t>
            </a:r>
            <a:endParaRPr lang="en-US" sz="1200" dirty="0"/>
          </a:p>
        </p:txBody>
      </p:sp>
      <p:sp>
        <p:nvSpPr>
          <p:cNvPr id="12" name="Shape 8"/>
          <p:cNvSpPr/>
          <p:nvPr/>
        </p:nvSpPr>
        <p:spPr>
          <a:xfrm>
            <a:off x="7040880" y="1938528"/>
            <a:ext cx="685800" cy="0"/>
          </a:xfrm>
          <a:prstGeom prst="line">
            <a:avLst/>
          </a:prstGeom>
          <a:noFill/>
          <a:ln w="25400">
            <a:solidFill>
              <a:srgbClr val="2E9E5B"/>
            </a:solidFill>
            <a:prstDash val="solid"/>
            <a:tailEnd type="triangle"/>
          </a:ln>
        </p:spPr>
      </p:sp>
      <p:sp>
        <p:nvSpPr>
          <p:cNvPr id="13" name="Text 9"/>
          <p:cNvSpPr txBox="1"/>
          <p:nvPr/>
        </p:nvSpPr>
        <p:spPr>
          <a:xfrm>
            <a:off x="7132320" y="1627632"/>
            <a:ext cx="548640" cy="274320"/>
          </a:xfrm>
          <a:prstGeom prst="rect">
            <a:avLst/>
          </a:prstGeom>
          <a:noFill/>
          <a:ln/>
        </p:spPr>
        <p:txBody>
          <a:bodyPr wrap="square" lIns="0" tIns="0" rIns="0" bIns="0" rtlCol="0" anchor="t"/>
          <a:lstStyle/>
          <a:p>
            <a:pPr indent="0" marL="0">
              <a:buNone/>
            </a:pPr>
            <a:r>
              <a:rPr lang="en-US" sz="1100" b="1" dirty="0">
                <a:solidFill>
                  <a:srgbClr val="2E9E5B"/>
                </a:solidFill>
                <a:latin typeface="Arial" pitchFamily="34" charset="0"/>
                <a:ea typeface="Arial" pitchFamily="34" charset="-122"/>
                <a:cs typeface="Arial" pitchFamily="34" charset="-120"/>
              </a:rPr>
              <a:t>yes</a:t>
            </a:r>
            <a:endParaRPr lang="en-US" sz="1100" dirty="0"/>
          </a:p>
        </p:txBody>
      </p:sp>
      <p:sp>
        <p:nvSpPr>
          <p:cNvPr id="14" name="Text 10"/>
          <p:cNvSpPr/>
          <p:nvPr/>
        </p:nvSpPr>
        <p:spPr>
          <a:xfrm>
            <a:off x="7772400" y="1554480"/>
            <a:ext cx="2377440" cy="777240"/>
          </a:xfrm>
          <a:prstGeom prst="roundRect">
            <a:avLst>
              <a:gd name="adj" fmla="val 9412"/>
            </a:avLst>
          </a:prstGeom>
          <a:solidFill>
            <a:srgbClr val="DFF3E7"/>
          </a:solidFill>
          <a:ln>
            <a:solidFill>
              <a:srgbClr val="DFF3E7"/>
            </a:solidFill>
          </a:ln>
        </p:spPr>
        <p:txBody>
          <a:bodyPr wrap="square" lIns="50800" tIns="50800" rIns="50800" bIns="50800" rtlCol="0" anchor="ctr"/>
          <a:lstStyle/>
          <a:p>
            <a:pPr algn="ctr" indent="0" marL="0">
              <a:buNone/>
            </a:pPr>
            <a:r>
              <a:rPr lang="en-US" sz="1300" b="1" dirty="0">
                <a:solidFill>
                  <a:srgbClr val="2E9E5B"/>
                </a:solidFill>
                <a:latin typeface="Arial" pitchFamily="34" charset="0"/>
                <a:ea typeface="Arial" pitchFamily="34" charset="-122"/>
                <a:cs typeface="Arial" pitchFamily="34" charset="-120"/>
              </a:rPr>
              <a:t>Push, open the PR</a:t>
            </a:r>
            <a:endParaRPr lang="en-US" sz="1300" dirty="0"/>
          </a:p>
        </p:txBody>
      </p:sp>
      <p:sp>
        <p:nvSpPr>
          <p:cNvPr id="15" name="Shape 11"/>
          <p:cNvSpPr/>
          <p:nvPr/>
        </p:nvSpPr>
        <p:spPr>
          <a:xfrm>
            <a:off x="4846320" y="2331720"/>
            <a:ext cx="0" cy="521208"/>
          </a:xfrm>
          <a:prstGeom prst="line">
            <a:avLst/>
          </a:prstGeom>
          <a:noFill/>
          <a:ln w="25400">
            <a:solidFill>
              <a:srgbClr val="D64545"/>
            </a:solidFill>
            <a:prstDash val="solid"/>
            <a:tailEnd type="triangle"/>
          </a:ln>
        </p:spPr>
      </p:sp>
      <p:sp>
        <p:nvSpPr>
          <p:cNvPr id="16" name="Text 12"/>
          <p:cNvSpPr txBox="1"/>
          <p:nvPr/>
        </p:nvSpPr>
        <p:spPr>
          <a:xfrm>
            <a:off x="4937760" y="2432304"/>
            <a:ext cx="1188720" cy="274320"/>
          </a:xfrm>
          <a:prstGeom prst="rect">
            <a:avLst/>
          </a:prstGeom>
          <a:noFill/>
          <a:ln/>
        </p:spPr>
        <p:txBody>
          <a:bodyPr wrap="square" lIns="0" tIns="0" rIns="0" bIns="0" rtlCol="0" anchor="t"/>
          <a:lstStyle/>
          <a:p>
            <a:pPr indent="0" marL="0">
              <a:buNone/>
            </a:pPr>
            <a:r>
              <a:rPr lang="en-US" sz="1100" b="1" dirty="0">
                <a:solidFill>
                  <a:srgbClr val="D64545"/>
                </a:solidFill>
                <a:latin typeface="Arial" pitchFamily="34" charset="0"/>
                <a:ea typeface="Arial" pitchFamily="34" charset="-122"/>
                <a:cs typeface="Arial" pitchFamily="34" charset="-120"/>
              </a:rPr>
              <a:t>no: blocked</a:t>
            </a:r>
            <a:endParaRPr lang="en-US" sz="1100" dirty="0"/>
          </a:p>
        </p:txBody>
      </p:sp>
      <p:sp>
        <p:nvSpPr>
          <p:cNvPr id="17" name="Shape 13"/>
          <p:cNvSpPr/>
          <p:nvPr/>
        </p:nvSpPr>
        <p:spPr>
          <a:xfrm flipV="1">
            <a:off x="10378440" y="2651760"/>
            <a:ext cx="0" cy="201168"/>
          </a:xfrm>
          <a:prstGeom prst="line">
            <a:avLst/>
          </a:prstGeom>
          <a:noFill/>
          <a:ln w="19050">
            <a:solidFill>
              <a:srgbClr val="4F5BD5"/>
            </a:solidFill>
            <a:prstDash val="solid"/>
            <a:tailEnd type="none"/>
          </a:ln>
        </p:spPr>
      </p:sp>
      <p:sp>
        <p:nvSpPr>
          <p:cNvPr id="18" name="Shape 14"/>
          <p:cNvSpPr/>
          <p:nvPr/>
        </p:nvSpPr>
        <p:spPr>
          <a:xfrm flipH="1">
            <a:off x="6583680" y="2651760"/>
            <a:ext cx="3794760" cy="0"/>
          </a:xfrm>
          <a:prstGeom prst="line">
            <a:avLst/>
          </a:prstGeom>
          <a:noFill/>
          <a:ln w="19050">
            <a:solidFill>
              <a:srgbClr val="4F5BD5"/>
            </a:solidFill>
            <a:prstDash val="solid"/>
            <a:tailEnd type="none"/>
          </a:ln>
        </p:spPr>
      </p:sp>
      <p:sp>
        <p:nvSpPr>
          <p:cNvPr id="19" name="Shape 15"/>
          <p:cNvSpPr/>
          <p:nvPr/>
        </p:nvSpPr>
        <p:spPr>
          <a:xfrm flipV="1">
            <a:off x="6583680" y="2359152"/>
            <a:ext cx="0" cy="292608"/>
          </a:xfrm>
          <a:prstGeom prst="line">
            <a:avLst/>
          </a:prstGeom>
          <a:noFill/>
          <a:ln w="19050">
            <a:solidFill>
              <a:srgbClr val="4F5BD5"/>
            </a:solidFill>
            <a:prstDash val="solid"/>
            <a:tailEnd type="triangle"/>
          </a:ln>
        </p:spPr>
      </p:sp>
      <p:sp>
        <p:nvSpPr>
          <p:cNvPr id="20" name="Text 16"/>
          <p:cNvSpPr txBox="1"/>
          <p:nvPr/>
        </p:nvSpPr>
        <p:spPr>
          <a:xfrm>
            <a:off x="7863840" y="2395728"/>
            <a:ext cx="2194560" cy="237744"/>
          </a:xfrm>
          <a:prstGeom prst="rect">
            <a:avLst/>
          </a:prstGeom>
          <a:noFill/>
          <a:ln/>
        </p:spPr>
        <p:txBody>
          <a:bodyPr wrap="square" lIns="0" tIns="0" rIns="0" bIns="0" rtlCol="0" anchor="t"/>
          <a:lstStyle/>
          <a:p>
            <a:pPr algn="ctr" indent="0" marL="0">
              <a:buNone/>
            </a:pPr>
            <a:r>
              <a:rPr lang="en-US" sz="1050" dirty="0">
                <a:solidFill>
                  <a:srgbClr val="4F5BD5"/>
                </a:solidFill>
                <a:latin typeface="Arial" pitchFamily="34" charset="0"/>
                <a:ea typeface="Arial" pitchFamily="34" charset="-122"/>
                <a:cs typeface="Arial" pitchFamily="34" charset="-120"/>
              </a:rPr>
              <a:t>stamped, push again</a:t>
            </a:r>
            <a:endParaRPr lang="en-US" sz="1050" dirty="0"/>
          </a:p>
        </p:txBody>
      </p:sp>
      <p:sp>
        <p:nvSpPr>
          <p:cNvPr id="21" name="Shape 17"/>
          <p:cNvSpPr/>
          <p:nvPr/>
        </p:nvSpPr>
        <p:spPr>
          <a:xfrm>
            <a:off x="548640" y="2852928"/>
            <a:ext cx="11094415" cy="1783080"/>
          </a:xfrm>
          <a:prstGeom prst="roundRect">
            <a:avLst>
              <a:gd name="adj" fmla="val 5128"/>
            </a:avLst>
          </a:prstGeom>
          <a:solidFill>
            <a:srgbClr val="F1F4F9"/>
          </a:solidFill>
          <a:ln w="12700">
            <a:solidFill>
              <a:srgbClr val="F1F4F9"/>
            </a:solidFill>
            <a:prstDash val="solid"/>
          </a:ln>
        </p:spPr>
      </p:sp>
      <p:sp>
        <p:nvSpPr>
          <p:cNvPr id="22" name="Text 18"/>
          <p:cNvSpPr txBox="1"/>
          <p:nvPr/>
        </p:nvSpPr>
        <p:spPr>
          <a:xfrm>
            <a:off x="777240" y="2926080"/>
            <a:ext cx="2743200" cy="320040"/>
          </a:xfrm>
          <a:prstGeom prst="rect">
            <a:avLst/>
          </a:prstGeom>
          <a:noFill/>
          <a:ln/>
        </p:spPr>
        <p:txBody>
          <a:bodyPr wrap="square" lIns="0" tIns="0" rIns="0" bIns="0" rtlCol="0" anchor="ctr"/>
          <a:lstStyle/>
          <a:p>
            <a:pPr indent="0" marL="0">
              <a:buNone/>
            </a:pPr>
            <a:r>
              <a:rPr lang="en-US" sz="1200" b="1" dirty="0">
                <a:solidFill>
                  <a:srgbClr val="4F5BD5"/>
                </a:solidFill>
                <a:latin typeface="Courier New" pitchFamily="34" charset="0"/>
                <a:ea typeface="Courier New" pitchFamily="34" charset="-122"/>
                <a:cs typeface="Courier New" pitchFamily="34" charset="-120"/>
              </a:rPr>
              <a:t>comment-review</a:t>
            </a:r>
            <a:endParaRPr lang="en-US" sz="1200" dirty="0"/>
          </a:p>
        </p:txBody>
      </p:sp>
      <p:sp>
        <p:nvSpPr>
          <p:cNvPr id="23" name="Shape 19"/>
          <p:cNvSpPr/>
          <p:nvPr/>
        </p:nvSpPr>
        <p:spPr>
          <a:xfrm>
            <a:off x="777240" y="3291840"/>
            <a:ext cx="2514600" cy="1188720"/>
          </a:xfrm>
          <a:prstGeom prst="roundRect">
            <a:avLst>
              <a:gd name="adj" fmla="val 7692"/>
            </a:avLst>
          </a:prstGeom>
          <a:solidFill>
            <a:srgbClr val="FFFFFF"/>
          </a:solidFill>
          <a:ln w="12700">
            <a:solidFill>
              <a:srgbClr val="D7DDE8"/>
            </a:solidFill>
            <a:prstDash val="solid"/>
          </a:ln>
        </p:spPr>
      </p:sp>
      <p:sp>
        <p:nvSpPr>
          <p:cNvPr id="24" name="Shape 20"/>
          <p:cNvSpPr/>
          <p:nvPr/>
        </p:nvSpPr>
        <p:spPr>
          <a:xfrm>
            <a:off x="914400" y="3401568"/>
            <a:ext cx="402336" cy="402336"/>
          </a:xfrm>
          <a:prstGeom prst="ellipse">
            <a:avLst/>
          </a:prstGeom>
          <a:solidFill>
            <a:srgbClr val="4F5BD5"/>
          </a:solidFill>
          <a:ln w="12700">
            <a:solidFill>
              <a:srgbClr val="4F5BD5"/>
            </a:solidFill>
            <a:prstDash val="solid"/>
          </a:ln>
        </p:spPr>
      </p:sp>
      <p:pic>
        <p:nvPicPr>
          <p:cNvPr id="25" name="Image 2" descr="preencoded.png">    </p:cNvPr>
          <p:cNvPicPr>
            <a:picLocks noChangeAspect="1"/>
          </p:cNvPicPr>
          <p:nvPr/>
        </p:nvPicPr>
        <p:blipFill>
          <a:blip r:embed="rId3"/>
          <a:stretch>
            <a:fillRect/>
          </a:stretch>
        </p:blipFill>
        <p:spPr>
          <a:xfrm>
            <a:off x="1010961" y="3498129"/>
            <a:ext cx="209215" cy="209215"/>
          </a:xfrm>
          <a:prstGeom prst="rect">
            <a:avLst/>
          </a:prstGeom>
        </p:spPr>
      </p:pic>
      <p:sp>
        <p:nvSpPr>
          <p:cNvPr id="26" name="Text 21"/>
          <p:cNvSpPr txBox="1"/>
          <p:nvPr/>
        </p:nvSpPr>
        <p:spPr>
          <a:xfrm>
            <a:off x="1417320" y="3401568"/>
            <a:ext cx="1783080" cy="402336"/>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Strip</a:t>
            </a:r>
            <a:endParaRPr lang="en-US" sz="1300" dirty="0"/>
          </a:p>
        </p:txBody>
      </p:sp>
      <p:sp>
        <p:nvSpPr>
          <p:cNvPr id="27" name="Text 22"/>
          <p:cNvSpPr txBox="1"/>
          <p:nvPr/>
        </p:nvSpPr>
        <p:spPr>
          <a:xfrm>
            <a:off x="914400" y="3840480"/>
            <a:ext cx="2286000" cy="59436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Remove the comments this branch added.</a:t>
            </a:r>
            <a:endParaRPr lang="en-US" sz="1100" dirty="0"/>
          </a:p>
        </p:txBody>
      </p:sp>
      <p:sp>
        <p:nvSpPr>
          <p:cNvPr id="28" name="Shape 23"/>
          <p:cNvSpPr/>
          <p:nvPr/>
        </p:nvSpPr>
        <p:spPr>
          <a:xfrm>
            <a:off x="3310128" y="3886200"/>
            <a:ext cx="210312" cy="0"/>
          </a:xfrm>
          <a:prstGeom prst="line">
            <a:avLst/>
          </a:prstGeom>
          <a:noFill/>
          <a:ln w="19050">
            <a:solidFill>
              <a:srgbClr val="4F5BD5"/>
            </a:solidFill>
            <a:prstDash val="solid"/>
            <a:tailEnd type="triangle"/>
          </a:ln>
        </p:spPr>
      </p:sp>
      <p:sp>
        <p:nvSpPr>
          <p:cNvPr id="29" name="Shape 24"/>
          <p:cNvSpPr/>
          <p:nvPr/>
        </p:nvSpPr>
        <p:spPr>
          <a:xfrm>
            <a:off x="3538728" y="3291840"/>
            <a:ext cx="2514600" cy="1188720"/>
          </a:xfrm>
          <a:prstGeom prst="roundRect">
            <a:avLst>
              <a:gd name="adj" fmla="val 7692"/>
            </a:avLst>
          </a:prstGeom>
          <a:solidFill>
            <a:srgbClr val="FFFFFF"/>
          </a:solidFill>
          <a:ln w="12700">
            <a:solidFill>
              <a:srgbClr val="D7DDE8"/>
            </a:solidFill>
            <a:prstDash val="solid"/>
          </a:ln>
        </p:spPr>
      </p:sp>
      <p:sp>
        <p:nvSpPr>
          <p:cNvPr id="30" name="Shape 25"/>
          <p:cNvSpPr/>
          <p:nvPr/>
        </p:nvSpPr>
        <p:spPr>
          <a:xfrm>
            <a:off x="3675888" y="3401568"/>
            <a:ext cx="402336" cy="402336"/>
          </a:xfrm>
          <a:prstGeom prst="ellipse">
            <a:avLst/>
          </a:prstGeom>
          <a:solidFill>
            <a:srgbClr val="4F5BD5"/>
          </a:solidFill>
          <a:ln w="12700">
            <a:solidFill>
              <a:srgbClr val="4F5BD5"/>
            </a:solidFill>
            <a:prstDash val="solid"/>
          </a:ln>
        </p:spPr>
      </p:sp>
      <p:pic>
        <p:nvPicPr>
          <p:cNvPr id="31" name="Image 3" descr="preencoded.png">    </p:cNvPr>
          <p:cNvPicPr>
            <a:picLocks noChangeAspect="1"/>
          </p:cNvPicPr>
          <p:nvPr/>
        </p:nvPicPr>
        <p:blipFill>
          <a:blip r:embed="rId4"/>
          <a:stretch>
            <a:fillRect/>
          </a:stretch>
        </p:blipFill>
        <p:spPr>
          <a:xfrm>
            <a:off x="3772449" y="3498129"/>
            <a:ext cx="209215" cy="209215"/>
          </a:xfrm>
          <a:prstGeom prst="rect">
            <a:avLst/>
          </a:prstGeom>
        </p:spPr>
      </p:pic>
      <p:sp>
        <p:nvSpPr>
          <p:cNvPr id="32" name="Text 26"/>
          <p:cNvSpPr txBox="1"/>
          <p:nvPr/>
        </p:nvSpPr>
        <p:spPr>
          <a:xfrm>
            <a:off x="4178808" y="3401568"/>
            <a:ext cx="1783080" cy="402336"/>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Blind writers</a:t>
            </a:r>
            <a:endParaRPr lang="en-US" sz="1300" dirty="0"/>
          </a:p>
        </p:txBody>
      </p:sp>
      <p:sp>
        <p:nvSpPr>
          <p:cNvPr id="33" name="Text 27"/>
          <p:cNvSpPr txBox="1"/>
          <p:nvPr/>
        </p:nvSpPr>
        <p:spPr>
          <a:xfrm>
            <a:off x="3675888" y="3840480"/>
            <a:ext cx="2286000" cy="59436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One Opus sub-agent per file writes comments from the code alone.</a:t>
            </a:r>
            <a:endParaRPr lang="en-US" sz="1100" dirty="0"/>
          </a:p>
        </p:txBody>
      </p:sp>
      <p:sp>
        <p:nvSpPr>
          <p:cNvPr id="34" name="Shape 28"/>
          <p:cNvSpPr/>
          <p:nvPr/>
        </p:nvSpPr>
        <p:spPr>
          <a:xfrm>
            <a:off x="6071616" y="3886200"/>
            <a:ext cx="210312" cy="0"/>
          </a:xfrm>
          <a:prstGeom prst="line">
            <a:avLst/>
          </a:prstGeom>
          <a:noFill/>
          <a:ln w="19050">
            <a:solidFill>
              <a:srgbClr val="4F5BD5"/>
            </a:solidFill>
            <a:prstDash val="solid"/>
            <a:tailEnd type="triangle"/>
          </a:ln>
        </p:spPr>
      </p:sp>
      <p:sp>
        <p:nvSpPr>
          <p:cNvPr id="35" name="Shape 29"/>
          <p:cNvSpPr/>
          <p:nvPr/>
        </p:nvSpPr>
        <p:spPr>
          <a:xfrm>
            <a:off x="6300216" y="3291840"/>
            <a:ext cx="2514600" cy="1188720"/>
          </a:xfrm>
          <a:prstGeom prst="roundRect">
            <a:avLst>
              <a:gd name="adj" fmla="val 7692"/>
            </a:avLst>
          </a:prstGeom>
          <a:solidFill>
            <a:srgbClr val="FFFFFF"/>
          </a:solidFill>
          <a:ln w="12700">
            <a:solidFill>
              <a:srgbClr val="D7DDE8"/>
            </a:solidFill>
            <a:prstDash val="solid"/>
          </a:ln>
        </p:spPr>
      </p:sp>
      <p:sp>
        <p:nvSpPr>
          <p:cNvPr id="36" name="Shape 30"/>
          <p:cNvSpPr/>
          <p:nvPr/>
        </p:nvSpPr>
        <p:spPr>
          <a:xfrm>
            <a:off x="6437376" y="3401568"/>
            <a:ext cx="402336" cy="402336"/>
          </a:xfrm>
          <a:prstGeom prst="ellipse">
            <a:avLst/>
          </a:prstGeom>
          <a:solidFill>
            <a:srgbClr val="4F5BD5"/>
          </a:solidFill>
          <a:ln w="12700">
            <a:solidFill>
              <a:srgbClr val="4F5BD5"/>
            </a:solidFill>
            <a:prstDash val="solid"/>
          </a:ln>
        </p:spPr>
      </p:sp>
      <p:pic>
        <p:nvPicPr>
          <p:cNvPr id="37" name="Image 4" descr="preencoded.png">    </p:cNvPr>
          <p:cNvPicPr>
            <a:picLocks noChangeAspect="1"/>
          </p:cNvPicPr>
          <p:nvPr/>
        </p:nvPicPr>
        <p:blipFill>
          <a:blip r:embed="rId5"/>
          <a:stretch>
            <a:fillRect/>
          </a:stretch>
        </p:blipFill>
        <p:spPr>
          <a:xfrm>
            <a:off x="6533937" y="3498129"/>
            <a:ext cx="209215" cy="209215"/>
          </a:xfrm>
          <a:prstGeom prst="rect">
            <a:avLst/>
          </a:prstGeom>
        </p:spPr>
      </p:pic>
      <p:sp>
        <p:nvSpPr>
          <p:cNvPr id="38" name="Text 31"/>
          <p:cNvSpPr txBox="1"/>
          <p:nvPr/>
        </p:nvSpPr>
        <p:spPr>
          <a:xfrm>
            <a:off x="6940296" y="3401568"/>
            <a:ext cx="1783080" cy="402336"/>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Judge</a:t>
            </a:r>
            <a:endParaRPr lang="en-US" sz="1300" dirty="0"/>
          </a:p>
        </p:txBody>
      </p:sp>
      <p:sp>
        <p:nvSpPr>
          <p:cNvPr id="39" name="Text 32"/>
          <p:cNvSpPr txBox="1"/>
          <p:nvPr/>
        </p:nvSpPr>
        <p:spPr>
          <a:xfrm>
            <a:off x="6437376" y="3840480"/>
            <a:ext cx="2286000" cy="59436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Keep what passes the rules. Restore facts the code cannot carry.</a:t>
            </a:r>
            <a:endParaRPr lang="en-US" sz="1100" dirty="0"/>
          </a:p>
        </p:txBody>
      </p:sp>
      <p:sp>
        <p:nvSpPr>
          <p:cNvPr id="40" name="Shape 33"/>
          <p:cNvSpPr/>
          <p:nvPr/>
        </p:nvSpPr>
        <p:spPr>
          <a:xfrm>
            <a:off x="8833104" y="3886200"/>
            <a:ext cx="210312" cy="0"/>
          </a:xfrm>
          <a:prstGeom prst="line">
            <a:avLst/>
          </a:prstGeom>
          <a:noFill/>
          <a:ln w="19050">
            <a:solidFill>
              <a:srgbClr val="4F5BD5"/>
            </a:solidFill>
            <a:prstDash val="solid"/>
            <a:tailEnd type="triangle"/>
          </a:ln>
        </p:spPr>
      </p:sp>
      <p:sp>
        <p:nvSpPr>
          <p:cNvPr id="41" name="Shape 34"/>
          <p:cNvSpPr/>
          <p:nvPr/>
        </p:nvSpPr>
        <p:spPr>
          <a:xfrm>
            <a:off x="9061704" y="3291840"/>
            <a:ext cx="2514600" cy="1188720"/>
          </a:xfrm>
          <a:prstGeom prst="roundRect">
            <a:avLst>
              <a:gd name="adj" fmla="val 7692"/>
            </a:avLst>
          </a:prstGeom>
          <a:solidFill>
            <a:srgbClr val="FFFFFF"/>
          </a:solidFill>
          <a:ln w="12700">
            <a:solidFill>
              <a:srgbClr val="D7DDE8"/>
            </a:solidFill>
            <a:prstDash val="solid"/>
          </a:ln>
        </p:spPr>
      </p:sp>
      <p:sp>
        <p:nvSpPr>
          <p:cNvPr id="42" name="Shape 35"/>
          <p:cNvSpPr/>
          <p:nvPr/>
        </p:nvSpPr>
        <p:spPr>
          <a:xfrm>
            <a:off x="9198864" y="3401568"/>
            <a:ext cx="402336" cy="402336"/>
          </a:xfrm>
          <a:prstGeom prst="ellipse">
            <a:avLst/>
          </a:prstGeom>
          <a:solidFill>
            <a:srgbClr val="4F5BD5"/>
          </a:solidFill>
          <a:ln w="12700">
            <a:solidFill>
              <a:srgbClr val="4F5BD5"/>
            </a:solidFill>
            <a:prstDash val="solid"/>
          </a:ln>
        </p:spPr>
      </p:sp>
      <p:pic>
        <p:nvPicPr>
          <p:cNvPr id="43" name="Image 5" descr="preencoded.png">    </p:cNvPr>
          <p:cNvPicPr>
            <a:picLocks noChangeAspect="1"/>
          </p:cNvPicPr>
          <p:nvPr/>
        </p:nvPicPr>
        <p:blipFill>
          <a:blip r:embed="rId6"/>
          <a:stretch>
            <a:fillRect/>
          </a:stretch>
        </p:blipFill>
        <p:spPr>
          <a:xfrm>
            <a:off x="9295425" y="3498129"/>
            <a:ext cx="209215" cy="209215"/>
          </a:xfrm>
          <a:prstGeom prst="rect">
            <a:avLst/>
          </a:prstGeom>
        </p:spPr>
      </p:pic>
      <p:sp>
        <p:nvSpPr>
          <p:cNvPr id="44" name="Text 36"/>
          <p:cNvSpPr txBox="1"/>
          <p:nvPr/>
        </p:nvSpPr>
        <p:spPr>
          <a:xfrm>
            <a:off x="9701784" y="3401568"/>
            <a:ext cx="1783080" cy="402336"/>
          </a:xfrm>
          <a:prstGeom prst="rect">
            <a:avLst/>
          </a:prstGeom>
          <a:noFill/>
          <a:ln/>
        </p:spPr>
        <p:txBody>
          <a:bodyPr wrap="square" lIns="0" tIns="0" rIns="0" bIns="0" rtlCol="0" anchor="ctr"/>
          <a:lstStyle/>
          <a:p>
            <a:pPr indent="0" marL="0">
              <a:buNone/>
            </a:pPr>
            <a:r>
              <a:rPr lang="en-US" sz="1300" b="1" dirty="0">
                <a:solidFill>
                  <a:srgbClr val="14213D"/>
                </a:solidFill>
                <a:latin typeface="Arial" pitchFamily="34" charset="0"/>
                <a:ea typeface="Arial" pitchFamily="34" charset="-122"/>
                <a:cs typeface="Arial" pitchFamily="34" charset="-120"/>
              </a:rPr>
              <a:t>Commit and stamp</a:t>
            </a:r>
            <a:endParaRPr lang="en-US" sz="1300" dirty="0"/>
          </a:p>
        </p:txBody>
      </p:sp>
      <p:sp>
        <p:nvSpPr>
          <p:cNvPr id="45" name="Text 37"/>
          <p:cNvSpPr txBox="1"/>
          <p:nvPr/>
        </p:nvSpPr>
        <p:spPr>
          <a:xfrm>
            <a:off x="9198864" y="3840480"/>
            <a:ext cx="2286000" cy="59436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Commit "docs: review comments", then stamp the commit.</a:t>
            </a:r>
            <a:endParaRPr lang="en-US" sz="1100" dirty="0"/>
          </a:p>
        </p:txBody>
      </p:sp>
      <p:sp>
        <p:nvSpPr>
          <p:cNvPr id="46" name="Text 38"/>
          <p:cNvSpPr txBox="1"/>
          <p:nvPr/>
        </p:nvSpPr>
        <p:spPr>
          <a:xfrm>
            <a:off x="548640" y="4700016"/>
            <a:ext cx="11094415" cy="310896"/>
          </a:xfrm>
          <a:prstGeom prst="rect">
            <a:avLst/>
          </a:prstGeom>
          <a:noFill/>
          <a:ln/>
        </p:spPr>
        <p:txBody>
          <a:bodyPr wrap="square" lIns="0" tIns="0" rIns="0" bIns="0" rtlCol="0" anchor="ctr"/>
          <a:lstStyle/>
          <a:p>
            <a:pPr indent="0" marL="0">
              <a:buNone/>
            </a:pPr>
            <a:r>
              <a:rPr lang="en-US" sz="1200" i="1" dirty="0">
                <a:solidFill>
                  <a:srgbClr val="4A5468"/>
                </a:solidFill>
                <a:latin typeface="Arial" pitchFamily="34" charset="0"/>
                <a:ea typeface="Arial" pitchFamily="34" charset="-122"/>
                <a:cs typeface="Arial" pitchFamily="34" charset="-120"/>
              </a:rPr>
              <a:t>Blind writers work as a lie detector for comments. What they cannot rebuild from the code is what a comment must say.</a:t>
            </a:r>
            <a:endParaRPr lang="en-US" sz="1200" dirty="0"/>
          </a:p>
        </p:txBody>
      </p:sp>
      <p:sp>
        <p:nvSpPr>
          <p:cNvPr id="47" name="Shape 39"/>
          <p:cNvSpPr/>
          <p:nvPr/>
        </p:nvSpPr>
        <p:spPr>
          <a:xfrm>
            <a:off x="548640" y="5120640"/>
            <a:ext cx="11094415" cy="1170432"/>
          </a:xfrm>
          <a:prstGeom prst="roundRect">
            <a:avLst>
              <a:gd name="adj" fmla="val 7813"/>
            </a:avLst>
          </a:prstGeom>
          <a:solidFill>
            <a:srgbClr val="14213D"/>
          </a:solidFill>
          <a:ln w="12700">
            <a:solidFill>
              <a:srgbClr val="14213D"/>
            </a:solidFill>
            <a:prstDash val="solid"/>
          </a:ln>
        </p:spPr>
      </p:sp>
      <p:sp>
        <p:nvSpPr>
          <p:cNvPr id="48" name="Text 40"/>
          <p:cNvSpPr txBox="1"/>
          <p:nvPr/>
        </p:nvSpPr>
        <p:spPr>
          <a:xfrm>
            <a:off x="777240" y="5120640"/>
            <a:ext cx="2377440" cy="1170432"/>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/code-review</a:t>
            </a:r>
            <a:endParaRPr lang="en-US" sz="1500" dirty="0"/>
          </a:p>
          <a:p>
            <a:pPr indent="0" marL="0">
              <a:buNone/>
            </a:pPr>
            <a:r>
              <a:rPr lang="en-US" sz="1200" dirty="0">
                <a:solidFill>
                  <a:srgbClr val="C9D2E3"/>
                </a:solidFill>
                <a:latin typeface="Arial" pitchFamily="34" charset="0"/>
                <a:ea typeface="Arial" pitchFamily="34" charset="-122"/>
                <a:cs typeface="Arial" pitchFamily="34" charset="-120"/>
              </a:rPr>
              <a:t>called by /implement</a:t>
            </a:r>
            <a:endParaRPr lang="en-US" sz="1500" dirty="0"/>
          </a:p>
        </p:txBody>
      </p:sp>
      <p:sp>
        <p:nvSpPr>
          <p:cNvPr id="49" name="Shape 41"/>
          <p:cNvSpPr/>
          <p:nvPr/>
        </p:nvSpPr>
        <p:spPr>
          <a:xfrm>
            <a:off x="3108960" y="5248656"/>
            <a:ext cx="4572000" cy="402336"/>
          </a:xfrm>
          <a:prstGeom prst="roundRect">
            <a:avLst>
              <a:gd name="adj" fmla="val 13636"/>
            </a:avLst>
          </a:prstGeom>
          <a:solidFill>
            <a:srgbClr val="22305A"/>
          </a:solidFill>
          <a:ln w="12700">
            <a:solidFill>
              <a:srgbClr val="22305A"/>
            </a:solidFill>
            <a:prstDash val="solid"/>
          </a:ln>
        </p:spPr>
      </p:sp>
      <p:sp>
        <p:nvSpPr>
          <p:cNvPr id="50" name="Text 42"/>
          <p:cNvSpPr txBox="1"/>
          <p:nvPr/>
        </p:nvSpPr>
        <p:spPr>
          <a:xfrm>
            <a:off x="3246120" y="5248656"/>
            <a:ext cx="438912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Standards sub-agent: CODING_STANDARDS.md and a smell baseline</a:t>
            </a:r>
            <a:endParaRPr lang="en-US" sz="1150" dirty="0"/>
          </a:p>
        </p:txBody>
      </p:sp>
      <p:sp>
        <p:nvSpPr>
          <p:cNvPr id="51" name="Shape 43"/>
          <p:cNvSpPr/>
          <p:nvPr/>
        </p:nvSpPr>
        <p:spPr>
          <a:xfrm>
            <a:off x="3108960" y="5724144"/>
            <a:ext cx="4572000" cy="402336"/>
          </a:xfrm>
          <a:prstGeom prst="roundRect">
            <a:avLst>
              <a:gd name="adj" fmla="val 13636"/>
            </a:avLst>
          </a:prstGeom>
          <a:solidFill>
            <a:srgbClr val="22305A"/>
          </a:solidFill>
          <a:ln w="12700">
            <a:solidFill>
              <a:srgbClr val="22305A"/>
            </a:solidFill>
            <a:prstDash val="solid"/>
          </a:ln>
        </p:spPr>
      </p:sp>
      <p:sp>
        <p:nvSpPr>
          <p:cNvPr id="52" name="Text 44"/>
          <p:cNvSpPr txBox="1"/>
          <p:nvPr/>
        </p:nvSpPr>
        <p:spPr>
          <a:xfrm>
            <a:off x="3246120" y="5724144"/>
            <a:ext cx="4389120" cy="402336"/>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Spec sub-agent: the ticket the commits reference</a:t>
            </a:r>
            <a:endParaRPr lang="en-US" sz="1150" dirty="0"/>
          </a:p>
        </p:txBody>
      </p:sp>
      <p:sp>
        <p:nvSpPr>
          <p:cNvPr id="53" name="Shape 45"/>
          <p:cNvSpPr/>
          <p:nvPr/>
        </p:nvSpPr>
        <p:spPr>
          <a:xfrm>
            <a:off x="7772400" y="5705856"/>
            <a:ext cx="411480" cy="0"/>
          </a:xfrm>
          <a:prstGeom prst="line">
            <a:avLst/>
          </a:prstGeom>
          <a:noFill/>
          <a:ln w="19050">
            <a:solidFill>
              <a:srgbClr val="C9D2E3"/>
            </a:solidFill>
            <a:prstDash val="solid"/>
            <a:tailEnd type="triangle"/>
          </a:ln>
        </p:spPr>
      </p:sp>
      <p:sp>
        <p:nvSpPr>
          <p:cNvPr id="54" name="Text 46"/>
          <p:cNvSpPr txBox="1"/>
          <p:nvPr/>
        </p:nvSpPr>
        <p:spPr>
          <a:xfrm>
            <a:off x="8275320" y="5120640"/>
            <a:ext cx="3246120" cy="11704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Two reports, side by side. Neither axis may hide the other.</a:t>
            </a:r>
            <a:endParaRPr lang="en-US" sz="1250" dirty="0"/>
          </a:p>
        </p:txBody>
      </p:sp>
      <p:sp>
        <p:nvSpPr>
          <p:cNvPr id="55" name="Text 47"/>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main (2026-09-27), plugins/agent-ready, and mattpocock/skills code-review</a:t>
            </a:r>
            <a:endParaRPr lang="en-US" sz="900" dirty="0"/>
          </a:p>
        </p:txBody>
      </p:sp>
      <p:sp>
        <p:nvSpPr>
          <p:cNvPr id="56" name="Text 48"/>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9184"/>
            <a:ext cx="2326234" cy="274320"/>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AGENT-READY · BRAKE 3</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Review effort follows the blast radius</a:t>
            </a:r>
            <a:endParaRPr lang="en-US" sz="2800" dirty="0"/>
          </a:p>
        </p:txBody>
      </p:sp>
      <p:sp>
        <p:nvSpPr>
          <p:cNvPr id="4" name="Shape 2"/>
          <p:cNvSpPr/>
          <p:nvPr/>
        </p:nvSpPr>
        <p:spPr>
          <a:xfrm>
            <a:off x="548640" y="1554480"/>
            <a:ext cx="2697480" cy="1353312"/>
          </a:xfrm>
          <a:prstGeom prst="roundRect">
            <a:avLst>
              <a:gd name="adj" fmla="val 6757"/>
            </a:avLst>
          </a:prstGeom>
          <a:solidFill>
            <a:srgbClr val="F1F4F9"/>
          </a:solidFill>
          <a:ln w="12700">
            <a:solidFill>
              <a:srgbClr val="F1F4F9"/>
            </a:solidFill>
            <a:prstDash val="solid"/>
          </a:ln>
        </p:spPr>
      </p:sp>
      <p:sp>
        <p:nvSpPr>
          <p:cNvPr id="5" name="Shape 3"/>
          <p:cNvSpPr/>
          <p:nvPr/>
        </p:nvSpPr>
        <p:spPr>
          <a:xfrm>
            <a:off x="731520" y="1719072"/>
            <a:ext cx="457200" cy="457200"/>
          </a:xfrm>
          <a:prstGeom prst="ellipse">
            <a:avLst/>
          </a:prstGeom>
          <a:solidFill>
            <a:srgbClr val="1F9E89"/>
          </a:solidFill>
          <a:ln w="12700">
            <a:solidFill>
              <a:srgbClr val="1F9E89"/>
            </a:solidFill>
            <a:prstDash val="solid"/>
          </a:ln>
        </p:spPr>
      </p:sp>
      <p:pic>
        <p:nvPicPr>
          <p:cNvPr id="6" name="Image 0" descr="preencoded.png">    </p:cNvPr>
          <p:cNvPicPr>
            <a:picLocks noChangeAspect="1"/>
          </p:cNvPicPr>
          <p:nvPr/>
        </p:nvPicPr>
        <p:blipFill>
          <a:blip r:embed="rId1"/>
          <a:stretch>
            <a:fillRect/>
          </a:stretch>
        </p:blipFill>
        <p:spPr>
          <a:xfrm>
            <a:off x="841248" y="1828800"/>
            <a:ext cx="237744" cy="237744"/>
          </a:xfrm>
          <a:prstGeom prst="rect">
            <a:avLst/>
          </a:prstGeom>
        </p:spPr>
      </p:pic>
      <p:sp>
        <p:nvSpPr>
          <p:cNvPr id="7" name="Text 4"/>
          <p:cNvSpPr txBox="1"/>
          <p:nvPr/>
        </p:nvSpPr>
        <p:spPr>
          <a:xfrm>
            <a:off x="1298448" y="1719072"/>
            <a:ext cx="1874520" cy="45720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Cleanup PR</a:t>
            </a:r>
            <a:endParaRPr lang="en-US" sz="1500" dirty="0"/>
          </a:p>
        </p:txBody>
      </p:sp>
      <p:sp>
        <p:nvSpPr>
          <p:cNvPr id="8" name="Text 5"/>
          <p:cNvSpPr txBox="1"/>
          <p:nvPr/>
        </p:nvSpPr>
        <p:spPr>
          <a:xfrm>
            <a:off x="731520" y="2286000"/>
            <a:ext cx="2377440" cy="54864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two-way door</a:t>
            </a:r>
            <a:endParaRPr lang="en-US" sz="1100" dirty="0"/>
          </a:p>
          <a:p>
            <a:pPr indent="0" marL="0">
              <a:buNone/>
            </a:pPr>
            <a:r>
              <a:rPr lang="en-US" sz="1100" dirty="0">
                <a:solidFill>
                  <a:srgbClr val="4A5468"/>
                </a:solidFill>
                <a:latin typeface="Arial" pitchFamily="34" charset="0"/>
                <a:ea typeface="Arial" pitchFamily="34" charset="-122"/>
                <a:cs typeface="Arial" pitchFamily="34" charset="-120"/>
              </a:rPr>
              <a:t>small blast radius</a:t>
            </a:r>
            <a:endParaRPr lang="en-US" sz="1100" dirty="0"/>
          </a:p>
        </p:txBody>
      </p:sp>
      <p:sp>
        <p:nvSpPr>
          <p:cNvPr id="9" name="Text 6"/>
          <p:cNvSpPr/>
          <p:nvPr/>
        </p:nvSpPr>
        <p:spPr>
          <a:xfrm>
            <a:off x="3429000" y="1700784"/>
            <a:ext cx="2542032"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No behaviour change</a:t>
            </a:r>
            <a:endParaRPr lang="en-US" sz="1200" dirty="0"/>
          </a:p>
        </p:txBody>
      </p:sp>
      <p:sp>
        <p:nvSpPr>
          <p:cNvPr id="10" name="Text 7"/>
          <p:cNvSpPr/>
          <p:nvPr/>
        </p:nvSpPr>
        <p:spPr>
          <a:xfrm>
            <a:off x="6080760" y="1700784"/>
            <a:ext cx="2542032"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No steering file</a:t>
            </a:r>
            <a:endParaRPr lang="en-US" sz="1200" dirty="0"/>
          </a:p>
        </p:txBody>
      </p:sp>
      <p:sp>
        <p:nvSpPr>
          <p:cNvPr id="11" name="Text 8"/>
          <p:cNvSpPr/>
          <p:nvPr/>
        </p:nvSpPr>
        <p:spPr>
          <a:xfrm>
            <a:off x="3429000" y="2267712"/>
            <a:ext cx="2542032"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Review stamp on the head</a:t>
            </a:r>
            <a:endParaRPr lang="en-US" sz="1200" dirty="0"/>
          </a:p>
        </p:txBody>
      </p:sp>
      <p:sp>
        <p:nvSpPr>
          <p:cNvPr id="12" name="Text 9"/>
          <p:cNvSpPr/>
          <p:nvPr/>
        </p:nvSpPr>
        <p:spPr>
          <a:xfrm>
            <a:off x="6080760" y="2267712"/>
            <a:ext cx="2542032" cy="457200"/>
          </a:xfrm>
          <a:prstGeom prst="roundRect">
            <a:avLst>
              <a:gd name="adj" fmla="val 16000"/>
            </a:avLst>
          </a:prstGeom>
          <a:solidFill>
            <a:srgbClr val="DDF2EE"/>
          </a:solidFill>
          <a:ln>
            <a:solidFill>
              <a:srgbClr val="DDF2EE"/>
            </a:solidFill>
          </a:ln>
        </p:spPr>
        <p:txBody>
          <a:bodyPr wrap="square" lIns="50800" tIns="50800" rIns="50800" bIns="50800" rtlCol="0" anchor="ctr"/>
          <a:lstStyle/>
          <a:p>
            <a:pPr algn="ctr" indent="0" marL="0">
              <a:buNone/>
            </a:pPr>
            <a:r>
              <a:rPr lang="en-US" sz="1200" b="1" dirty="0">
                <a:solidFill>
                  <a:srgbClr val="14213D"/>
                </a:solidFill>
                <a:latin typeface="Arial" pitchFamily="34" charset="0"/>
                <a:ea typeface="Arial" pitchFamily="34" charset="-122"/>
                <a:cs typeface="Arial" pitchFamily="34" charset="-120"/>
              </a:rPr>
              <a:t>check passes</a:t>
            </a:r>
            <a:endParaRPr lang="en-US" sz="1200" dirty="0"/>
          </a:p>
        </p:txBody>
      </p:sp>
      <p:sp>
        <p:nvSpPr>
          <p:cNvPr id="13" name="Shape 10"/>
          <p:cNvSpPr/>
          <p:nvPr/>
        </p:nvSpPr>
        <p:spPr>
          <a:xfrm>
            <a:off x="8732520" y="2231136"/>
            <a:ext cx="411480" cy="0"/>
          </a:xfrm>
          <a:prstGeom prst="line">
            <a:avLst/>
          </a:prstGeom>
          <a:noFill/>
          <a:ln w="25400">
            <a:solidFill>
              <a:srgbClr val="1F9E89"/>
            </a:solidFill>
            <a:prstDash val="solid"/>
            <a:tailEnd type="triangle"/>
          </a:ln>
        </p:spPr>
      </p:sp>
      <p:sp>
        <p:nvSpPr>
          <p:cNvPr id="14" name="Shape 11"/>
          <p:cNvSpPr/>
          <p:nvPr/>
        </p:nvSpPr>
        <p:spPr>
          <a:xfrm>
            <a:off x="9189720" y="1554480"/>
            <a:ext cx="2450592" cy="1353312"/>
          </a:xfrm>
          <a:prstGeom prst="roundRect">
            <a:avLst>
              <a:gd name="adj" fmla="val 6757"/>
            </a:avLst>
          </a:prstGeom>
          <a:solidFill>
            <a:srgbClr val="1F9E89"/>
          </a:solidFill>
          <a:ln w="12700">
            <a:solidFill>
              <a:srgbClr val="1F9E89"/>
            </a:solidFill>
            <a:prstDash val="solid"/>
          </a:ln>
        </p:spPr>
      </p:sp>
      <p:pic>
        <p:nvPicPr>
          <p:cNvPr id="15" name="Image 1" descr="preencoded.png">    </p:cNvPr>
          <p:cNvPicPr>
            <a:picLocks noChangeAspect="1"/>
          </p:cNvPicPr>
          <p:nvPr/>
        </p:nvPicPr>
        <p:blipFill>
          <a:blip r:embed="rId2"/>
          <a:stretch>
            <a:fillRect/>
          </a:stretch>
        </p:blipFill>
        <p:spPr>
          <a:xfrm>
            <a:off x="9372600" y="1737360"/>
            <a:ext cx="384048" cy="384048"/>
          </a:xfrm>
          <a:prstGeom prst="rect">
            <a:avLst/>
          </a:prstGeom>
        </p:spPr>
      </p:pic>
      <p:sp>
        <p:nvSpPr>
          <p:cNvPr id="16" name="Text 12"/>
          <p:cNvSpPr txBox="1"/>
          <p:nvPr/>
        </p:nvSpPr>
        <p:spPr>
          <a:xfrm>
            <a:off x="9372600" y="2194560"/>
            <a:ext cx="2148840" cy="5943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The agent merges it</a:t>
            </a:r>
            <a:endParaRPr lang="en-US" sz="1400" dirty="0"/>
          </a:p>
        </p:txBody>
      </p:sp>
      <p:sp>
        <p:nvSpPr>
          <p:cNvPr id="17" name="Shape 13"/>
          <p:cNvSpPr/>
          <p:nvPr/>
        </p:nvSpPr>
        <p:spPr>
          <a:xfrm>
            <a:off x="548640" y="3035808"/>
            <a:ext cx="2697480" cy="1353312"/>
          </a:xfrm>
          <a:prstGeom prst="roundRect">
            <a:avLst>
              <a:gd name="adj" fmla="val 6757"/>
            </a:avLst>
          </a:prstGeom>
          <a:solidFill>
            <a:srgbClr val="F1F4F9"/>
          </a:solidFill>
          <a:ln w="12700">
            <a:solidFill>
              <a:srgbClr val="F1F4F9"/>
            </a:solidFill>
            <a:prstDash val="solid"/>
          </a:ln>
        </p:spPr>
      </p:sp>
      <p:sp>
        <p:nvSpPr>
          <p:cNvPr id="18" name="Shape 14"/>
          <p:cNvSpPr/>
          <p:nvPr/>
        </p:nvSpPr>
        <p:spPr>
          <a:xfrm>
            <a:off x="731520" y="3200400"/>
            <a:ext cx="457200" cy="457200"/>
          </a:xfrm>
          <a:prstGeom prst="ellipse">
            <a:avLst/>
          </a:prstGeom>
          <a:solidFill>
            <a:srgbClr val="F26B38"/>
          </a:solidFill>
          <a:ln w="12700">
            <a:solidFill>
              <a:srgbClr val="F26B38"/>
            </a:solidFill>
            <a:prstDash val="solid"/>
          </a:ln>
        </p:spPr>
      </p:sp>
      <p:pic>
        <p:nvPicPr>
          <p:cNvPr id="19" name="Image 2" descr="preencoded.png">    </p:cNvPr>
          <p:cNvPicPr>
            <a:picLocks noChangeAspect="1"/>
          </p:cNvPicPr>
          <p:nvPr/>
        </p:nvPicPr>
        <p:blipFill>
          <a:blip r:embed="rId3"/>
          <a:stretch>
            <a:fillRect/>
          </a:stretch>
        </p:blipFill>
        <p:spPr>
          <a:xfrm>
            <a:off x="841248" y="3310128"/>
            <a:ext cx="237744" cy="237744"/>
          </a:xfrm>
          <a:prstGeom prst="rect">
            <a:avLst/>
          </a:prstGeom>
        </p:spPr>
      </p:pic>
      <p:sp>
        <p:nvSpPr>
          <p:cNvPr id="20" name="Text 15"/>
          <p:cNvSpPr txBox="1"/>
          <p:nvPr/>
        </p:nvSpPr>
        <p:spPr>
          <a:xfrm>
            <a:off x="1298448" y="3200400"/>
            <a:ext cx="1874520" cy="45720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Feature PR</a:t>
            </a:r>
            <a:endParaRPr lang="en-US" sz="1500" dirty="0"/>
          </a:p>
        </p:txBody>
      </p:sp>
      <p:sp>
        <p:nvSpPr>
          <p:cNvPr id="21" name="Text 16"/>
          <p:cNvSpPr txBox="1"/>
          <p:nvPr/>
        </p:nvSpPr>
        <p:spPr>
          <a:xfrm>
            <a:off x="731520" y="3767328"/>
            <a:ext cx="2377440" cy="54864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mostly two-way</a:t>
            </a:r>
            <a:endParaRPr lang="en-US" sz="1100" dirty="0"/>
          </a:p>
          <a:p>
            <a:pPr indent="0" marL="0">
              <a:buNone/>
            </a:pPr>
            <a:r>
              <a:rPr lang="en-US" sz="1100" dirty="0">
                <a:solidFill>
                  <a:srgbClr val="4A5468"/>
                </a:solidFill>
                <a:latin typeface="Arial" pitchFamily="34" charset="0"/>
                <a:ea typeface="Arial" pitchFamily="34" charset="-122"/>
                <a:cs typeface="Arial" pitchFamily="34" charset="-120"/>
              </a:rPr>
              <a:t>blast radius varies</a:t>
            </a:r>
            <a:endParaRPr lang="en-US" sz="1100" dirty="0"/>
          </a:p>
        </p:txBody>
      </p:sp>
      <p:sp>
        <p:nvSpPr>
          <p:cNvPr id="22" name="Text 17"/>
          <p:cNvSpPr txBox="1"/>
          <p:nvPr/>
        </p:nvSpPr>
        <p:spPr>
          <a:xfrm>
            <a:off x="3429000" y="3108960"/>
            <a:ext cx="5212080" cy="1207008"/>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The body lists goal, decisions with the rejected option, what was left out, verification and the least sure parts.</a:t>
            </a:r>
            <a:endParaRPr lang="en-US" sz="1200" dirty="0"/>
          </a:p>
          <a:p>
            <a:pPr indent="0" marL="0">
              <a:spcBef>
                <a:spcPts val="600"/>
              </a:spcBef>
              <a:buNone/>
            </a:pPr>
            <a:r>
              <a:rPr lang="en-US" sz="1200" b="1" dirty="0">
                <a:solidFill>
                  <a:srgbClr val="14213D"/>
                </a:solidFill>
                <a:latin typeface="Arial" pitchFamily="34" charset="0"/>
                <a:ea typeface="Arial" pitchFamily="34" charset="-122"/>
                <a:cs typeface="Arial" pitchFamily="34" charset="-120"/>
              </a:rPr>
              <a:t>A hard-to-undo change stops the agent before it writes code.</a:t>
            </a:r>
            <a:endParaRPr lang="en-US" sz="1200" dirty="0"/>
          </a:p>
        </p:txBody>
      </p:sp>
      <p:sp>
        <p:nvSpPr>
          <p:cNvPr id="23" name="Shape 18"/>
          <p:cNvSpPr/>
          <p:nvPr/>
        </p:nvSpPr>
        <p:spPr>
          <a:xfrm>
            <a:off x="8732520" y="3712464"/>
            <a:ext cx="411480" cy="0"/>
          </a:xfrm>
          <a:prstGeom prst="line">
            <a:avLst/>
          </a:prstGeom>
          <a:noFill/>
          <a:ln w="25400">
            <a:solidFill>
              <a:srgbClr val="F26B38"/>
            </a:solidFill>
            <a:prstDash val="solid"/>
            <a:tailEnd type="triangle"/>
          </a:ln>
        </p:spPr>
      </p:sp>
      <p:sp>
        <p:nvSpPr>
          <p:cNvPr id="24" name="Shape 19"/>
          <p:cNvSpPr/>
          <p:nvPr/>
        </p:nvSpPr>
        <p:spPr>
          <a:xfrm>
            <a:off x="9189720" y="3035808"/>
            <a:ext cx="2450592" cy="1353312"/>
          </a:xfrm>
          <a:prstGeom prst="roundRect">
            <a:avLst>
              <a:gd name="adj" fmla="val 6757"/>
            </a:avLst>
          </a:prstGeom>
          <a:solidFill>
            <a:srgbClr val="F26B38"/>
          </a:solidFill>
          <a:ln w="12700">
            <a:solidFill>
              <a:srgbClr val="F26B38"/>
            </a:solidFill>
            <a:prstDash val="solid"/>
          </a:ln>
        </p:spPr>
      </p:sp>
      <p:pic>
        <p:nvPicPr>
          <p:cNvPr id="25" name="Image 3" descr="preencoded.png">    </p:cNvPr>
          <p:cNvPicPr>
            <a:picLocks noChangeAspect="1"/>
          </p:cNvPicPr>
          <p:nvPr/>
        </p:nvPicPr>
        <p:blipFill>
          <a:blip r:embed="rId4"/>
          <a:stretch>
            <a:fillRect/>
          </a:stretch>
        </p:blipFill>
        <p:spPr>
          <a:xfrm>
            <a:off x="9372600" y="3218688"/>
            <a:ext cx="384048" cy="384048"/>
          </a:xfrm>
          <a:prstGeom prst="rect">
            <a:avLst/>
          </a:prstGeom>
        </p:spPr>
      </p:pic>
      <p:sp>
        <p:nvSpPr>
          <p:cNvPr id="26" name="Text 20"/>
          <p:cNvSpPr txBox="1"/>
          <p:nvPr/>
        </p:nvSpPr>
        <p:spPr>
          <a:xfrm>
            <a:off x="9372600" y="3675888"/>
            <a:ext cx="2148840" cy="5943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 human reviews and merges</a:t>
            </a:r>
            <a:endParaRPr lang="en-US" sz="1400" dirty="0"/>
          </a:p>
        </p:txBody>
      </p:sp>
      <p:sp>
        <p:nvSpPr>
          <p:cNvPr id="27" name="Shape 21"/>
          <p:cNvSpPr/>
          <p:nvPr/>
        </p:nvSpPr>
        <p:spPr>
          <a:xfrm>
            <a:off x="548640" y="4517136"/>
            <a:ext cx="2697480" cy="1353312"/>
          </a:xfrm>
          <a:prstGeom prst="roundRect">
            <a:avLst>
              <a:gd name="adj" fmla="val 6757"/>
            </a:avLst>
          </a:prstGeom>
          <a:solidFill>
            <a:srgbClr val="F1F4F9"/>
          </a:solidFill>
          <a:ln w="12700">
            <a:solidFill>
              <a:srgbClr val="F1F4F9"/>
            </a:solidFill>
            <a:prstDash val="solid"/>
          </a:ln>
        </p:spPr>
      </p:sp>
      <p:sp>
        <p:nvSpPr>
          <p:cNvPr id="28" name="Shape 22"/>
          <p:cNvSpPr/>
          <p:nvPr/>
        </p:nvSpPr>
        <p:spPr>
          <a:xfrm>
            <a:off x="731520" y="4681728"/>
            <a:ext cx="457200" cy="457200"/>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841248" y="4791456"/>
            <a:ext cx="237744" cy="237744"/>
          </a:xfrm>
          <a:prstGeom prst="rect">
            <a:avLst/>
          </a:prstGeom>
        </p:spPr>
      </p:pic>
      <p:sp>
        <p:nvSpPr>
          <p:cNvPr id="30" name="Text 23"/>
          <p:cNvSpPr txBox="1"/>
          <p:nvPr/>
        </p:nvSpPr>
        <p:spPr>
          <a:xfrm>
            <a:off x="1298448" y="4681728"/>
            <a:ext cx="1874520" cy="457200"/>
          </a:xfrm>
          <a:prstGeom prst="rect">
            <a:avLst/>
          </a:prstGeom>
          <a:noFill/>
          <a:ln/>
        </p:spPr>
        <p:txBody>
          <a:bodyPr wrap="square" lIns="0" tIns="0" rIns="0" bIns="0" rtlCol="0" anchor="ctr"/>
          <a:lstStyle/>
          <a:p>
            <a:pPr indent="0" marL="0">
              <a:buNone/>
            </a:pPr>
            <a:r>
              <a:rPr lang="en-US" sz="1500" b="1" dirty="0">
                <a:solidFill>
                  <a:srgbClr val="14213D"/>
                </a:solidFill>
                <a:latin typeface="Arial" pitchFamily="34" charset="0"/>
                <a:ea typeface="Arial" pitchFamily="34" charset="-122"/>
                <a:cs typeface="Arial" pitchFamily="34" charset="-120"/>
              </a:rPr>
              <a:t>Steering diff</a:t>
            </a:r>
            <a:endParaRPr lang="en-US" sz="1500" dirty="0"/>
          </a:p>
        </p:txBody>
      </p:sp>
      <p:sp>
        <p:nvSpPr>
          <p:cNvPr id="31" name="Text 24"/>
          <p:cNvSpPr txBox="1"/>
          <p:nvPr/>
        </p:nvSpPr>
        <p:spPr>
          <a:xfrm>
            <a:off x="731520" y="5248656"/>
            <a:ext cx="2377440" cy="548640"/>
          </a:xfrm>
          <a:prstGeom prst="rect">
            <a:avLst/>
          </a:prstGeom>
          <a:noFill/>
          <a:ln/>
        </p:spPr>
        <p:txBody>
          <a:bodyPr wrap="square" lIns="0" tIns="0" rIns="0" bIns="0" rtlCol="0" anchor="t"/>
          <a:lstStyle/>
          <a:p>
            <a:pPr indent="0" marL="0">
              <a:buNone/>
            </a:pPr>
            <a:r>
              <a:rPr lang="en-US" sz="1100" dirty="0">
                <a:solidFill>
                  <a:srgbClr val="4A5468"/>
                </a:solidFill>
                <a:latin typeface="Arial" pitchFamily="34" charset="0"/>
                <a:ea typeface="Arial" pitchFamily="34" charset="-122"/>
                <a:cs typeface="Arial" pitchFamily="34" charset="-120"/>
              </a:rPr>
              <a:t>two-way door</a:t>
            </a:r>
            <a:endParaRPr lang="en-US" sz="1100" dirty="0"/>
          </a:p>
          <a:p>
            <a:pPr indent="0" marL="0">
              <a:buNone/>
            </a:pPr>
            <a:r>
              <a:rPr lang="en-US" sz="1100" dirty="0">
                <a:solidFill>
                  <a:srgbClr val="4A5468"/>
                </a:solidFill>
                <a:latin typeface="Arial" pitchFamily="34" charset="0"/>
                <a:ea typeface="Arial" pitchFamily="34" charset="-122"/>
                <a:cs typeface="Arial" pitchFamily="34" charset="-120"/>
              </a:rPr>
              <a:t>every agent session</a:t>
            </a:r>
            <a:endParaRPr lang="en-US" sz="1100" dirty="0"/>
          </a:p>
        </p:txBody>
      </p:sp>
      <p:sp>
        <p:nvSpPr>
          <p:cNvPr id="32" name="Text 25"/>
          <p:cNvSpPr txBox="1"/>
          <p:nvPr/>
        </p:nvSpPr>
        <p:spPr>
          <a:xfrm>
            <a:off x="3429000" y="4590288"/>
            <a:ext cx="5212080" cy="1207008"/>
          </a:xfrm>
          <a:prstGeom prst="rect">
            <a:avLst/>
          </a:prstGeom>
          <a:noFill/>
          <a:ln/>
        </p:spPr>
        <p:txBody>
          <a:bodyPr wrap="square" lIns="0" tIns="0" rIns="0" bIns="0" rtlCol="0" anchor="ctr"/>
          <a:lstStyle/>
          <a:p>
            <a:pPr indent="0" marL="0">
              <a:buNone/>
            </a:pPr>
            <a:r>
              <a:rPr lang="en-US" sz="1200" dirty="0">
                <a:solidFill>
                  <a:srgbClr val="4A5468"/>
                </a:solidFill>
                <a:latin typeface="Arial" pitchFamily="34" charset="0"/>
                <a:ea typeface="Arial" pitchFamily="34" charset="-122"/>
                <a:cs typeface="Arial" pitchFamily="34" charset="-120"/>
              </a:rPr>
              <a:t>AGENTS.md, CODING_STANDARDS.md, skills, hooks, settings.</a:t>
            </a:r>
            <a:endParaRPr lang="en-US" sz="1200" dirty="0"/>
          </a:p>
          <a:p>
            <a:pPr indent="0" marL="0">
              <a:spcBef>
                <a:spcPts val="600"/>
              </a:spcBef>
              <a:buNone/>
            </a:pPr>
            <a:r>
              <a:rPr lang="en-US" sz="1200" b="1" dirty="0">
                <a:solidFill>
                  <a:srgbClr val="14213D"/>
                </a:solidFill>
                <a:latin typeface="Arial" pitchFamily="34" charset="0"/>
                <a:ea typeface="Arial" pitchFamily="34" charset="-122"/>
                <a:cs typeface="Arial" pitchFamily="34" charset="-120"/>
              </a:rPr>
              <a:t>A hook blocks gh pr merge and every gh api merge. CODEOWNERS and a ruleset back it where the plan allows.</a:t>
            </a:r>
            <a:endParaRPr lang="en-US" sz="1200" dirty="0"/>
          </a:p>
        </p:txBody>
      </p:sp>
      <p:sp>
        <p:nvSpPr>
          <p:cNvPr id="33" name="Shape 26"/>
          <p:cNvSpPr/>
          <p:nvPr/>
        </p:nvSpPr>
        <p:spPr>
          <a:xfrm>
            <a:off x="8732520" y="5193792"/>
            <a:ext cx="411480" cy="0"/>
          </a:xfrm>
          <a:prstGeom prst="line">
            <a:avLst/>
          </a:prstGeom>
          <a:noFill/>
          <a:ln w="25400">
            <a:solidFill>
              <a:srgbClr val="14213D"/>
            </a:solidFill>
            <a:prstDash val="solid"/>
            <a:tailEnd type="triangle"/>
          </a:ln>
        </p:spPr>
      </p:sp>
      <p:sp>
        <p:nvSpPr>
          <p:cNvPr id="34" name="Shape 27"/>
          <p:cNvSpPr/>
          <p:nvPr/>
        </p:nvSpPr>
        <p:spPr>
          <a:xfrm>
            <a:off x="9189720" y="4517136"/>
            <a:ext cx="2450592" cy="1353312"/>
          </a:xfrm>
          <a:prstGeom prst="roundRect">
            <a:avLst>
              <a:gd name="adj" fmla="val 6757"/>
            </a:avLst>
          </a:prstGeom>
          <a:solidFill>
            <a:srgbClr val="14213D"/>
          </a:solidFill>
          <a:ln w="12700">
            <a:solidFill>
              <a:srgbClr val="14213D"/>
            </a:solidFill>
            <a:prstDash val="solid"/>
          </a:ln>
        </p:spPr>
      </p:sp>
      <p:pic>
        <p:nvPicPr>
          <p:cNvPr id="35" name="Image 5" descr="preencoded.png">    </p:cNvPr>
          <p:cNvPicPr>
            <a:picLocks noChangeAspect="1"/>
          </p:cNvPicPr>
          <p:nvPr/>
        </p:nvPicPr>
        <p:blipFill>
          <a:blip r:embed="rId6"/>
          <a:stretch>
            <a:fillRect/>
          </a:stretch>
        </p:blipFill>
        <p:spPr>
          <a:xfrm>
            <a:off x="9372600" y="4700016"/>
            <a:ext cx="384048" cy="384048"/>
          </a:xfrm>
          <a:prstGeom prst="rect">
            <a:avLst/>
          </a:prstGeom>
        </p:spPr>
      </p:pic>
      <p:sp>
        <p:nvSpPr>
          <p:cNvPr id="36" name="Text 28"/>
          <p:cNvSpPr txBox="1"/>
          <p:nvPr/>
        </p:nvSpPr>
        <p:spPr>
          <a:xfrm>
            <a:off x="9372600" y="5157216"/>
            <a:ext cx="2148840" cy="5943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Only a human merges</a:t>
            </a:r>
            <a:endParaRPr lang="en-US" sz="1400" dirty="0"/>
          </a:p>
        </p:txBody>
      </p:sp>
      <p:sp>
        <p:nvSpPr>
          <p:cNvPr id="37" name="Text 29"/>
          <p:cNvSpPr txBox="1"/>
          <p:nvPr/>
        </p:nvSpPr>
        <p:spPr>
          <a:xfrm>
            <a:off x="548640" y="6035040"/>
            <a:ext cx="11094415" cy="329184"/>
          </a:xfrm>
          <a:prstGeom prst="rect">
            <a:avLst/>
          </a:prstGeom>
          <a:noFill/>
          <a:ln/>
        </p:spPr>
        <p:txBody>
          <a:bodyPr wrap="square" lIns="0" tIns="0" rIns="0" bIns="0" rtlCol="0" anchor="ctr"/>
          <a:lstStyle/>
          <a:p>
            <a:pPr indent="0" marL="0">
              <a:buNone/>
            </a:pPr>
            <a:r>
              <a:rPr lang="en-US" sz="1250" b="1" dirty="0">
                <a:solidFill>
                  <a:srgbClr val="14213D"/>
                </a:solidFill>
                <a:latin typeface="Arial" pitchFamily="34" charset="0"/>
                <a:ea typeface="Arial" pitchFamily="34" charset="-122"/>
                <a:cs typeface="Arial" pitchFamily="34" charset="-120"/>
              </a:rPr>
              <a:t>A steering diff is easy to revert, but its blast radius is the widest: it changes every later agent session.</a:t>
            </a:r>
            <a:endParaRPr lang="en-US" sz="1250" dirty="0"/>
          </a:p>
        </p:txBody>
      </p:sp>
      <p:sp>
        <p:nvSpPr>
          <p:cNvPr id="38" name="Text 30"/>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main (2026-09-27), plugins/agent-ready</a:t>
            </a:r>
            <a:endParaRPr lang="en-US" sz="900" dirty="0"/>
          </a:p>
        </p:txBody>
      </p:sp>
      <p:sp>
        <p:nvSpPr>
          <p:cNvPr id="39" name="Text 31"/>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9184"/>
            <a:ext cx="2421331" cy="274320"/>
          </a:xfrm>
          <a:prstGeom prst="roundRect">
            <a:avLst>
              <a:gd name="adj" fmla="val 50000"/>
            </a:avLst>
          </a:prstGeom>
          <a:solidFill>
            <a:srgbClr val="7C4DDB"/>
          </a:solidFill>
          <a:ln>
            <a:solidFill>
              <a:srgbClr val="7C4DDB"/>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AGENT-READY · THE LOOP</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The rules agents follow get reviewed like code</a:t>
            </a:r>
            <a:endParaRPr lang="en-US" sz="2800" dirty="0"/>
          </a:p>
        </p:txBody>
      </p:sp>
      <p:sp>
        <p:nvSpPr>
          <p:cNvPr id="4" name="Shape 2"/>
          <p:cNvSpPr/>
          <p:nvPr/>
        </p:nvSpPr>
        <p:spPr>
          <a:xfrm>
            <a:off x="548640" y="1572768"/>
            <a:ext cx="5257800" cy="3977640"/>
          </a:xfrm>
          <a:prstGeom prst="roundRect">
            <a:avLst>
              <a:gd name="adj" fmla="val 2299"/>
            </a:avLst>
          </a:prstGeom>
          <a:solidFill>
            <a:srgbClr val="14213D"/>
          </a:solidFill>
          <a:ln w="12700">
            <a:solidFill>
              <a:srgbClr val="14213D"/>
            </a:solidFill>
            <a:prstDash val="solid"/>
          </a:ln>
        </p:spPr>
      </p:sp>
      <p:sp>
        <p:nvSpPr>
          <p:cNvPr id="5" name="Text 3"/>
          <p:cNvSpPr txBox="1"/>
          <p:nvPr/>
        </p:nvSpPr>
        <p:spPr>
          <a:xfrm>
            <a:off x="822960" y="1737360"/>
            <a:ext cx="457200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Steering files</a:t>
            </a:r>
            <a:endParaRPr lang="en-US" sz="1600" dirty="0"/>
          </a:p>
        </p:txBody>
      </p:sp>
      <p:sp>
        <p:nvSpPr>
          <p:cNvPr id="6" name="Text 4"/>
          <p:cNvSpPr/>
          <p:nvPr/>
        </p:nvSpPr>
        <p:spPr>
          <a:xfrm>
            <a:off x="822960" y="22128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AGENTS.md</a:t>
            </a:r>
            <a:endParaRPr lang="en-US" sz="1100" dirty="0"/>
          </a:p>
        </p:txBody>
      </p:sp>
      <p:sp>
        <p:nvSpPr>
          <p:cNvPr id="7" name="Text 5"/>
          <p:cNvSpPr/>
          <p:nvPr/>
        </p:nvSpPr>
        <p:spPr>
          <a:xfrm>
            <a:off x="3218688" y="22128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CLAUDE.md</a:t>
            </a:r>
            <a:endParaRPr lang="en-US" sz="1100" dirty="0"/>
          </a:p>
        </p:txBody>
      </p:sp>
      <p:sp>
        <p:nvSpPr>
          <p:cNvPr id="8" name="Text 6"/>
          <p:cNvSpPr/>
          <p:nvPr/>
        </p:nvSpPr>
        <p:spPr>
          <a:xfrm>
            <a:off x="822960" y="26700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950" b="1" dirty="0">
                <a:solidFill>
                  <a:srgbClr val="E6EAF2"/>
                </a:solidFill>
                <a:latin typeface="Courier New" pitchFamily="34" charset="0"/>
                <a:ea typeface="Courier New" pitchFamily="34" charset="-122"/>
                <a:cs typeface="Courier New" pitchFamily="34" charset="-120"/>
              </a:rPr>
              <a:t>docs/CODING_STANDARDS.md</a:t>
            </a:r>
            <a:endParaRPr lang="en-US" sz="950" dirty="0"/>
          </a:p>
        </p:txBody>
      </p:sp>
      <p:sp>
        <p:nvSpPr>
          <p:cNvPr id="9" name="Text 7"/>
          <p:cNvSpPr/>
          <p:nvPr/>
        </p:nvSpPr>
        <p:spPr>
          <a:xfrm>
            <a:off x="3218688" y="26700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docs/agents/</a:t>
            </a:r>
            <a:endParaRPr lang="en-US" sz="1100" dirty="0"/>
          </a:p>
        </p:txBody>
      </p:sp>
      <p:sp>
        <p:nvSpPr>
          <p:cNvPr id="10" name="Text 8"/>
          <p:cNvSpPr/>
          <p:nvPr/>
        </p:nvSpPr>
        <p:spPr>
          <a:xfrm>
            <a:off x="822960" y="31272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.agents/skills/</a:t>
            </a:r>
            <a:endParaRPr lang="en-US" sz="1100" dirty="0"/>
          </a:p>
        </p:txBody>
      </p:sp>
      <p:sp>
        <p:nvSpPr>
          <p:cNvPr id="11" name="Text 9"/>
          <p:cNvSpPr/>
          <p:nvPr/>
        </p:nvSpPr>
        <p:spPr>
          <a:xfrm>
            <a:off x="3218688" y="31272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.claude/skills</a:t>
            </a:r>
            <a:endParaRPr lang="en-US" sz="1100" dirty="0"/>
          </a:p>
        </p:txBody>
      </p:sp>
      <p:sp>
        <p:nvSpPr>
          <p:cNvPr id="12" name="Text 10"/>
          <p:cNvSpPr/>
          <p:nvPr/>
        </p:nvSpPr>
        <p:spPr>
          <a:xfrm>
            <a:off x="822960" y="35844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.agents/hooks/</a:t>
            </a:r>
            <a:endParaRPr lang="en-US" sz="1100" dirty="0"/>
          </a:p>
        </p:txBody>
      </p:sp>
      <p:sp>
        <p:nvSpPr>
          <p:cNvPr id="13" name="Text 11"/>
          <p:cNvSpPr/>
          <p:nvPr/>
        </p:nvSpPr>
        <p:spPr>
          <a:xfrm>
            <a:off x="3218688" y="35844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.claude/settings.json</a:t>
            </a:r>
            <a:endParaRPr lang="en-US" sz="1100" dirty="0"/>
          </a:p>
        </p:txBody>
      </p:sp>
      <p:sp>
        <p:nvSpPr>
          <p:cNvPr id="14" name="Text 12"/>
          <p:cNvSpPr/>
          <p:nvPr/>
        </p:nvSpPr>
        <p:spPr>
          <a:xfrm>
            <a:off x="822960" y="4041648"/>
            <a:ext cx="2286000" cy="365760"/>
          </a:xfrm>
          <a:prstGeom prst="roundRect">
            <a:avLst>
              <a:gd name="adj" fmla="val 12500"/>
            </a:avLst>
          </a:prstGeom>
          <a:solidFill>
            <a:srgbClr val="22305A"/>
          </a:solidFill>
          <a:ln>
            <a:solidFill>
              <a:srgbClr val="22305A"/>
            </a:solidFill>
          </a:ln>
        </p:spPr>
        <p:txBody>
          <a:bodyPr wrap="square" lIns="25400" tIns="25400" rIns="25400" bIns="25400" rtlCol="0" anchor="ctr"/>
          <a:lstStyle/>
          <a:p>
            <a:pPr algn="ctr" indent="0" marL="0">
              <a:buNone/>
            </a:pPr>
            <a:r>
              <a:rPr lang="en-US" sz="1100" b="1" dirty="0">
                <a:solidFill>
                  <a:srgbClr val="E6EAF2"/>
                </a:solidFill>
                <a:latin typeface="Courier New" pitchFamily="34" charset="0"/>
                <a:ea typeface="Courier New" pitchFamily="34" charset="-122"/>
                <a:cs typeface="Courier New" pitchFamily="34" charset="-120"/>
              </a:rPr>
              <a:t>.github/CODEOWNERS</a:t>
            </a:r>
            <a:endParaRPr lang="en-US" sz="1100" dirty="0"/>
          </a:p>
        </p:txBody>
      </p:sp>
      <p:sp>
        <p:nvSpPr>
          <p:cNvPr id="15" name="Text 13"/>
          <p:cNvSpPr txBox="1"/>
          <p:nvPr/>
        </p:nvSpPr>
        <p:spPr>
          <a:xfrm>
            <a:off x="822960" y="4526280"/>
            <a:ext cx="4709160" cy="914400"/>
          </a:xfrm>
          <a:prstGeom prst="rect">
            <a:avLst/>
          </a:prstGeom>
          <a:noFill/>
          <a:ln/>
        </p:spPr>
        <p:txBody>
          <a:bodyPr wrap="square" lIns="0" tIns="0" rIns="0" bIns="0" rtlCol="0" anchor="t"/>
          <a:lstStyle/>
          <a:p>
            <a:pPr indent="0" marL="0">
              <a:buNone/>
            </a:pPr>
            <a:r>
              <a:rPr lang="en-US" sz="1200" dirty="0">
                <a:solidFill>
                  <a:srgbClr val="C9D2E3"/>
                </a:solidFill>
                <a:latin typeface="Arial" pitchFamily="34" charset="0"/>
                <a:ea typeface="Arial" pitchFamily="34" charset="-122"/>
                <a:cs typeface="Arial" pitchFamily="34" charset="-120"/>
              </a:rPr>
              <a:t>A diff that touches one is a steering diff. The agent stops, says what the diff decides, and leaves the merge to a human. Any human merge click is the approval.</a:t>
            </a:r>
            <a:endParaRPr lang="en-US" sz="1200" dirty="0"/>
          </a:p>
        </p:txBody>
      </p:sp>
      <p:sp>
        <p:nvSpPr>
          <p:cNvPr id="16" name="Text 14"/>
          <p:cNvSpPr txBox="1"/>
          <p:nvPr/>
        </p:nvSpPr>
        <p:spPr>
          <a:xfrm>
            <a:off x="6126480" y="1572768"/>
            <a:ext cx="5486400" cy="274320"/>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HOW FINDINGS FEED BACK TODAY</a:t>
            </a:r>
            <a:endParaRPr lang="en-US" sz="1000" dirty="0"/>
          </a:p>
        </p:txBody>
      </p:sp>
      <p:sp>
        <p:nvSpPr>
          <p:cNvPr id="17" name="Shape 15"/>
          <p:cNvSpPr/>
          <p:nvPr/>
        </p:nvSpPr>
        <p:spPr>
          <a:xfrm>
            <a:off x="6126480" y="2011680"/>
            <a:ext cx="420624" cy="420624"/>
          </a:xfrm>
          <a:prstGeom prst="ellipse">
            <a:avLst/>
          </a:prstGeom>
          <a:solidFill>
            <a:srgbClr val="4F5BD5"/>
          </a:solidFill>
          <a:ln w="12700">
            <a:solidFill>
              <a:srgbClr val="4F5BD5"/>
            </a:solidFill>
            <a:prstDash val="solid"/>
          </a:ln>
        </p:spPr>
      </p:sp>
      <p:pic>
        <p:nvPicPr>
          <p:cNvPr id="18" name="Image 0" descr="preencoded.png">    </p:cNvPr>
          <p:cNvPicPr>
            <a:picLocks noChangeAspect="1"/>
          </p:cNvPicPr>
          <p:nvPr/>
        </p:nvPicPr>
        <p:blipFill>
          <a:blip r:embed="rId1"/>
          <a:stretch>
            <a:fillRect/>
          </a:stretch>
        </p:blipFill>
        <p:spPr>
          <a:xfrm>
            <a:off x="6227430" y="2112630"/>
            <a:ext cx="218724" cy="218724"/>
          </a:xfrm>
          <a:prstGeom prst="rect">
            <a:avLst/>
          </a:prstGeom>
        </p:spPr>
      </p:pic>
      <p:sp>
        <p:nvSpPr>
          <p:cNvPr id="19" name="Text 16"/>
          <p:cNvSpPr txBox="1"/>
          <p:nvPr/>
        </p:nvSpPr>
        <p:spPr>
          <a:xfrm>
            <a:off x="6693408" y="1920240"/>
            <a:ext cx="4937760" cy="64008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Setup asks which mistakes agents make here. Each answer becomes a review rule.</a:t>
            </a:r>
            <a:endParaRPr lang="en-US" sz="1250" dirty="0"/>
          </a:p>
        </p:txBody>
      </p:sp>
      <p:sp>
        <p:nvSpPr>
          <p:cNvPr id="20" name="Shape 17"/>
          <p:cNvSpPr/>
          <p:nvPr/>
        </p:nvSpPr>
        <p:spPr>
          <a:xfrm>
            <a:off x="6126480" y="2779776"/>
            <a:ext cx="420624" cy="420624"/>
          </a:xfrm>
          <a:prstGeom prst="ellipse">
            <a:avLst/>
          </a:prstGeom>
          <a:solidFill>
            <a:srgbClr val="4F5BD5"/>
          </a:solidFill>
          <a:ln w="12700">
            <a:solidFill>
              <a:srgbClr val="4F5BD5"/>
            </a:solidFill>
            <a:prstDash val="solid"/>
          </a:ln>
        </p:spPr>
      </p:sp>
      <p:pic>
        <p:nvPicPr>
          <p:cNvPr id="21" name="Image 1" descr="preencoded.png">    </p:cNvPr>
          <p:cNvPicPr>
            <a:picLocks noChangeAspect="1"/>
          </p:cNvPicPr>
          <p:nvPr/>
        </p:nvPicPr>
        <p:blipFill>
          <a:blip r:embed="rId2"/>
          <a:stretch>
            <a:fillRect/>
          </a:stretch>
        </p:blipFill>
        <p:spPr>
          <a:xfrm>
            <a:off x="6227430" y="2880726"/>
            <a:ext cx="218724" cy="218724"/>
          </a:xfrm>
          <a:prstGeom prst="rect">
            <a:avLst/>
          </a:prstGeom>
        </p:spPr>
      </p:pic>
      <p:sp>
        <p:nvSpPr>
          <p:cNvPr id="22" name="Text 18"/>
          <p:cNvSpPr txBox="1"/>
          <p:nvPr/>
        </p:nvSpPr>
        <p:spPr>
          <a:xfrm>
            <a:off x="6693408" y="2688336"/>
            <a:ext cx="4937760" cy="64008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The comment pass queues shared facts. Every 10 files, a human-merged PR adds them to CODING_STANDARDS.md.</a:t>
            </a:r>
            <a:endParaRPr lang="en-US" sz="1250" dirty="0"/>
          </a:p>
        </p:txBody>
      </p:sp>
      <p:sp>
        <p:nvSpPr>
          <p:cNvPr id="23" name="Shape 19"/>
          <p:cNvSpPr/>
          <p:nvPr/>
        </p:nvSpPr>
        <p:spPr>
          <a:xfrm>
            <a:off x="6126480" y="3547872"/>
            <a:ext cx="420624" cy="420624"/>
          </a:xfrm>
          <a:prstGeom prst="ellipse">
            <a:avLst/>
          </a:prstGeom>
          <a:solidFill>
            <a:srgbClr val="7C4DDB"/>
          </a:solidFill>
          <a:ln w="12700">
            <a:solidFill>
              <a:srgbClr val="7C4DDB"/>
            </a:solidFill>
            <a:prstDash val="solid"/>
          </a:ln>
        </p:spPr>
      </p:sp>
      <p:pic>
        <p:nvPicPr>
          <p:cNvPr id="24" name="Image 2" descr="preencoded.png">    </p:cNvPr>
          <p:cNvPicPr>
            <a:picLocks noChangeAspect="1"/>
          </p:cNvPicPr>
          <p:nvPr/>
        </p:nvPicPr>
        <p:blipFill>
          <a:blip r:embed="rId3"/>
          <a:stretch>
            <a:fillRect/>
          </a:stretch>
        </p:blipFill>
        <p:spPr>
          <a:xfrm>
            <a:off x="6227430" y="3648822"/>
            <a:ext cx="218724" cy="218724"/>
          </a:xfrm>
          <a:prstGeom prst="rect">
            <a:avLst/>
          </a:prstGeom>
        </p:spPr>
      </p:pic>
      <p:sp>
        <p:nvSpPr>
          <p:cNvPr id="25" name="Text 20"/>
          <p:cNvSpPr txBox="1"/>
          <p:nvPr/>
        </p:nvSpPr>
        <p:spPr>
          <a:xfrm>
            <a:off x="6693408" y="3456432"/>
            <a:ext cx="4937760" cy="64008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/grill-with-docs adds each new domain word to CONTEXT.md.</a:t>
            </a:r>
            <a:endParaRPr lang="en-US" sz="1250" dirty="0"/>
          </a:p>
        </p:txBody>
      </p:sp>
      <p:sp>
        <p:nvSpPr>
          <p:cNvPr id="26" name="Shape 21"/>
          <p:cNvSpPr/>
          <p:nvPr/>
        </p:nvSpPr>
        <p:spPr>
          <a:xfrm>
            <a:off x="6126480" y="4315968"/>
            <a:ext cx="420624" cy="420624"/>
          </a:xfrm>
          <a:prstGeom prst="ellipse">
            <a:avLst/>
          </a:prstGeom>
          <a:solidFill>
            <a:srgbClr val="4A5468"/>
          </a:solidFill>
          <a:ln w="12700">
            <a:solidFill>
              <a:srgbClr val="4A5468"/>
            </a:solidFill>
            <a:prstDash val="solid"/>
          </a:ln>
        </p:spPr>
      </p:sp>
      <p:pic>
        <p:nvPicPr>
          <p:cNvPr id="27" name="Image 3" descr="preencoded.png">    </p:cNvPr>
          <p:cNvPicPr>
            <a:picLocks noChangeAspect="1"/>
          </p:cNvPicPr>
          <p:nvPr/>
        </p:nvPicPr>
        <p:blipFill>
          <a:blip r:embed="rId4"/>
          <a:stretch>
            <a:fillRect/>
          </a:stretch>
        </p:blipFill>
        <p:spPr>
          <a:xfrm>
            <a:off x="6227430" y="4416918"/>
            <a:ext cx="218724" cy="218724"/>
          </a:xfrm>
          <a:prstGeom prst="rect">
            <a:avLst/>
          </a:prstGeom>
        </p:spPr>
      </p:pic>
      <p:sp>
        <p:nvSpPr>
          <p:cNvPr id="28" name="Text 22"/>
          <p:cNvSpPr txBox="1"/>
          <p:nvPr/>
        </p:nvSpPr>
        <p:spPr>
          <a:xfrm>
            <a:off x="6693408" y="4224528"/>
            <a:ext cx="4937760" cy="640080"/>
          </a:xfrm>
          <a:prstGeom prst="rect">
            <a:avLst/>
          </a:prstGeom>
          <a:noFill/>
          <a:ln/>
        </p:spPr>
        <p:txBody>
          <a:bodyPr wrap="square" lIns="0" tIns="0" rIns="0" bIns="0" rtlCol="0" anchor="ctr"/>
          <a:lstStyle/>
          <a:p>
            <a:pPr indent="0" marL="0">
              <a:buNone/>
            </a:pPr>
            <a:r>
              <a:rPr lang="en-US" sz="1250" dirty="0">
                <a:solidFill>
                  <a:srgbClr val="14213D"/>
                </a:solidFill>
                <a:latin typeface="Arial" pitchFamily="34" charset="0"/>
                <a:ea typeface="Arial" pitchFamily="34" charset="-122"/>
                <a:cs typeface="Arial" pitchFamily="34" charset="-120"/>
              </a:rPr>
              <a:t>A finding the team keeps goes into .agents/deviations.md, so the scan stops raising it.</a:t>
            </a:r>
            <a:endParaRPr lang="en-US" sz="1250" dirty="0"/>
          </a:p>
        </p:txBody>
      </p:sp>
      <p:sp>
        <p:nvSpPr>
          <p:cNvPr id="29" name="Shape 23"/>
          <p:cNvSpPr/>
          <p:nvPr/>
        </p:nvSpPr>
        <p:spPr>
          <a:xfrm>
            <a:off x="6126480" y="5029200"/>
            <a:ext cx="5513832" cy="521208"/>
          </a:xfrm>
          <a:prstGeom prst="roundRect">
            <a:avLst>
              <a:gd name="adj" fmla="val 17544"/>
            </a:avLst>
          </a:prstGeom>
          <a:solidFill>
            <a:srgbClr val="EEE7FE"/>
          </a:solidFill>
          <a:ln w="12700">
            <a:solidFill>
              <a:srgbClr val="EEE7FE"/>
            </a:solidFill>
            <a:prstDash val="solid"/>
          </a:ln>
        </p:spPr>
      </p:sp>
      <p:sp>
        <p:nvSpPr>
          <p:cNvPr id="30" name="Text 24"/>
          <p:cNvSpPr txBox="1"/>
          <p:nvPr/>
        </p:nvSpPr>
        <p:spPr>
          <a:xfrm>
            <a:off x="6309360" y="5029200"/>
            <a:ext cx="5212080" cy="521208"/>
          </a:xfrm>
          <a:prstGeom prst="rect">
            <a:avLst/>
          </a:prstGeom>
          <a:noFill/>
          <a:ln/>
        </p:spPr>
        <p:txBody>
          <a:bodyPr wrap="square" lIns="0" tIns="0" rIns="0" bIns="0" rtlCol="0" anchor="ctr"/>
          <a:lstStyle/>
          <a:p>
            <a:pPr indent="0" marL="0">
              <a:buNone/>
            </a:pPr>
            <a:r>
              <a:rPr lang="en-US" sz="1250" b="1" dirty="0">
                <a:solidFill>
                  <a:srgbClr val="7C4DDB"/>
                </a:solidFill>
                <a:latin typeface="Arial" pitchFamily="34" charset="0"/>
                <a:ea typeface="Arial" pitchFamily="34" charset="-122"/>
                <a:cs typeface="Arial" pitchFamily="34" charset="-120"/>
              </a:rPr>
              <a:t>Next: </a:t>
            </a:r>
            <a:pPr indent="0" marL="0">
              <a:buNone/>
            </a:pPr>
            <a:r>
              <a:rPr lang="en-US" sz="1250" dirty="0">
                <a:solidFill>
                  <a:srgbClr val="14213D"/>
                </a:solidFill>
                <a:latin typeface="Arial" pitchFamily="34" charset="0"/>
                <a:ea typeface="Arial" pitchFamily="34" charset="-122"/>
                <a:cs typeface="Arial" pitchFamily="34" charset="-120"/>
              </a:rPr>
              <a:t>Pocock's /retro turns review findings into checks and rules.</a:t>
            </a:r>
            <a:endParaRPr lang="en-US" sz="1250" dirty="0"/>
          </a:p>
        </p:txBody>
      </p:sp>
      <p:sp>
        <p:nvSpPr>
          <p:cNvPr id="31" name="Shape 25"/>
          <p:cNvSpPr/>
          <p:nvPr/>
        </p:nvSpPr>
        <p:spPr>
          <a:xfrm>
            <a:off x="548640" y="5715000"/>
            <a:ext cx="11094415" cy="566928"/>
          </a:xfrm>
          <a:prstGeom prst="roundRect">
            <a:avLst>
              <a:gd name="adj" fmla="val 16129"/>
            </a:avLst>
          </a:prstGeom>
          <a:solidFill>
            <a:srgbClr val="F1F4F9"/>
          </a:solidFill>
          <a:ln w="12700">
            <a:solidFill>
              <a:srgbClr val="F1F4F9"/>
            </a:solidFill>
            <a:prstDash val="solid"/>
          </a:ln>
        </p:spPr>
      </p:sp>
      <p:pic>
        <p:nvPicPr>
          <p:cNvPr id="32" name="Image 4" descr="preencoded.png">    </p:cNvPr>
          <p:cNvPicPr>
            <a:picLocks noChangeAspect="1"/>
          </p:cNvPicPr>
          <p:nvPr/>
        </p:nvPicPr>
        <p:blipFill>
          <a:blip r:embed="rId5"/>
          <a:stretch>
            <a:fillRect/>
          </a:stretch>
        </p:blipFill>
        <p:spPr>
          <a:xfrm>
            <a:off x="731520" y="5843016"/>
            <a:ext cx="310896" cy="310896"/>
          </a:xfrm>
          <a:prstGeom prst="rect">
            <a:avLst/>
          </a:prstGeom>
        </p:spPr>
      </p:pic>
      <p:sp>
        <p:nvSpPr>
          <p:cNvPr id="33" name="Text 26"/>
          <p:cNvSpPr txBox="1"/>
          <p:nvPr/>
        </p:nvSpPr>
        <p:spPr>
          <a:xfrm>
            <a:off x="1188720" y="5715000"/>
            <a:ext cx="10332720" cy="566928"/>
          </a:xfrm>
          <a:prstGeom prst="rect">
            <a:avLst/>
          </a:prstGeom>
          <a:noFill/>
          <a:ln/>
        </p:spPr>
        <p:txBody>
          <a:bodyPr wrap="square" lIns="0" tIns="0" rIns="0" bIns="0" rtlCol="0" anchor="ctr"/>
          <a:lstStyle/>
          <a:p>
            <a:pPr indent="0" marL="0">
              <a:buNone/>
            </a:pPr>
            <a:r>
              <a:rPr lang="en-US" sz="1250" dirty="0">
                <a:solidFill>
                  <a:srgbClr val="4A5468"/>
                </a:solidFill>
                <a:latin typeface="Arial" pitchFamily="34" charset="0"/>
                <a:ea typeface="Arial" pitchFamily="34" charset="-122"/>
                <a:cs typeface="Arial" pitchFamily="34" charset="-120"/>
              </a:rPr>
              <a:t>Superpowers: the rules live in each person's plugin cache. An update changes agent behaviour in every repo, with no diff to review.</a:t>
            </a:r>
            <a:endParaRPr lang="en-US" sz="1250" dirty="0"/>
          </a:p>
        </p:txBody>
      </p:sp>
      <p:sp>
        <p:nvSpPr>
          <p:cNvPr id="34" name="Text 27"/>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main (2026-09-27), plugins/agent-ready</a:t>
            </a:r>
            <a:endParaRPr lang="en-US" sz="900" dirty="0"/>
          </a:p>
        </p:txBody>
      </p:sp>
      <p:sp>
        <p:nvSpPr>
          <p:cNvPr id="35" name="Text 28"/>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9184"/>
            <a:ext cx="1089965"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ADOPTION</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Adopt it in steps. Each tier builds on Basic.</a:t>
            </a:r>
            <a:endParaRPr lang="en-US" sz="2800" dirty="0"/>
          </a:p>
        </p:txBody>
      </p:sp>
      <p:sp>
        <p:nvSpPr>
          <p:cNvPr id="4" name="Shape 2"/>
          <p:cNvSpPr/>
          <p:nvPr/>
        </p:nvSpPr>
        <p:spPr>
          <a:xfrm>
            <a:off x="548640" y="1572768"/>
            <a:ext cx="2697480" cy="2148840"/>
          </a:xfrm>
          <a:prstGeom prst="roundRect">
            <a:avLst>
              <a:gd name="adj" fmla="val 4255"/>
            </a:avLst>
          </a:prstGeom>
          <a:solidFill>
            <a:srgbClr val="14213D"/>
          </a:solidFill>
          <a:ln w="12700">
            <a:solidFill>
              <a:srgbClr val="14213D"/>
            </a:solidFill>
            <a:prstDash val="solid"/>
          </a:ln>
        </p:spPr>
      </p:sp>
      <p:sp>
        <p:nvSpPr>
          <p:cNvPr id="5" name="Text 3"/>
          <p:cNvSpPr txBox="1"/>
          <p:nvPr/>
        </p:nvSpPr>
        <p:spPr>
          <a:xfrm>
            <a:off x="731520" y="1700784"/>
            <a:ext cx="2377440" cy="256032"/>
          </a:xfrm>
          <a:prstGeom prst="rect">
            <a:avLst/>
          </a:prstGeom>
          <a:noFill/>
          <a:ln/>
        </p:spPr>
        <p:txBody>
          <a:bodyPr wrap="square" lIns="0" tIns="0" rIns="0" bIns="0" rtlCol="0" anchor="t"/>
          <a:lstStyle/>
          <a:p>
            <a:pPr indent="0" marL="0">
              <a:buNone/>
            </a:pPr>
            <a:r>
              <a:rPr lang="en-US" sz="1000" b="1" spc="150" kern="0" dirty="0">
                <a:solidFill>
                  <a:srgbClr val="F26B38"/>
                </a:solidFill>
                <a:latin typeface="Arial" pitchFamily="34" charset="0"/>
                <a:ea typeface="Arial" pitchFamily="34" charset="-122"/>
                <a:cs typeface="Arial" pitchFamily="34" charset="-120"/>
              </a:rPr>
              <a:t>START HERE</a:t>
            </a:r>
            <a:endParaRPr lang="en-US" sz="1000" dirty="0"/>
          </a:p>
        </p:txBody>
      </p:sp>
      <p:sp>
        <p:nvSpPr>
          <p:cNvPr id="6" name="Text 4"/>
          <p:cNvSpPr txBox="1"/>
          <p:nvPr/>
        </p:nvSpPr>
        <p:spPr>
          <a:xfrm>
            <a:off x="731520" y="2057400"/>
            <a:ext cx="2423160" cy="1600200"/>
          </a:xfrm>
          <a:prstGeom prst="rect">
            <a:avLst/>
          </a:prstGeom>
          <a:noFill/>
          <a:ln/>
        </p:spPr>
        <p:txBody>
          <a:bodyPr wrap="square" lIns="0" tIns="0" rIns="0" bIns="0" rtlCol="0" anchor="t"/>
          <a:lstStyle/>
          <a:p>
            <a:pPr indent="0" marL="0">
              <a:buNone/>
            </a:pPr>
            <a:r>
              <a:rPr lang="en-US" sz="1050" b="1" dirty="0">
                <a:solidFill>
                  <a:srgbClr val="E6EAF2"/>
                </a:solidFill>
                <a:latin typeface="Courier New" pitchFamily="34" charset="0"/>
                <a:ea typeface="Courier New" pitchFamily="34" charset="-122"/>
                <a:cs typeface="Courier New" pitchFamily="34" charset="-120"/>
              </a:rPr>
              <a:t>claude plugin marketplace add</a:t>
            </a:r>
            <a:endParaRPr lang="en-US" sz="1050" dirty="0"/>
          </a:p>
          <a:p>
            <a:pPr indent="0" marL="0">
              <a:buNone/>
            </a:pPr>
            <a:r>
              <a:rPr lang="en-US" sz="1050" b="1" dirty="0">
                <a:solidFill>
                  <a:srgbClr val="E6EAF2"/>
                </a:solidFill>
                <a:latin typeface="Courier New" pitchFamily="34" charset="0"/>
                <a:ea typeface="Courier New" pitchFamily="34" charset="-122"/>
                <a:cs typeface="Courier New" pitchFamily="34" charset="-120"/>
              </a:rPr>
              <a:t>  felixt-teclead/agent-ready</a:t>
            </a:r>
            <a:endParaRPr lang="en-US" sz="1050" dirty="0"/>
          </a:p>
          <a:p>
            <a:pPr indent="0" marL="0">
              <a:spcBef>
                <a:spcPts val="800"/>
              </a:spcBef>
              <a:buNone/>
            </a:pPr>
            <a:r>
              <a:rPr lang="en-US" sz="1050" b="1" dirty="0">
                <a:solidFill>
                  <a:srgbClr val="E6EAF2"/>
                </a:solidFill>
                <a:latin typeface="Courier New" pitchFamily="34" charset="0"/>
                <a:ea typeface="Courier New" pitchFamily="34" charset="-122"/>
                <a:cs typeface="Courier New" pitchFamily="34" charset="-120"/>
              </a:rPr>
              <a:t>claude plugin install</a:t>
            </a:r>
            <a:endParaRPr lang="en-US" sz="1050" dirty="0"/>
          </a:p>
          <a:p>
            <a:pPr indent="0" marL="0">
              <a:buNone/>
            </a:pPr>
            <a:r>
              <a:rPr lang="en-US" sz="1050" b="1" dirty="0">
                <a:solidFill>
                  <a:srgbClr val="E6EAF2"/>
                </a:solidFill>
                <a:latin typeface="Courier New" pitchFamily="34" charset="0"/>
                <a:ea typeface="Courier New" pitchFamily="34" charset="-122"/>
                <a:cs typeface="Courier New" pitchFamily="34" charset="-120"/>
              </a:rPr>
              <a:t>  agent-ready@teclead</a:t>
            </a:r>
            <a:endParaRPr lang="en-US" sz="1050" dirty="0"/>
          </a:p>
          <a:p>
            <a:pPr indent="0" marL="0">
              <a:spcBef>
                <a:spcPts val="800"/>
              </a:spcBef>
              <a:buNone/>
            </a:pPr>
            <a:r>
              <a:rPr lang="en-US" sz="1050" b="1" dirty="0">
                <a:solidFill>
                  <a:srgbClr val="F26B38"/>
                </a:solidFill>
                <a:latin typeface="Courier New" pitchFamily="34" charset="0"/>
                <a:ea typeface="Courier New" pitchFamily="34" charset="-122"/>
                <a:cs typeface="Courier New" pitchFamily="34" charset="-120"/>
              </a:rPr>
              <a:t>/agent-ready:what-to-do</a:t>
            </a:r>
            <a:endParaRPr lang="en-US" sz="1050" dirty="0"/>
          </a:p>
        </p:txBody>
      </p:sp>
      <p:sp>
        <p:nvSpPr>
          <p:cNvPr id="7" name="Shape 5"/>
          <p:cNvSpPr/>
          <p:nvPr/>
        </p:nvSpPr>
        <p:spPr>
          <a:xfrm>
            <a:off x="548640" y="3931920"/>
            <a:ext cx="2697480" cy="1874520"/>
          </a:xfrm>
          <a:prstGeom prst="roundRect">
            <a:avLst>
              <a:gd name="adj" fmla="val 4878"/>
            </a:avLst>
          </a:prstGeom>
          <a:solidFill>
            <a:srgbClr val="FFFFFF"/>
          </a:solidFill>
          <a:ln w="19050">
            <a:solidFill>
              <a:srgbClr val="1F9E89"/>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731520" y="4114800"/>
            <a:ext cx="420624" cy="420624"/>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txBox="1"/>
          <p:nvPr/>
        </p:nvSpPr>
        <p:spPr>
          <a:xfrm>
            <a:off x="1261872" y="4114800"/>
            <a:ext cx="1920240" cy="420624"/>
          </a:xfrm>
          <a:prstGeom prst="rect">
            <a:avLst/>
          </a:prstGeom>
          <a:noFill/>
          <a:ln/>
        </p:spPr>
        <p:txBody>
          <a:bodyPr wrap="square" lIns="0" tIns="0" rIns="0" bIns="0" rtlCol="0" anchor="ctr"/>
          <a:lstStyle/>
          <a:p>
            <a:pPr indent="0" marL="0">
              <a:buNone/>
            </a:pPr>
            <a:r>
              <a:rPr lang="en-US" sz="1600" b="1" dirty="0">
                <a:solidFill>
                  <a:srgbClr val="1F9E89"/>
                </a:solidFill>
                <a:latin typeface="Arial" pitchFamily="34" charset="0"/>
                <a:ea typeface="Arial" pitchFamily="34" charset="-122"/>
                <a:cs typeface="Arial" pitchFamily="34" charset="-120"/>
              </a:rPr>
              <a:t>Basic</a:t>
            </a:r>
            <a:endParaRPr lang="en-US" sz="1600" dirty="0"/>
          </a:p>
        </p:txBody>
      </p:sp>
      <p:sp>
        <p:nvSpPr>
          <p:cNvPr id="10" name="Text 8"/>
          <p:cNvSpPr txBox="1"/>
          <p:nvPr/>
        </p:nvSpPr>
        <p:spPr>
          <a:xfrm>
            <a:off x="731520" y="4626864"/>
            <a:ext cx="2423160" cy="274320"/>
          </a:xfrm>
          <a:prstGeom prst="rect">
            <a:avLst/>
          </a:prstGeom>
          <a:noFill/>
          <a:ln/>
        </p:spPr>
        <p:txBody>
          <a:bodyPr wrap="square" lIns="0" tIns="0" rIns="0" bIns="0" rtlCol="0" anchor="t"/>
          <a:lstStyle/>
          <a:p>
            <a:pPr indent="0" marL="0">
              <a:buNone/>
            </a:pPr>
            <a:r>
              <a:rPr lang="en-US" sz="1050" b="1" dirty="0">
                <a:solidFill>
                  <a:srgbClr val="14213D"/>
                </a:solidFill>
                <a:latin typeface="Courier New" pitchFamily="34" charset="0"/>
                <a:ea typeface="Courier New" pitchFamily="34" charset="-122"/>
                <a:cs typeface="Courier New" pitchFamily="34" charset="-120"/>
              </a:rPr>
              <a:t>/setup-basics</a:t>
            </a:r>
            <a:endParaRPr lang="en-US" sz="1050" dirty="0"/>
          </a:p>
        </p:txBody>
      </p:sp>
      <p:sp>
        <p:nvSpPr>
          <p:cNvPr id="11" name="Text 9"/>
          <p:cNvSpPr txBox="1"/>
          <p:nvPr/>
        </p:nvSpPr>
        <p:spPr>
          <a:xfrm>
            <a:off x="731520" y="4937760"/>
            <a:ext cx="237744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AGENTS.md, CODING_STANDARDS.md and CONTEXT.md. Comment review on every PR.</a:t>
            </a:r>
            <a:endParaRPr lang="en-US" sz="1150" dirty="0"/>
          </a:p>
        </p:txBody>
      </p:sp>
      <p:sp>
        <p:nvSpPr>
          <p:cNvPr id="12" name="Shape 10"/>
          <p:cNvSpPr/>
          <p:nvPr/>
        </p:nvSpPr>
        <p:spPr>
          <a:xfrm>
            <a:off x="3337560" y="3364992"/>
            <a:ext cx="2697480" cy="1874520"/>
          </a:xfrm>
          <a:prstGeom prst="roundRect">
            <a:avLst>
              <a:gd name="adj" fmla="val 4878"/>
            </a:avLst>
          </a:prstGeom>
          <a:solidFill>
            <a:srgbClr val="FFFFFF"/>
          </a:solidFill>
          <a:ln w="19050">
            <a:solidFill>
              <a:srgbClr val="4A5468"/>
            </a:solidFill>
            <a:prstDash val="dash"/>
          </a:ln>
        </p:spPr>
      </p:sp>
      <p:sp>
        <p:nvSpPr>
          <p:cNvPr id="13" name="Text 11"/>
          <p:cNvSpPr/>
          <p:nvPr/>
        </p:nvSpPr>
        <p:spPr>
          <a:xfrm>
            <a:off x="3520440" y="3547872"/>
            <a:ext cx="420624" cy="420624"/>
          </a:xfrm>
          <a:prstGeom prst="roundRect">
            <a:avLst>
              <a:gd name="adj" fmla="val 50000"/>
            </a:avLst>
          </a:prstGeom>
          <a:solidFill>
            <a:srgbClr val="4A5468"/>
          </a:solidFill>
          <a:ln>
            <a:solidFill>
              <a:srgbClr val="4A5468"/>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4050792" y="3547872"/>
            <a:ext cx="1920240" cy="420624"/>
          </a:xfrm>
          <a:prstGeom prst="rect">
            <a:avLst/>
          </a:prstGeom>
          <a:noFill/>
          <a:ln/>
        </p:spPr>
        <p:txBody>
          <a:bodyPr wrap="square" lIns="0" tIns="0" rIns="0" bIns="0" rtlCol="0" anchor="ctr"/>
          <a:lstStyle/>
          <a:p>
            <a:pPr indent="0" marL="0">
              <a:buNone/>
            </a:pPr>
            <a:r>
              <a:rPr lang="en-US" sz="1600" b="1" dirty="0">
                <a:solidFill>
                  <a:srgbClr val="4A5468"/>
                </a:solidFill>
                <a:latin typeface="Arial" pitchFamily="34" charset="0"/>
                <a:ea typeface="Arial" pitchFamily="34" charset="-122"/>
                <a:cs typeface="Arial" pitchFamily="34" charset="-120"/>
              </a:rPr>
              <a:t>Stay Stubborn</a:t>
            </a:r>
            <a:endParaRPr lang="en-US" sz="1600" dirty="0"/>
          </a:p>
        </p:txBody>
      </p:sp>
      <p:sp>
        <p:nvSpPr>
          <p:cNvPr id="15" name="Text 13"/>
          <p:cNvSpPr txBox="1"/>
          <p:nvPr/>
        </p:nvSpPr>
        <p:spPr>
          <a:xfrm>
            <a:off x="3520440" y="4059936"/>
            <a:ext cx="2423160" cy="274320"/>
          </a:xfrm>
          <a:prstGeom prst="rect">
            <a:avLst/>
          </a:prstGeom>
          <a:noFill/>
          <a:ln/>
        </p:spPr>
        <p:txBody>
          <a:bodyPr wrap="square" lIns="0" tIns="0" rIns="0" bIns="0" rtlCol="0" anchor="t"/>
          <a:lstStyle/>
          <a:p>
            <a:pPr indent="0" marL="0">
              <a:buNone/>
            </a:pPr>
            <a:r>
              <a:rPr lang="en-US" sz="1050" b="1" dirty="0">
                <a:solidFill>
                  <a:srgbClr val="14213D"/>
                </a:solidFill>
                <a:latin typeface="Courier New" pitchFamily="34" charset="0"/>
                <a:ea typeface="Courier New" pitchFamily="34" charset="-122"/>
                <a:cs typeface="Courier New" pitchFamily="34" charset="-120"/>
              </a:rPr>
              <a:t>framework question</a:t>
            </a:r>
            <a:endParaRPr lang="en-US" sz="1050" dirty="0"/>
          </a:p>
        </p:txBody>
      </p:sp>
      <p:sp>
        <p:nvSpPr>
          <p:cNvPr id="16" name="Text 14"/>
          <p:cNvSpPr txBox="1"/>
          <p:nvPr/>
        </p:nvSpPr>
        <p:spPr>
          <a:xfrm>
            <a:off x="3520440" y="4370832"/>
            <a:ext cx="237744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Keep Superpowers. Design, specs, tickets and review go to Pocock skills.</a:t>
            </a:r>
            <a:endParaRPr lang="en-US" sz="1150" dirty="0"/>
          </a:p>
        </p:txBody>
      </p:sp>
      <p:sp>
        <p:nvSpPr>
          <p:cNvPr id="17" name="Text 15"/>
          <p:cNvSpPr txBox="1"/>
          <p:nvPr/>
        </p:nvSpPr>
        <p:spPr>
          <a:xfrm>
            <a:off x="3337560" y="3090672"/>
            <a:ext cx="2697480" cy="237744"/>
          </a:xfrm>
          <a:prstGeom prst="rect">
            <a:avLst/>
          </a:prstGeom>
          <a:noFill/>
          <a:ln/>
        </p:spPr>
        <p:txBody>
          <a:bodyPr wrap="square" lIns="0" tIns="0" rIns="0" bIns="0" rtlCol="0" anchor="t"/>
          <a:lstStyle/>
          <a:p>
            <a:pPr algn="ctr" indent="0" marL="0">
              <a:buNone/>
            </a:pPr>
            <a:r>
              <a:rPr lang="en-US" sz="1000" i="1" dirty="0">
                <a:solidFill>
                  <a:srgbClr val="4A5468"/>
                </a:solidFill>
                <a:latin typeface="Arial" pitchFamily="34" charset="0"/>
                <a:ea typeface="Arial" pitchFamily="34" charset="-122"/>
                <a:cs typeface="Arial" pitchFamily="34" charset="-120"/>
              </a:rPr>
              <a:t>optional, for Superpowers teams</a:t>
            </a:r>
            <a:endParaRPr lang="en-US" sz="1000" dirty="0"/>
          </a:p>
        </p:txBody>
      </p:sp>
      <p:sp>
        <p:nvSpPr>
          <p:cNvPr id="18" name="Shape 16"/>
          <p:cNvSpPr/>
          <p:nvPr/>
        </p:nvSpPr>
        <p:spPr>
          <a:xfrm>
            <a:off x="6126480" y="2798064"/>
            <a:ext cx="2697480" cy="1874520"/>
          </a:xfrm>
          <a:prstGeom prst="roundRect">
            <a:avLst>
              <a:gd name="adj" fmla="val 4878"/>
            </a:avLst>
          </a:prstGeom>
          <a:solidFill>
            <a:srgbClr val="FFFFFF"/>
          </a:solidFill>
          <a:ln w="19050">
            <a:solidFill>
              <a:srgbClr val="4F5BD5"/>
            </a:solidFill>
            <a:prstDash val="solid"/>
          </a:ln>
          <a:effectLst>
            <a:outerShdw sx="100000" sy="100000" kx="0" ky="0" algn="bl" rotWithShape="0" blurRad="101600" dist="25400" dir="5400000">
              <a:srgbClr val="000000">
                <a:alpha val="12000"/>
              </a:srgbClr>
            </a:outerShdw>
          </a:effectLst>
        </p:spPr>
      </p:sp>
      <p:sp>
        <p:nvSpPr>
          <p:cNvPr id="19" name="Text 17"/>
          <p:cNvSpPr/>
          <p:nvPr/>
        </p:nvSpPr>
        <p:spPr>
          <a:xfrm>
            <a:off x="6309360" y="2980944"/>
            <a:ext cx="420624" cy="420624"/>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6839712" y="2980944"/>
            <a:ext cx="1920240" cy="420624"/>
          </a:xfrm>
          <a:prstGeom prst="rect">
            <a:avLst/>
          </a:prstGeom>
          <a:noFill/>
          <a:ln/>
        </p:spPr>
        <p:txBody>
          <a:bodyPr wrap="square" lIns="0" tIns="0" rIns="0" bIns="0" rtlCol="0" anchor="ctr"/>
          <a:lstStyle/>
          <a:p>
            <a:pPr indent="0" marL="0">
              <a:buNone/>
            </a:pPr>
            <a:r>
              <a:rPr lang="en-US" sz="1600" b="1" dirty="0">
                <a:solidFill>
                  <a:srgbClr val="4F5BD5"/>
                </a:solidFill>
                <a:latin typeface="Arial" pitchFamily="34" charset="0"/>
                <a:ea typeface="Arial" pitchFamily="34" charset="-122"/>
                <a:cs typeface="Arial" pitchFamily="34" charset="-120"/>
              </a:rPr>
              <a:t>Migrate</a:t>
            </a:r>
            <a:endParaRPr lang="en-US" sz="1600" dirty="0"/>
          </a:p>
        </p:txBody>
      </p:sp>
      <p:sp>
        <p:nvSpPr>
          <p:cNvPr id="21" name="Text 19"/>
          <p:cNvSpPr txBox="1"/>
          <p:nvPr/>
        </p:nvSpPr>
        <p:spPr>
          <a:xfrm>
            <a:off x="6309360" y="3493008"/>
            <a:ext cx="2423160" cy="274320"/>
          </a:xfrm>
          <a:prstGeom prst="rect">
            <a:avLst/>
          </a:prstGeom>
          <a:noFill/>
          <a:ln/>
        </p:spPr>
        <p:txBody>
          <a:bodyPr wrap="square" lIns="0" tIns="0" rIns="0" bIns="0" rtlCol="0" anchor="t"/>
          <a:lstStyle/>
          <a:p>
            <a:pPr indent="0" marL="0">
              <a:buNone/>
            </a:pPr>
            <a:r>
              <a:rPr lang="en-US" sz="1050" b="1" dirty="0">
                <a:solidFill>
                  <a:srgbClr val="14213D"/>
                </a:solidFill>
                <a:latin typeface="Courier New" pitchFamily="34" charset="0"/>
                <a:ea typeface="Courier New" pitchFamily="34" charset="-122"/>
                <a:cs typeface="Courier New" pitchFamily="34" charset="-120"/>
              </a:rPr>
              <a:t>/adopt-pocock-methodology</a:t>
            </a:r>
            <a:endParaRPr lang="en-US" sz="1050" dirty="0"/>
          </a:p>
        </p:txBody>
      </p:sp>
      <p:sp>
        <p:nvSpPr>
          <p:cNvPr id="22" name="Text 20"/>
          <p:cNvSpPr txBox="1"/>
          <p:nvPr/>
        </p:nvSpPr>
        <p:spPr>
          <a:xfrm>
            <a:off x="6309360" y="3803904"/>
            <a:ext cx="237744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One method. Old setup retired, docs routed, all in one steering PR.</a:t>
            </a:r>
            <a:endParaRPr lang="en-US" sz="1150" dirty="0"/>
          </a:p>
        </p:txBody>
      </p:sp>
      <p:sp>
        <p:nvSpPr>
          <p:cNvPr id="23" name="Shape 21"/>
          <p:cNvSpPr/>
          <p:nvPr/>
        </p:nvSpPr>
        <p:spPr>
          <a:xfrm>
            <a:off x="8915400" y="2231136"/>
            <a:ext cx="2697480" cy="1874520"/>
          </a:xfrm>
          <a:prstGeom prst="roundRect">
            <a:avLst>
              <a:gd name="adj" fmla="val 4878"/>
            </a:avLst>
          </a:prstGeom>
          <a:solidFill>
            <a:srgbClr val="FFFFFF"/>
          </a:solidFill>
          <a:ln w="19050">
            <a:solidFill>
              <a:srgbClr val="7C4DDB"/>
            </a:solidFill>
            <a:prstDash val="solid"/>
          </a:ln>
          <a:effectLst>
            <a:outerShdw sx="100000" sy="100000" kx="0" ky="0" algn="bl" rotWithShape="0" blurRad="101600" dist="25400" dir="5400000">
              <a:srgbClr val="000000">
                <a:alpha val="12000"/>
              </a:srgbClr>
            </a:outerShdw>
          </a:effectLst>
        </p:spPr>
      </p:sp>
      <p:sp>
        <p:nvSpPr>
          <p:cNvPr id="24" name="Text 22"/>
          <p:cNvSpPr/>
          <p:nvPr/>
        </p:nvSpPr>
        <p:spPr>
          <a:xfrm>
            <a:off x="9098280" y="2414016"/>
            <a:ext cx="420624" cy="420624"/>
          </a:xfrm>
          <a:prstGeom prst="roundRect">
            <a:avLst>
              <a:gd name="adj" fmla="val 50000"/>
            </a:avLst>
          </a:prstGeom>
          <a:solidFill>
            <a:srgbClr val="7C4DDB"/>
          </a:solidFill>
          <a:ln>
            <a:solidFill>
              <a:srgbClr val="7C4DD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9628632" y="2414016"/>
            <a:ext cx="1920240" cy="420624"/>
          </a:xfrm>
          <a:prstGeom prst="rect">
            <a:avLst/>
          </a:prstGeom>
          <a:noFill/>
          <a:ln/>
        </p:spPr>
        <p:txBody>
          <a:bodyPr wrap="square" lIns="0" tIns="0" rIns="0" bIns="0" rtlCol="0" anchor="ctr"/>
          <a:lstStyle/>
          <a:p>
            <a:pPr indent="0" marL="0">
              <a:buNone/>
            </a:pPr>
            <a:r>
              <a:rPr lang="en-US" sz="1600" b="1" dirty="0">
                <a:solidFill>
                  <a:srgbClr val="7C4DDB"/>
                </a:solidFill>
                <a:latin typeface="Arial" pitchFamily="34" charset="0"/>
                <a:ea typeface="Arial" pitchFamily="34" charset="-122"/>
                <a:cs typeface="Arial" pitchFamily="34" charset="-120"/>
              </a:rPr>
              <a:t>Cleanup</a:t>
            </a:r>
            <a:endParaRPr lang="en-US" sz="1600" dirty="0"/>
          </a:p>
        </p:txBody>
      </p:sp>
      <p:sp>
        <p:nvSpPr>
          <p:cNvPr id="26" name="Text 24"/>
          <p:cNvSpPr txBox="1"/>
          <p:nvPr/>
        </p:nvSpPr>
        <p:spPr>
          <a:xfrm>
            <a:off x="9098280" y="2926080"/>
            <a:ext cx="2423160" cy="274320"/>
          </a:xfrm>
          <a:prstGeom prst="rect">
            <a:avLst/>
          </a:prstGeom>
          <a:noFill/>
          <a:ln/>
        </p:spPr>
        <p:txBody>
          <a:bodyPr wrap="square" lIns="0" tIns="0" rIns="0" bIns="0" rtlCol="0" anchor="t"/>
          <a:lstStyle/>
          <a:p>
            <a:pPr indent="0" marL="0">
              <a:buNone/>
            </a:pPr>
            <a:r>
              <a:rPr lang="en-US" sz="1050" b="1" dirty="0">
                <a:solidFill>
                  <a:srgbClr val="14213D"/>
                </a:solidFill>
                <a:latin typeface="Courier New" pitchFamily="34" charset="0"/>
                <a:ea typeface="Courier New" pitchFamily="34" charset="-122"/>
                <a:cs typeface="Courier New" pitchFamily="34" charset="-120"/>
              </a:rPr>
              <a:t>cleanup phase</a:t>
            </a:r>
            <a:endParaRPr lang="en-US" sz="1050" dirty="0"/>
          </a:p>
        </p:txBody>
      </p:sp>
      <p:sp>
        <p:nvSpPr>
          <p:cNvPr id="27" name="Text 25"/>
          <p:cNvSpPr txBox="1"/>
          <p:nvPr/>
        </p:nvSpPr>
        <p:spPr>
          <a:xfrm>
            <a:off x="9098280" y="3236976"/>
            <a:ext cx="2377440" cy="777240"/>
          </a:xfrm>
          <a:prstGeom prst="rect">
            <a:avLst/>
          </a:prstGeom>
          <a:noFill/>
          <a:ln/>
        </p:spPr>
        <p:txBody>
          <a:bodyPr wrap="square" lIns="0" tIns="0" rIns="0" bIns="0" rtlCol="0" anchor="t"/>
          <a:lstStyle/>
          <a:p>
            <a:pPr indent="0" marL="0">
              <a:buNone/>
            </a:pPr>
            <a:r>
              <a:rPr lang="en-US" sz="1150" dirty="0">
                <a:solidFill>
                  <a:srgbClr val="4A5468"/>
                </a:solidFill>
                <a:latin typeface="Arial" pitchFamily="34" charset="0"/>
                <a:ea typeface="Arial" pitchFamily="34" charset="-122"/>
                <a:cs typeface="Arial" pitchFamily="34" charset="-120"/>
              </a:rPr>
              <a:t>Docs trimmed, then comments rewritten in small PRs that agents merge.</a:t>
            </a:r>
            <a:endParaRPr lang="en-US" sz="1150" dirty="0"/>
          </a:p>
        </p:txBody>
      </p:sp>
      <p:sp>
        <p:nvSpPr>
          <p:cNvPr id="28" name="Shape 26"/>
          <p:cNvSpPr/>
          <p:nvPr/>
        </p:nvSpPr>
        <p:spPr>
          <a:xfrm>
            <a:off x="8915400" y="4315968"/>
            <a:ext cx="2724912" cy="1920240"/>
          </a:xfrm>
          <a:prstGeom prst="roundRect">
            <a:avLst>
              <a:gd name="adj" fmla="val 4762"/>
            </a:avLst>
          </a:prstGeom>
          <a:solidFill>
            <a:srgbClr val="F1F4F9"/>
          </a:solidFill>
          <a:ln w="12700">
            <a:solidFill>
              <a:srgbClr val="F1F4F9"/>
            </a:solidFill>
            <a:prstDash val="solid"/>
          </a:ln>
        </p:spPr>
      </p:sp>
      <p:sp>
        <p:nvSpPr>
          <p:cNvPr id="29" name="Text 27"/>
          <p:cNvSpPr txBox="1"/>
          <p:nvPr/>
        </p:nvSpPr>
        <p:spPr>
          <a:xfrm>
            <a:off x="9098280" y="4434840"/>
            <a:ext cx="2377440" cy="256032"/>
          </a:xfrm>
          <a:prstGeom prst="rect">
            <a:avLst/>
          </a:prstGeom>
          <a:noFill/>
          <a:ln/>
        </p:spPr>
        <p:txBody>
          <a:bodyPr wrap="square" lIns="0" tIns="0" rIns="0" bIns="0" rtlCol="0" anchor="t"/>
          <a:lstStyle/>
          <a:p>
            <a:pPr indent="0" marL="0">
              <a:buNone/>
            </a:pPr>
            <a:r>
              <a:rPr lang="en-US" sz="1000" b="1" spc="100" kern="0" dirty="0">
                <a:solidFill>
                  <a:srgbClr val="8D99B3"/>
                </a:solidFill>
                <a:latin typeface="Arial" pitchFamily="34" charset="0"/>
                <a:ea typeface="Arial" pitchFamily="34" charset="-122"/>
                <a:cs typeface="Arial" pitchFamily="34" charset="-120"/>
              </a:rPr>
              <a:t>WHAT IT COSTS</a:t>
            </a:r>
            <a:endParaRPr lang="en-US" sz="1000" dirty="0"/>
          </a:p>
        </p:txBody>
      </p:sp>
      <p:sp>
        <p:nvSpPr>
          <p:cNvPr id="30" name="Text 28"/>
          <p:cNvSpPr txBox="1"/>
          <p:nvPr/>
        </p:nvSpPr>
        <p:spPr>
          <a:xfrm>
            <a:off x="9098280" y="4727448"/>
            <a:ext cx="2423160" cy="1463040"/>
          </a:xfrm>
          <a:prstGeom prst="rect">
            <a:avLst/>
          </a:prstGeom>
          <a:noFill/>
          <a:ln/>
        </p:spPr>
        <p:txBody>
          <a:bodyPr wrap="square" lIns="0" tIns="0" rIns="0" bIns="0" rtlCol="0" anchor="t"/>
          <a:lstStyle/>
          <a:p>
            <a:pPr indent="0" marL="0">
              <a:buNone/>
            </a:pPr>
            <a:r>
              <a:rPr lang="en-US" sz="1150" b="1" dirty="0">
                <a:solidFill>
                  <a:srgbClr val="14213D"/>
                </a:solidFill>
                <a:latin typeface="Arial" pitchFamily="34" charset="0"/>
                <a:ea typeface="Arial" pitchFamily="34" charset="-122"/>
                <a:cs typeface="Arial" pitchFamily="34" charset="-120"/>
              </a:rPr>
              <a:t>Setup: about 99k tokens, 9 min</a:t>
            </a:r>
            <a:endParaRPr lang="en-US" sz="1150" dirty="0"/>
          </a:p>
          <a:p>
            <a:pPr indent="0" marL="0">
              <a:buNone/>
            </a:pPr>
            <a:r>
              <a:rPr lang="en-US" sz="1150" b="1" dirty="0">
                <a:solidFill>
                  <a:srgbClr val="14213D"/>
                </a:solidFill>
                <a:latin typeface="Arial" pitchFamily="34" charset="0"/>
                <a:ea typeface="Arial" pitchFamily="34" charset="-122"/>
                <a:cs typeface="Arial" pitchFamily="34" charset="-120"/>
              </a:rPr>
              <a:t>Scan: about 103k tokens, 6.5 min</a:t>
            </a:r>
            <a:endParaRPr lang="en-US" sz="1150" dirty="0"/>
          </a:p>
          <a:p>
            <a:pPr indent="0" marL="0">
              <a:spcBef>
                <a:spcPts val="400"/>
              </a:spcBef>
              <a:buNone/>
            </a:pPr>
            <a:r>
              <a:rPr lang="en-US" sz="1150" dirty="0">
                <a:solidFill>
                  <a:srgbClr val="14213D"/>
                </a:solidFill>
                <a:latin typeface="Arial" pitchFamily="34" charset="0"/>
                <a:ea typeface="Arial" pitchFamily="34" charset="-122"/>
                <a:cs typeface="Arial" pitchFamily="34" charset="-120"/>
              </a:rPr>
              <a:t>One trial on a repo with 2,333 files.</a:t>
            </a:r>
            <a:endParaRPr lang="en-US" sz="1150" dirty="0"/>
          </a:p>
          <a:p>
            <a:pPr indent="0" marL="0">
              <a:spcBef>
                <a:spcPts val="400"/>
              </a:spcBef>
              <a:buNone/>
            </a:pPr>
            <a:r>
              <a:rPr lang="en-US" sz="1150" dirty="0">
                <a:solidFill>
                  <a:srgbClr val="D64545"/>
                </a:solidFill>
                <a:latin typeface="Arial" pitchFamily="34" charset="0"/>
                <a:ea typeface="Arial" pitchFamily="34" charset="-122"/>
                <a:cs typeface="Arial" pitchFamily="34" charset="-120"/>
              </a:rPr>
              <a:t>Migration and comment pass: not measured yet.</a:t>
            </a:r>
            <a:endParaRPr lang="en-US" sz="1150" dirty="0"/>
          </a:p>
        </p:txBody>
      </p:sp>
      <p:sp>
        <p:nvSpPr>
          <p:cNvPr id="31" name="Text 29"/>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main (2026-09-27), plugins/agent-ready, README and what-to-do/TRADEOFFS.md</a:t>
            </a:r>
            <a:endParaRPr lang="en-US" sz="900" dirty="0"/>
          </a:p>
        </p:txBody>
      </p:sp>
      <p:sp>
        <p:nvSpPr>
          <p:cNvPr id="32" name="Text 30"/>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822960"/>
            <a:ext cx="5486400" cy="274320"/>
          </a:xfrm>
          <a:prstGeom prst="rect">
            <a:avLst/>
          </a:prstGeom>
          <a:noFill/>
          <a:ln/>
        </p:spPr>
        <p:txBody>
          <a:bodyPr wrap="square" lIns="0" tIns="0" rIns="0" bIns="0" rtlCol="0" anchor="t"/>
          <a:lstStyle/>
          <a:p>
            <a:pPr indent="0" marL="0">
              <a:buNone/>
            </a:pPr>
            <a:r>
              <a:rPr lang="en-US" sz="1200" b="1" spc="300" kern="0" dirty="0">
                <a:solidFill>
                  <a:srgbClr val="F26B38"/>
                </a:solidFill>
                <a:latin typeface="Arial" pitchFamily="34" charset="0"/>
                <a:ea typeface="Arial" pitchFamily="34" charset="-122"/>
                <a:cs typeface="Arial" pitchFamily="34" charset="-120"/>
              </a:rPr>
              <a:t>NEXT STEP</a:t>
            </a:r>
            <a:endParaRPr lang="en-US" sz="1200" dirty="0"/>
          </a:p>
        </p:txBody>
      </p:sp>
      <p:sp>
        <p:nvSpPr>
          <p:cNvPr id="3" name="Text 1"/>
          <p:cNvSpPr txBox="1"/>
          <p:nvPr/>
        </p:nvSpPr>
        <p:spPr>
          <a:xfrm>
            <a:off x="731520" y="1188720"/>
            <a:ext cx="10515600" cy="86868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Try it on one repo this week</a:t>
            </a:r>
            <a:endParaRPr lang="en-US" sz="4000" dirty="0"/>
          </a:p>
        </p:txBody>
      </p:sp>
      <p:sp>
        <p:nvSpPr>
          <p:cNvPr id="4" name="Shape 2"/>
          <p:cNvSpPr/>
          <p:nvPr/>
        </p:nvSpPr>
        <p:spPr>
          <a:xfrm>
            <a:off x="731520" y="2514600"/>
            <a:ext cx="3456432" cy="2377440"/>
          </a:xfrm>
          <a:prstGeom prst="roundRect">
            <a:avLst>
              <a:gd name="adj" fmla="val 3846"/>
            </a:avLst>
          </a:prstGeom>
          <a:solidFill>
            <a:srgbClr val="22305A"/>
          </a:solidFill>
          <a:ln w="12700">
            <a:solidFill>
              <a:srgbClr val="22305A"/>
            </a:solidFill>
            <a:prstDash val="solid"/>
          </a:ln>
        </p:spPr>
      </p:sp>
      <p:sp>
        <p:nvSpPr>
          <p:cNvPr id="5" name="Shape 3"/>
          <p:cNvSpPr/>
          <p:nvPr/>
        </p:nvSpPr>
        <p:spPr>
          <a:xfrm>
            <a:off x="1005840" y="2743200"/>
            <a:ext cx="658368" cy="658368"/>
          </a:xfrm>
          <a:prstGeom prst="ellipse">
            <a:avLst/>
          </a:prstGeom>
          <a:solidFill>
            <a:srgbClr val="1F9E89"/>
          </a:solidFill>
          <a:ln w="12700">
            <a:solidFill>
              <a:srgbClr val="1F9E89"/>
            </a:solidFill>
            <a:prstDash val="solid"/>
          </a:ln>
        </p:spPr>
      </p:sp>
      <p:pic>
        <p:nvPicPr>
          <p:cNvPr id="6" name="Image 0" descr="preencoded.png">    </p:cNvPr>
          <p:cNvPicPr>
            <a:picLocks noChangeAspect="1"/>
          </p:cNvPicPr>
          <p:nvPr/>
        </p:nvPicPr>
        <p:blipFill>
          <a:blip r:embed="rId1"/>
          <a:stretch>
            <a:fillRect/>
          </a:stretch>
        </p:blipFill>
        <p:spPr>
          <a:xfrm>
            <a:off x="1163848" y="2901208"/>
            <a:ext cx="342351" cy="342351"/>
          </a:xfrm>
          <a:prstGeom prst="rect">
            <a:avLst/>
          </a:prstGeom>
        </p:spPr>
      </p:pic>
      <p:sp>
        <p:nvSpPr>
          <p:cNvPr id="7" name="Text 4"/>
          <p:cNvSpPr txBox="1"/>
          <p:nvPr/>
        </p:nvSpPr>
        <p:spPr>
          <a:xfrm>
            <a:off x="1005840" y="3566160"/>
            <a:ext cx="2926080" cy="11887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Install agent-ready. In one repo, type /agent-ready:what-to-do.</a:t>
            </a:r>
            <a:endParaRPr lang="en-US" sz="1500" dirty="0"/>
          </a:p>
        </p:txBody>
      </p:sp>
      <p:sp>
        <p:nvSpPr>
          <p:cNvPr id="8" name="Shape 5"/>
          <p:cNvSpPr/>
          <p:nvPr/>
        </p:nvSpPr>
        <p:spPr>
          <a:xfrm>
            <a:off x="4370832" y="2514600"/>
            <a:ext cx="3456432" cy="2377440"/>
          </a:xfrm>
          <a:prstGeom prst="roundRect">
            <a:avLst>
              <a:gd name="adj" fmla="val 3846"/>
            </a:avLst>
          </a:prstGeom>
          <a:solidFill>
            <a:srgbClr val="22305A"/>
          </a:solidFill>
          <a:ln w="12700">
            <a:solidFill>
              <a:srgbClr val="22305A"/>
            </a:solidFill>
            <a:prstDash val="solid"/>
          </a:ln>
        </p:spPr>
      </p:sp>
      <p:sp>
        <p:nvSpPr>
          <p:cNvPr id="9" name="Shape 6"/>
          <p:cNvSpPr/>
          <p:nvPr/>
        </p:nvSpPr>
        <p:spPr>
          <a:xfrm>
            <a:off x="4645152" y="2743200"/>
            <a:ext cx="658368" cy="658368"/>
          </a:xfrm>
          <a:prstGeom prst="ellipse">
            <a:avLst/>
          </a:prstGeom>
          <a:solidFill>
            <a:srgbClr val="4F5BD5"/>
          </a:solidFill>
          <a:ln w="12700">
            <a:solidFill>
              <a:srgbClr val="4F5BD5"/>
            </a:solidFill>
            <a:prstDash val="solid"/>
          </a:ln>
        </p:spPr>
      </p:sp>
      <p:pic>
        <p:nvPicPr>
          <p:cNvPr id="10" name="Image 1" descr="preencoded.png">    </p:cNvPr>
          <p:cNvPicPr>
            <a:picLocks noChangeAspect="1"/>
          </p:cNvPicPr>
          <p:nvPr/>
        </p:nvPicPr>
        <p:blipFill>
          <a:blip r:embed="rId2"/>
          <a:stretch>
            <a:fillRect/>
          </a:stretch>
        </p:blipFill>
        <p:spPr>
          <a:xfrm>
            <a:off x="4803160" y="2901208"/>
            <a:ext cx="342351" cy="342351"/>
          </a:xfrm>
          <a:prstGeom prst="rect">
            <a:avLst/>
          </a:prstGeom>
        </p:spPr>
      </p:pic>
      <p:sp>
        <p:nvSpPr>
          <p:cNvPr id="11" name="Text 7"/>
          <p:cNvSpPr txBox="1"/>
          <p:nvPr/>
        </p:nvSpPr>
        <p:spPr>
          <a:xfrm>
            <a:off x="4645152" y="3566160"/>
            <a:ext cx="2926080" cy="11887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Put your team's review rules in docs/CODING_STANDARDS.md, not in AGENTS.md.</a:t>
            </a:r>
            <a:endParaRPr lang="en-US" sz="1500" dirty="0"/>
          </a:p>
        </p:txBody>
      </p:sp>
      <p:sp>
        <p:nvSpPr>
          <p:cNvPr id="12" name="Shape 8"/>
          <p:cNvSpPr/>
          <p:nvPr/>
        </p:nvSpPr>
        <p:spPr>
          <a:xfrm>
            <a:off x="8010144" y="2514600"/>
            <a:ext cx="3456432" cy="2377440"/>
          </a:xfrm>
          <a:prstGeom prst="roundRect">
            <a:avLst>
              <a:gd name="adj" fmla="val 3846"/>
            </a:avLst>
          </a:prstGeom>
          <a:solidFill>
            <a:srgbClr val="22305A"/>
          </a:solidFill>
          <a:ln w="12700">
            <a:solidFill>
              <a:srgbClr val="22305A"/>
            </a:solidFill>
            <a:prstDash val="solid"/>
          </a:ln>
        </p:spPr>
      </p:sp>
      <p:sp>
        <p:nvSpPr>
          <p:cNvPr id="13" name="Shape 9"/>
          <p:cNvSpPr/>
          <p:nvPr/>
        </p:nvSpPr>
        <p:spPr>
          <a:xfrm>
            <a:off x="8284464" y="2743200"/>
            <a:ext cx="658368" cy="658368"/>
          </a:xfrm>
          <a:prstGeom prst="ellipse">
            <a:avLst/>
          </a:prstGeom>
          <a:solidFill>
            <a:srgbClr val="7C4DDB"/>
          </a:solidFill>
          <a:ln w="12700">
            <a:solidFill>
              <a:srgbClr val="7C4DDB"/>
            </a:solidFill>
            <a:prstDash val="solid"/>
          </a:ln>
        </p:spPr>
      </p:sp>
      <p:pic>
        <p:nvPicPr>
          <p:cNvPr id="14" name="Image 2" descr="preencoded.png">    </p:cNvPr>
          <p:cNvPicPr>
            <a:picLocks noChangeAspect="1"/>
          </p:cNvPicPr>
          <p:nvPr/>
        </p:nvPicPr>
        <p:blipFill>
          <a:blip r:embed="rId3"/>
          <a:stretch>
            <a:fillRect/>
          </a:stretch>
        </p:blipFill>
        <p:spPr>
          <a:xfrm>
            <a:off x="8442472" y="2901208"/>
            <a:ext cx="342351" cy="342351"/>
          </a:xfrm>
          <a:prstGeom prst="rect">
            <a:avLst/>
          </a:prstGeom>
        </p:spPr>
      </p:pic>
      <p:sp>
        <p:nvSpPr>
          <p:cNvPr id="15" name="Text 10"/>
          <p:cNvSpPr txBox="1"/>
          <p:nvPr/>
        </p:nvSpPr>
        <p:spPr>
          <a:xfrm>
            <a:off x="8284464" y="3566160"/>
            <a:ext cx="2926080" cy="11887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Writing a review comment for the second time? Turn it into a check or a rule.</a:t>
            </a:r>
            <a:endParaRPr lang="en-US" sz="1500" dirty="0"/>
          </a:p>
        </p:txBody>
      </p:sp>
      <p:sp>
        <p:nvSpPr>
          <p:cNvPr id="16" name="Text 11"/>
          <p:cNvSpPr txBox="1"/>
          <p:nvPr/>
        </p:nvSpPr>
        <p:spPr>
          <a:xfrm>
            <a:off x="731520" y="5349240"/>
            <a:ext cx="10698480" cy="365760"/>
          </a:xfrm>
          <a:prstGeom prst="rect">
            <a:avLst/>
          </a:prstGeom>
          <a:noFill/>
          <a:ln/>
        </p:spPr>
        <p:txBody>
          <a:bodyPr wrap="square" lIns="0" tIns="0" rIns="0" bIns="0" rtlCol="0" anchor="t"/>
          <a:lstStyle/>
          <a:p>
            <a:pPr indent="0" marL="0">
              <a:buNone/>
            </a:pPr>
            <a:r>
              <a:rPr lang="en-US" sz="1300" dirty="0">
                <a:solidFill>
                  <a:srgbClr val="C9D2E3"/>
                </a:solidFill>
                <a:latin typeface="Arial" pitchFamily="34" charset="0"/>
                <a:ea typeface="Arial" pitchFamily="34" charset="-122"/>
                <a:cs typeface="Arial" pitchFamily="34" charset="-120"/>
              </a:rPr>
              <a:t>Matt's skills: aihero.dev/skills        agent-ready: github.com/felixt-teclead/agent-ready</a:t>
            </a:r>
            <a:endParaRPr lang="en-US" sz="1300" dirty="0"/>
          </a:p>
        </p:txBody>
      </p:sp>
      <p:sp>
        <p:nvSpPr>
          <p:cNvPr id="17" name="Text 12"/>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7F8BA8"/>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Fixing the PR bottleneck</dc:title>
  <dc:subject>PptxGenJS Presentation</dc:subject>
  <dc:creator>PptxGenJS</dc:creator>
  <cp:lastModifiedBy>PptxGenJS</cp:lastModifiedBy>
  <cp:revision>1</cp:revision>
  <dcterms:created xsi:type="dcterms:W3CDTF">2026-09-28T11:45:40Z</dcterms:created>
  <dcterms:modified xsi:type="dcterms:W3CDTF">2026-09-28T11:45:40Z</dcterms:modified>
</cp:coreProperties>
</file>