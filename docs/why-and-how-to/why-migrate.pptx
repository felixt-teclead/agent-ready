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slides: the flow on one page, one slide per benefit group, the honest trade-offs, and how to switch.
The full comparison and Matt Pocock's model are in fixing-the-pr-bottleneck.pptx.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deck on one slide. Top: the flow you type, from idea to merge. Colours group the steps by what they give us.
Shared knowledge: grilling writes our words and decisions into the repo, and the steering files change only by PR.
Automation: specs and tickets become issues with shared labels, so agents know which work they may take alone.
Honest tests: implement works test-first at agreed seams, and the architecture review keeps modules deep.
One standard: review checks every diff against one CODING_STANDARDS.md, and merge rules follow risk.
/retro comes next; it is still in beta.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lesson one developer writes down reaches every agent session on the team. And the rules only change through a PR we discuss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labels are what make automation safe. An agent takes ready-for-agent tickets with nobody watching. Work that needs judgment is labelled ready-for-human and stays with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write most of our tests, and nobody reads them all. A test on a module's internals becomes a rule nobody chose: the next agent bends its change around it. Tests at the interface and deep modules stop that from piling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CODING_STANDARDS.md, applied by a reviewer in a fresh context to every PR, whoever or whatever wrote it. Merge rules send our attention to the PRs that need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part out loud. It is what makes the rest credible to people who like Superpowers.
Superpowers' test rules are the best text on lying tests we found. We should borrow them into CODING_STANDARDS.md.
Nobody has to drop Superpowers on day one: the Stay Stubborn tier keeps its plan-and-execute loop.
Costs: we have numbers for setup and scan from one trial. The migration's cost is not measured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once per person. Then /what-to-do tells you where a repo stands; /adopt-pocock-methodology does the migration in one PR a human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slideLayout" Target="../slideLayouts/slideLayout1.xml"/><Relationship Id="rId1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188720"/>
            <a:ext cx="5486400" cy="274320"/>
          </a:xfrm>
          <a:prstGeom prst="rect">
            <a:avLst/>
          </a:prstGeom>
          <a:noFill/>
          <a:ln/>
        </p:spPr>
        <p:txBody>
          <a:bodyPr wrap="square" lIns="0" tIns="0" rIns="0" bIns="0" rtlCol="0" anchor="t"/>
          <a:lstStyle/>
          <a:p>
            <a:pPr indent="0" marL="0">
              <a:buNone/>
            </a:pPr>
            <a:r>
              <a:rPr lang="en-US" sz="1200" b="1" spc="300" kern="0" dirty="0">
                <a:solidFill>
                  <a:srgbClr val="F26B38"/>
                </a:solidFill>
                <a:latin typeface="Arial" pitchFamily="34" charset="0"/>
                <a:ea typeface="Arial" pitchFamily="34" charset="-122"/>
                <a:cs typeface="Arial" pitchFamily="34" charset="-120"/>
              </a:rPr>
              <a:t>TECLEAD ENGINEERING</a:t>
            </a:r>
            <a:endParaRPr lang="en-US" sz="1200" dirty="0"/>
          </a:p>
        </p:txBody>
      </p:sp>
      <p:sp>
        <p:nvSpPr>
          <p:cNvPr id="3" name="Text 1"/>
          <p:cNvSpPr txBox="1"/>
          <p:nvPr/>
        </p:nvSpPr>
        <p:spPr>
          <a:xfrm>
            <a:off x="731520" y="1554480"/>
            <a:ext cx="6035040" cy="1874520"/>
          </a:xfrm>
          <a:prstGeom prst="rect">
            <a:avLst/>
          </a:prstGeom>
          <a:noFill/>
          <a:ln/>
        </p:spPr>
        <p:txBody>
          <a:bodyPr wrap="square" lIns="0" tIns="0" rIns="0" bIns="0" rtlCol="0" anchor="b"/>
          <a:lstStyle/>
          <a:p>
            <a:pPr indent="0" marL="0">
              <a:buNone/>
            </a:pPr>
            <a:r>
              <a:rPr lang="en-US" sz="4000" b="1" dirty="0">
                <a:solidFill>
                  <a:srgbClr val="FFFFFF"/>
                </a:solidFill>
                <a:latin typeface="Arial" pitchFamily="34" charset="0"/>
                <a:ea typeface="Arial" pitchFamily="34" charset="-122"/>
                <a:cs typeface="Arial" pitchFamily="34" charset="-120"/>
              </a:rPr>
              <a:t>Why we move from Superpowers to Pocock's skills</a:t>
            </a:r>
            <a:endParaRPr lang="en-US" sz="4000" dirty="0"/>
          </a:p>
        </p:txBody>
      </p:sp>
      <p:sp>
        <p:nvSpPr>
          <p:cNvPr id="4" name="Text 2"/>
          <p:cNvSpPr txBox="1"/>
          <p:nvPr/>
        </p:nvSpPr>
        <p:spPr>
          <a:xfrm>
            <a:off x="731520" y="3611880"/>
            <a:ext cx="5669280" cy="1005840"/>
          </a:xfrm>
          <a:prstGeom prst="rect">
            <a:avLst/>
          </a:prstGeom>
          <a:noFill/>
          <a:ln/>
        </p:spPr>
        <p:txBody>
          <a:bodyPr wrap="square" lIns="0" tIns="0" rIns="0" bIns="0" rtlCol="0" anchor="t"/>
          <a:lstStyle/>
          <a:p>
            <a:pPr indent="0" marL="0">
              <a:buNone/>
            </a:pPr>
            <a:r>
              <a:rPr lang="en-US" sz="1900" dirty="0">
                <a:solidFill>
                  <a:srgbClr val="C9D2E3"/>
                </a:solidFill>
                <a:latin typeface="Arial" pitchFamily="34" charset="0"/>
                <a:ea typeface="Arial" pitchFamily="34" charset="-122"/>
                <a:cs typeface="Arial" pitchFamily="34" charset="-120"/>
              </a:rPr>
              <a:t>The flow, what each part gives us, and how to switch</a:t>
            </a:r>
            <a:endParaRPr lang="en-US" sz="1900" dirty="0"/>
          </a:p>
        </p:txBody>
      </p:sp>
      <p:sp>
        <p:nvSpPr>
          <p:cNvPr id="5" name="Shape 3"/>
          <p:cNvSpPr/>
          <p:nvPr/>
        </p:nvSpPr>
        <p:spPr>
          <a:xfrm>
            <a:off x="7406640" y="685800"/>
            <a:ext cx="603504" cy="347472"/>
          </a:xfrm>
          <a:prstGeom prst="roundRect">
            <a:avLst>
              <a:gd name="adj" fmla="val 15789"/>
            </a:avLst>
          </a:prstGeom>
          <a:solidFill>
            <a:srgbClr val="22305A"/>
          </a:solidFill>
          <a:ln w="12700">
            <a:solidFill>
              <a:srgbClr val="33436E"/>
            </a:solidFill>
            <a:prstDash val="solid"/>
          </a:ln>
        </p:spPr>
      </p:sp>
      <p:pic>
        <p:nvPicPr>
          <p:cNvPr id="6" name="Image 0" descr="preencoded.png">    </p:cNvPr>
          <p:cNvPicPr>
            <a:picLocks noChangeAspect="1"/>
          </p:cNvPicPr>
          <p:nvPr/>
        </p:nvPicPr>
        <p:blipFill>
          <a:blip r:embed="rId1"/>
          <a:stretch>
            <a:fillRect/>
          </a:stretch>
        </p:blipFill>
        <p:spPr>
          <a:xfrm>
            <a:off x="7479792" y="758952"/>
            <a:ext cx="201168" cy="201168"/>
          </a:xfrm>
          <a:prstGeom prst="rect">
            <a:avLst/>
          </a:prstGeom>
        </p:spPr>
      </p:pic>
      <p:sp>
        <p:nvSpPr>
          <p:cNvPr id="7" name="Shape 4"/>
          <p:cNvSpPr/>
          <p:nvPr/>
        </p:nvSpPr>
        <p:spPr>
          <a:xfrm>
            <a:off x="7735824" y="804672"/>
            <a:ext cx="201168" cy="36576"/>
          </a:xfrm>
          <a:prstGeom prst="rect">
            <a:avLst/>
          </a:prstGeom>
          <a:solidFill>
            <a:srgbClr val="5A6A93"/>
          </a:solidFill>
          <a:ln w="12700">
            <a:solidFill>
              <a:srgbClr val="5A6A93"/>
            </a:solidFill>
            <a:prstDash val="solid"/>
          </a:ln>
        </p:spPr>
      </p:sp>
      <p:sp>
        <p:nvSpPr>
          <p:cNvPr id="8" name="Shape 5"/>
          <p:cNvSpPr/>
          <p:nvPr/>
        </p:nvSpPr>
        <p:spPr>
          <a:xfrm>
            <a:off x="7735824" y="886968"/>
            <a:ext cx="137160" cy="36576"/>
          </a:xfrm>
          <a:prstGeom prst="rect">
            <a:avLst/>
          </a:prstGeom>
          <a:solidFill>
            <a:srgbClr val="5A6A93"/>
          </a:solidFill>
          <a:ln w="12700">
            <a:solidFill>
              <a:srgbClr val="5A6A93"/>
            </a:solidFill>
            <a:prstDash val="solid"/>
          </a:ln>
        </p:spPr>
      </p:sp>
      <p:sp>
        <p:nvSpPr>
          <p:cNvPr id="9" name="Shape 6"/>
          <p:cNvSpPr/>
          <p:nvPr/>
        </p:nvSpPr>
        <p:spPr>
          <a:xfrm>
            <a:off x="8183880" y="914400"/>
            <a:ext cx="603504" cy="347472"/>
          </a:xfrm>
          <a:prstGeom prst="roundRect">
            <a:avLst>
              <a:gd name="adj" fmla="val 15789"/>
            </a:avLst>
          </a:prstGeom>
          <a:solidFill>
            <a:srgbClr val="22305A"/>
          </a:solidFill>
          <a:ln w="12700">
            <a:solidFill>
              <a:srgbClr val="33436E"/>
            </a:solidFill>
            <a:prstDash val="solid"/>
          </a:ln>
        </p:spPr>
      </p:sp>
      <p:pic>
        <p:nvPicPr>
          <p:cNvPr id="10" name="Image 1" descr="preencoded.png">    </p:cNvPr>
          <p:cNvPicPr>
            <a:picLocks noChangeAspect="1"/>
          </p:cNvPicPr>
          <p:nvPr/>
        </p:nvPicPr>
        <p:blipFill>
          <a:blip r:embed="rId2"/>
          <a:stretch>
            <a:fillRect/>
          </a:stretch>
        </p:blipFill>
        <p:spPr>
          <a:xfrm>
            <a:off x="8257032" y="987552"/>
            <a:ext cx="201168" cy="201168"/>
          </a:xfrm>
          <a:prstGeom prst="rect">
            <a:avLst/>
          </a:prstGeom>
        </p:spPr>
      </p:pic>
      <p:sp>
        <p:nvSpPr>
          <p:cNvPr id="11" name="Shape 7"/>
          <p:cNvSpPr/>
          <p:nvPr/>
        </p:nvSpPr>
        <p:spPr>
          <a:xfrm>
            <a:off x="8513064" y="1033272"/>
            <a:ext cx="201168" cy="36576"/>
          </a:xfrm>
          <a:prstGeom prst="rect">
            <a:avLst/>
          </a:prstGeom>
          <a:solidFill>
            <a:srgbClr val="5A6A93"/>
          </a:solidFill>
          <a:ln w="12700">
            <a:solidFill>
              <a:srgbClr val="5A6A93"/>
            </a:solidFill>
            <a:prstDash val="solid"/>
          </a:ln>
        </p:spPr>
      </p:sp>
      <p:sp>
        <p:nvSpPr>
          <p:cNvPr id="12" name="Shape 8"/>
          <p:cNvSpPr/>
          <p:nvPr/>
        </p:nvSpPr>
        <p:spPr>
          <a:xfrm>
            <a:off x="8513064" y="1115568"/>
            <a:ext cx="137160" cy="36576"/>
          </a:xfrm>
          <a:prstGeom prst="rect">
            <a:avLst/>
          </a:prstGeom>
          <a:solidFill>
            <a:srgbClr val="5A6A93"/>
          </a:solidFill>
          <a:ln w="12700">
            <a:solidFill>
              <a:srgbClr val="5A6A93"/>
            </a:solidFill>
            <a:prstDash val="solid"/>
          </a:ln>
        </p:spPr>
      </p:sp>
      <p:sp>
        <p:nvSpPr>
          <p:cNvPr id="13" name="Shape 9"/>
          <p:cNvSpPr/>
          <p:nvPr/>
        </p:nvSpPr>
        <p:spPr>
          <a:xfrm>
            <a:off x="8961120" y="640080"/>
            <a:ext cx="603504" cy="347472"/>
          </a:xfrm>
          <a:prstGeom prst="roundRect">
            <a:avLst>
              <a:gd name="adj" fmla="val 15789"/>
            </a:avLst>
          </a:prstGeom>
          <a:solidFill>
            <a:srgbClr val="22305A"/>
          </a:solidFill>
          <a:ln w="12700">
            <a:solidFill>
              <a:srgbClr val="33436E"/>
            </a:solidFill>
            <a:prstDash val="solid"/>
          </a:ln>
        </p:spPr>
      </p:sp>
      <p:pic>
        <p:nvPicPr>
          <p:cNvPr id="14" name="Image 2" descr="preencoded.png">    </p:cNvPr>
          <p:cNvPicPr>
            <a:picLocks noChangeAspect="1"/>
          </p:cNvPicPr>
          <p:nvPr/>
        </p:nvPicPr>
        <p:blipFill>
          <a:blip r:embed="rId3"/>
          <a:stretch>
            <a:fillRect/>
          </a:stretch>
        </p:blipFill>
        <p:spPr>
          <a:xfrm>
            <a:off x="9034272" y="713232"/>
            <a:ext cx="201168" cy="201168"/>
          </a:xfrm>
          <a:prstGeom prst="rect">
            <a:avLst/>
          </a:prstGeom>
        </p:spPr>
      </p:pic>
      <p:sp>
        <p:nvSpPr>
          <p:cNvPr id="15" name="Shape 10"/>
          <p:cNvSpPr/>
          <p:nvPr/>
        </p:nvSpPr>
        <p:spPr>
          <a:xfrm>
            <a:off x="9290304" y="758952"/>
            <a:ext cx="201168" cy="36576"/>
          </a:xfrm>
          <a:prstGeom prst="rect">
            <a:avLst/>
          </a:prstGeom>
          <a:solidFill>
            <a:srgbClr val="5A6A93"/>
          </a:solidFill>
          <a:ln w="12700">
            <a:solidFill>
              <a:srgbClr val="5A6A93"/>
            </a:solidFill>
            <a:prstDash val="solid"/>
          </a:ln>
        </p:spPr>
      </p:sp>
      <p:sp>
        <p:nvSpPr>
          <p:cNvPr id="16" name="Shape 11"/>
          <p:cNvSpPr/>
          <p:nvPr/>
        </p:nvSpPr>
        <p:spPr>
          <a:xfrm>
            <a:off x="9290304" y="841248"/>
            <a:ext cx="137160" cy="36576"/>
          </a:xfrm>
          <a:prstGeom prst="rect">
            <a:avLst/>
          </a:prstGeom>
          <a:solidFill>
            <a:srgbClr val="5A6A93"/>
          </a:solidFill>
          <a:ln w="12700">
            <a:solidFill>
              <a:srgbClr val="5A6A93"/>
            </a:solidFill>
            <a:prstDash val="solid"/>
          </a:ln>
        </p:spPr>
      </p:sp>
      <p:sp>
        <p:nvSpPr>
          <p:cNvPr id="17" name="Shape 12"/>
          <p:cNvSpPr/>
          <p:nvPr/>
        </p:nvSpPr>
        <p:spPr>
          <a:xfrm>
            <a:off x="9738360" y="868680"/>
            <a:ext cx="603504" cy="347472"/>
          </a:xfrm>
          <a:prstGeom prst="roundRect">
            <a:avLst>
              <a:gd name="adj" fmla="val 15789"/>
            </a:avLst>
          </a:prstGeom>
          <a:solidFill>
            <a:srgbClr val="22305A"/>
          </a:solidFill>
          <a:ln w="12700">
            <a:solidFill>
              <a:srgbClr val="33436E"/>
            </a:solidFill>
            <a:prstDash val="solid"/>
          </a:ln>
        </p:spPr>
      </p:sp>
      <p:pic>
        <p:nvPicPr>
          <p:cNvPr id="18" name="Image 3" descr="preencoded.png">    </p:cNvPr>
          <p:cNvPicPr>
            <a:picLocks noChangeAspect="1"/>
          </p:cNvPicPr>
          <p:nvPr/>
        </p:nvPicPr>
        <p:blipFill>
          <a:blip r:embed="rId4"/>
          <a:stretch>
            <a:fillRect/>
          </a:stretch>
        </p:blipFill>
        <p:spPr>
          <a:xfrm>
            <a:off x="9811512" y="941832"/>
            <a:ext cx="201168" cy="201168"/>
          </a:xfrm>
          <a:prstGeom prst="rect">
            <a:avLst/>
          </a:prstGeom>
        </p:spPr>
      </p:pic>
      <p:sp>
        <p:nvSpPr>
          <p:cNvPr id="19" name="Shape 13"/>
          <p:cNvSpPr/>
          <p:nvPr/>
        </p:nvSpPr>
        <p:spPr>
          <a:xfrm>
            <a:off x="10067544" y="987552"/>
            <a:ext cx="201168" cy="36576"/>
          </a:xfrm>
          <a:prstGeom prst="rect">
            <a:avLst/>
          </a:prstGeom>
          <a:solidFill>
            <a:srgbClr val="5A6A93"/>
          </a:solidFill>
          <a:ln w="12700">
            <a:solidFill>
              <a:srgbClr val="5A6A93"/>
            </a:solidFill>
            <a:prstDash val="solid"/>
          </a:ln>
        </p:spPr>
      </p:sp>
      <p:sp>
        <p:nvSpPr>
          <p:cNvPr id="20" name="Shape 14"/>
          <p:cNvSpPr/>
          <p:nvPr/>
        </p:nvSpPr>
        <p:spPr>
          <a:xfrm>
            <a:off x="10067544" y="1069848"/>
            <a:ext cx="137160" cy="36576"/>
          </a:xfrm>
          <a:prstGeom prst="rect">
            <a:avLst/>
          </a:prstGeom>
          <a:solidFill>
            <a:srgbClr val="5A6A93"/>
          </a:solidFill>
          <a:ln w="12700">
            <a:solidFill>
              <a:srgbClr val="5A6A93"/>
            </a:solidFill>
            <a:prstDash val="solid"/>
          </a:ln>
        </p:spPr>
      </p:sp>
      <p:sp>
        <p:nvSpPr>
          <p:cNvPr id="21" name="Shape 15"/>
          <p:cNvSpPr/>
          <p:nvPr/>
        </p:nvSpPr>
        <p:spPr>
          <a:xfrm>
            <a:off x="10515600" y="658368"/>
            <a:ext cx="603504" cy="347472"/>
          </a:xfrm>
          <a:prstGeom prst="roundRect">
            <a:avLst>
              <a:gd name="adj" fmla="val 15789"/>
            </a:avLst>
          </a:prstGeom>
          <a:solidFill>
            <a:srgbClr val="22305A"/>
          </a:solidFill>
          <a:ln w="12700">
            <a:solidFill>
              <a:srgbClr val="33436E"/>
            </a:solidFill>
            <a:prstDash val="solid"/>
          </a:ln>
        </p:spPr>
      </p:sp>
      <p:pic>
        <p:nvPicPr>
          <p:cNvPr id="22" name="Image 4" descr="preencoded.png">    </p:cNvPr>
          <p:cNvPicPr>
            <a:picLocks noChangeAspect="1"/>
          </p:cNvPicPr>
          <p:nvPr/>
        </p:nvPicPr>
        <p:blipFill>
          <a:blip r:embed="rId5"/>
          <a:stretch>
            <a:fillRect/>
          </a:stretch>
        </p:blipFill>
        <p:spPr>
          <a:xfrm>
            <a:off x="10588752" y="731520"/>
            <a:ext cx="201168" cy="201168"/>
          </a:xfrm>
          <a:prstGeom prst="rect">
            <a:avLst/>
          </a:prstGeom>
        </p:spPr>
      </p:pic>
      <p:sp>
        <p:nvSpPr>
          <p:cNvPr id="23" name="Shape 16"/>
          <p:cNvSpPr/>
          <p:nvPr/>
        </p:nvSpPr>
        <p:spPr>
          <a:xfrm>
            <a:off x="10844784" y="777240"/>
            <a:ext cx="201168" cy="36576"/>
          </a:xfrm>
          <a:prstGeom prst="rect">
            <a:avLst/>
          </a:prstGeom>
          <a:solidFill>
            <a:srgbClr val="5A6A93"/>
          </a:solidFill>
          <a:ln w="12700">
            <a:solidFill>
              <a:srgbClr val="5A6A93"/>
            </a:solidFill>
            <a:prstDash val="solid"/>
          </a:ln>
        </p:spPr>
      </p:sp>
      <p:sp>
        <p:nvSpPr>
          <p:cNvPr id="24" name="Shape 17"/>
          <p:cNvSpPr/>
          <p:nvPr/>
        </p:nvSpPr>
        <p:spPr>
          <a:xfrm>
            <a:off x="10844784" y="859536"/>
            <a:ext cx="137160" cy="36576"/>
          </a:xfrm>
          <a:prstGeom prst="rect">
            <a:avLst/>
          </a:prstGeom>
          <a:solidFill>
            <a:srgbClr val="5A6A93"/>
          </a:solidFill>
          <a:ln w="12700">
            <a:solidFill>
              <a:srgbClr val="5A6A93"/>
            </a:solidFill>
            <a:prstDash val="solid"/>
          </a:ln>
        </p:spPr>
      </p:sp>
      <p:sp>
        <p:nvSpPr>
          <p:cNvPr id="25" name="Shape 18"/>
          <p:cNvSpPr/>
          <p:nvPr/>
        </p:nvSpPr>
        <p:spPr>
          <a:xfrm>
            <a:off x="7772400" y="1325880"/>
            <a:ext cx="603504" cy="347472"/>
          </a:xfrm>
          <a:prstGeom prst="roundRect">
            <a:avLst>
              <a:gd name="adj" fmla="val 15789"/>
            </a:avLst>
          </a:prstGeom>
          <a:solidFill>
            <a:srgbClr val="22305A"/>
          </a:solidFill>
          <a:ln w="12700">
            <a:solidFill>
              <a:srgbClr val="33436E"/>
            </a:solidFill>
            <a:prstDash val="solid"/>
          </a:ln>
        </p:spPr>
      </p:sp>
      <p:pic>
        <p:nvPicPr>
          <p:cNvPr id="26" name="Image 5" descr="preencoded.png">    </p:cNvPr>
          <p:cNvPicPr>
            <a:picLocks noChangeAspect="1"/>
          </p:cNvPicPr>
          <p:nvPr/>
        </p:nvPicPr>
        <p:blipFill>
          <a:blip r:embed="rId6"/>
          <a:stretch>
            <a:fillRect/>
          </a:stretch>
        </p:blipFill>
        <p:spPr>
          <a:xfrm>
            <a:off x="7845552" y="1399032"/>
            <a:ext cx="201168" cy="201168"/>
          </a:xfrm>
          <a:prstGeom prst="rect">
            <a:avLst/>
          </a:prstGeom>
        </p:spPr>
      </p:pic>
      <p:sp>
        <p:nvSpPr>
          <p:cNvPr id="27" name="Shape 19"/>
          <p:cNvSpPr/>
          <p:nvPr/>
        </p:nvSpPr>
        <p:spPr>
          <a:xfrm>
            <a:off x="8101584" y="1444752"/>
            <a:ext cx="201168" cy="36576"/>
          </a:xfrm>
          <a:prstGeom prst="rect">
            <a:avLst/>
          </a:prstGeom>
          <a:solidFill>
            <a:srgbClr val="5A6A93"/>
          </a:solidFill>
          <a:ln w="12700">
            <a:solidFill>
              <a:srgbClr val="5A6A93"/>
            </a:solidFill>
            <a:prstDash val="solid"/>
          </a:ln>
        </p:spPr>
      </p:sp>
      <p:sp>
        <p:nvSpPr>
          <p:cNvPr id="28" name="Shape 20"/>
          <p:cNvSpPr/>
          <p:nvPr/>
        </p:nvSpPr>
        <p:spPr>
          <a:xfrm>
            <a:off x="8101584" y="1527048"/>
            <a:ext cx="137160" cy="36576"/>
          </a:xfrm>
          <a:prstGeom prst="rect">
            <a:avLst/>
          </a:prstGeom>
          <a:solidFill>
            <a:srgbClr val="5A6A93"/>
          </a:solidFill>
          <a:ln w="12700">
            <a:solidFill>
              <a:srgbClr val="5A6A93"/>
            </a:solidFill>
            <a:prstDash val="solid"/>
          </a:ln>
        </p:spPr>
      </p:sp>
      <p:sp>
        <p:nvSpPr>
          <p:cNvPr id="29" name="Shape 21"/>
          <p:cNvSpPr/>
          <p:nvPr/>
        </p:nvSpPr>
        <p:spPr>
          <a:xfrm>
            <a:off x="8549640" y="1463040"/>
            <a:ext cx="603504" cy="347472"/>
          </a:xfrm>
          <a:prstGeom prst="roundRect">
            <a:avLst>
              <a:gd name="adj" fmla="val 15789"/>
            </a:avLst>
          </a:prstGeom>
          <a:solidFill>
            <a:srgbClr val="22305A"/>
          </a:solidFill>
          <a:ln w="12700">
            <a:solidFill>
              <a:srgbClr val="33436E"/>
            </a:solidFill>
            <a:prstDash val="solid"/>
          </a:ln>
        </p:spPr>
      </p:sp>
      <p:pic>
        <p:nvPicPr>
          <p:cNvPr id="30" name="Image 6" descr="preencoded.png">    </p:cNvPr>
          <p:cNvPicPr>
            <a:picLocks noChangeAspect="1"/>
          </p:cNvPicPr>
          <p:nvPr/>
        </p:nvPicPr>
        <p:blipFill>
          <a:blip r:embed="rId7"/>
          <a:stretch>
            <a:fillRect/>
          </a:stretch>
        </p:blipFill>
        <p:spPr>
          <a:xfrm>
            <a:off x="8622792" y="1536192"/>
            <a:ext cx="201168" cy="201168"/>
          </a:xfrm>
          <a:prstGeom prst="rect">
            <a:avLst/>
          </a:prstGeom>
        </p:spPr>
      </p:pic>
      <p:sp>
        <p:nvSpPr>
          <p:cNvPr id="31" name="Shape 22"/>
          <p:cNvSpPr/>
          <p:nvPr/>
        </p:nvSpPr>
        <p:spPr>
          <a:xfrm>
            <a:off x="8878824" y="1581912"/>
            <a:ext cx="201168" cy="36576"/>
          </a:xfrm>
          <a:prstGeom prst="rect">
            <a:avLst/>
          </a:prstGeom>
          <a:solidFill>
            <a:srgbClr val="5A6A93"/>
          </a:solidFill>
          <a:ln w="12700">
            <a:solidFill>
              <a:srgbClr val="5A6A93"/>
            </a:solidFill>
            <a:prstDash val="solid"/>
          </a:ln>
        </p:spPr>
      </p:sp>
      <p:sp>
        <p:nvSpPr>
          <p:cNvPr id="32" name="Shape 23"/>
          <p:cNvSpPr/>
          <p:nvPr/>
        </p:nvSpPr>
        <p:spPr>
          <a:xfrm>
            <a:off x="8878824" y="1664208"/>
            <a:ext cx="137160" cy="36576"/>
          </a:xfrm>
          <a:prstGeom prst="rect">
            <a:avLst/>
          </a:prstGeom>
          <a:solidFill>
            <a:srgbClr val="5A6A93"/>
          </a:solidFill>
          <a:ln w="12700">
            <a:solidFill>
              <a:srgbClr val="5A6A93"/>
            </a:solidFill>
            <a:prstDash val="solid"/>
          </a:ln>
        </p:spPr>
      </p:sp>
      <p:sp>
        <p:nvSpPr>
          <p:cNvPr id="33" name="Shape 24"/>
          <p:cNvSpPr/>
          <p:nvPr/>
        </p:nvSpPr>
        <p:spPr>
          <a:xfrm>
            <a:off x="9326880" y="1280160"/>
            <a:ext cx="603504" cy="347472"/>
          </a:xfrm>
          <a:prstGeom prst="roundRect">
            <a:avLst>
              <a:gd name="adj" fmla="val 15789"/>
            </a:avLst>
          </a:prstGeom>
          <a:solidFill>
            <a:srgbClr val="22305A"/>
          </a:solidFill>
          <a:ln w="12700">
            <a:solidFill>
              <a:srgbClr val="33436E"/>
            </a:solidFill>
            <a:prstDash val="solid"/>
          </a:ln>
        </p:spPr>
      </p:sp>
      <p:pic>
        <p:nvPicPr>
          <p:cNvPr id="34" name="Image 7" descr="preencoded.png">    </p:cNvPr>
          <p:cNvPicPr>
            <a:picLocks noChangeAspect="1"/>
          </p:cNvPicPr>
          <p:nvPr/>
        </p:nvPicPr>
        <p:blipFill>
          <a:blip r:embed="rId8"/>
          <a:stretch>
            <a:fillRect/>
          </a:stretch>
        </p:blipFill>
        <p:spPr>
          <a:xfrm>
            <a:off x="9400032" y="1353312"/>
            <a:ext cx="201168" cy="201168"/>
          </a:xfrm>
          <a:prstGeom prst="rect">
            <a:avLst/>
          </a:prstGeom>
        </p:spPr>
      </p:pic>
      <p:sp>
        <p:nvSpPr>
          <p:cNvPr id="35" name="Shape 25"/>
          <p:cNvSpPr/>
          <p:nvPr/>
        </p:nvSpPr>
        <p:spPr>
          <a:xfrm>
            <a:off x="9656064" y="1399032"/>
            <a:ext cx="201168" cy="36576"/>
          </a:xfrm>
          <a:prstGeom prst="rect">
            <a:avLst/>
          </a:prstGeom>
          <a:solidFill>
            <a:srgbClr val="5A6A93"/>
          </a:solidFill>
          <a:ln w="12700">
            <a:solidFill>
              <a:srgbClr val="5A6A93"/>
            </a:solidFill>
            <a:prstDash val="solid"/>
          </a:ln>
        </p:spPr>
      </p:sp>
      <p:sp>
        <p:nvSpPr>
          <p:cNvPr id="36" name="Shape 26"/>
          <p:cNvSpPr/>
          <p:nvPr/>
        </p:nvSpPr>
        <p:spPr>
          <a:xfrm>
            <a:off x="9656064" y="1481328"/>
            <a:ext cx="137160" cy="36576"/>
          </a:xfrm>
          <a:prstGeom prst="rect">
            <a:avLst/>
          </a:prstGeom>
          <a:solidFill>
            <a:srgbClr val="5A6A93"/>
          </a:solidFill>
          <a:ln w="12700">
            <a:solidFill>
              <a:srgbClr val="5A6A93"/>
            </a:solidFill>
            <a:prstDash val="solid"/>
          </a:ln>
        </p:spPr>
      </p:sp>
      <p:sp>
        <p:nvSpPr>
          <p:cNvPr id="37" name="Shape 27"/>
          <p:cNvSpPr/>
          <p:nvPr/>
        </p:nvSpPr>
        <p:spPr>
          <a:xfrm>
            <a:off x="10104120" y="1417320"/>
            <a:ext cx="603504" cy="347472"/>
          </a:xfrm>
          <a:prstGeom prst="roundRect">
            <a:avLst>
              <a:gd name="adj" fmla="val 15789"/>
            </a:avLst>
          </a:prstGeom>
          <a:solidFill>
            <a:srgbClr val="22305A"/>
          </a:solidFill>
          <a:ln w="12700">
            <a:solidFill>
              <a:srgbClr val="33436E"/>
            </a:solidFill>
            <a:prstDash val="solid"/>
          </a:ln>
        </p:spPr>
      </p:sp>
      <p:pic>
        <p:nvPicPr>
          <p:cNvPr id="38" name="Image 8" descr="preencoded.png">    </p:cNvPr>
          <p:cNvPicPr>
            <a:picLocks noChangeAspect="1"/>
          </p:cNvPicPr>
          <p:nvPr/>
        </p:nvPicPr>
        <p:blipFill>
          <a:blip r:embed="rId9"/>
          <a:stretch>
            <a:fillRect/>
          </a:stretch>
        </p:blipFill>
        <p:spPr>
          <a:xfrm>
            <a:off x="10177272" y="1490472"/>
            <a:ext cx="201168" cy="201168"/>
          </a:xfrm>
          <a:prstGeom prst="rect">
            <a:avLst/>
          </a:prstGeom>
        </p:spPr>
      </p:pic>
      <p:sp>
        <p:nvSpPr>
          <p:cNvPr id="39" name="Shape 28"/>
          <p:cNvSpPr/>
          <p:nvPr/>
        </p:nvSpPr>
        <p:spPr>
          <a:xfrm>
            <a:off x="10433304" y="1536192"/>
            <a:ext cx="201168" cy="36576"/>
          </a:xfrm>
          <a:prstGeom prst="rect">
            <a:avLst/>
          </a:prstGeom>
          <a:solidFill>
            <a:srgbClr val="5A6A93"/>
          </a:solidFill>
          <a:ln w="12700">
            <a:solidFill>
              <a:srgbClr val="5A6A93"/>
            </a:solidFill>
            <a:prstDash val="solid"/>
          </a:ln>
        </p:spPr>
      </p:sp>
      <p:sp>
        <p:nvSpPr>
          <p:cNvPr id="40" name="Shape 29"/>
          <p:cNvSpPr/>
          <p:nvPr/>
        </p:nvSpPr>
        <p:spPr>
          <a:xfrm>
            <a:off x="10433304" y="1618488"/>
            <a:ext cx="137160" cy="36576"/>
          </a:xfrm>
          <a:prstGeom prst="rect">
            <a:avLst/>
          </a:prstGeom>
          <a:solidFill>
            <a:srgbClr val="5A6A93"/>
          </a:solidFill>
          <a:ln w="12700">
            <a:solidFill>
              <a:srgbClr val="5A6A93"/>
            </a:solidFill>
            <a:prstDash val="solid"/>
          </a:ln>
        </p:spPr>
      </p:sp>
      <p:sp>
        <p:nvSpPr>
          <p:cNvPr id="41" name="Text 30"/>
          <p:cNvSpPr/>
          <p:nvPr/>
        </p:nvSpPr>
        <p:spPr>
          <a:xfrm>
            <a:off x="7223760" y="2194560"/>
            <a:ext cx="3931920" cy="640080"/>
          </a:xfrm>
          <a:prstGeom prst="roundRect">
            <a:avLst>
              <a:gd name="adj" fmla="val 14286"/>
            </a:avLst>
          </a:prstGeom>
          <a:solidFill>
            <a:srgbClr val="1F9E89"/>
          </a:solidFill>
          <a:ln>
            <a:solidFill>
              <a:srgbClr val="1F9E89"/>
            </a:solidFill>
          </a:ln>
        </p:spPr>
        <p:txBody>
          <a:bodyPr wrap="square" lIns="50800" tIns="50800" rIns="50800" bIns="508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Automated checks</a:t>
            </a:r>
            <a:endParaRPr lang="en-US" sz="1500" dirty="0"/>
          </a:p>
        </p:txBody>
      </p:sp>
      <p:sp>
        <p:nvSpPr>
          <p:cNvPr id="42" name="Text 31"/>
          <p:cNvSpPr/>
          <p:nvPr/>
        </p:nvSpPr>
        <p:spPr>
          <a:xfrm>
            <a:off x="7772400" y="2971800"/>
            <a:ext cx="2834640" cy="640080"/>
          </a:xfrm>
          <a:prstGeom prst="roundRect">
            <a:avLst>
              <a:gd name="adj" fmla="val 14286"/>
            </a:avLst>
          </a:prstGeom>
          <a:solidFill>
            <a:srgbClr val="4F5BD5"/>
          </a:solidFill>
          <a:ln>
            <a:solidFill>
              <a:srgbClr val="4F5BD5"/>
            </a:solidFill>
          </a:ln>
        </p:spPr>
        <p:txBody>
          <a:bodyPr wrap="square" lIns="50800" tIns="50800" rIns="50800" bIns="508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Automated review</a:t>
            </a:r>
            <a:endParaRPr lang="en-US" sz="1500" dirty="0"/>
          </a:p>
        </p:txBody>
      </p:sp>
      <p:sp>
        <p:nvSpPr>
          <p:cNvPr id="43" name="Text 32"/>
          <p:cNvSpPr/>
          <p:nvPr/>
        </p:nvSpPr>
        <p:spPr>
          <a:xfrm>
            <a:off x="8321040" y="3749040"/>
            <a:ext cx="1737360" cy="640080"/>
          </a:xfrm>
          <a:prstGeom prst="roundRect">
            <a:avLst>
              <a:gd name="adj" fmla="val 14286"/>
            </a:avLst>
          </a:prstGeom>
          <a:solidFill>
            <a:srgbClr val="F26B38"/>
          </a:solidFill>
          <a:ln>
            <a:solidFill>
              <a:srgbClr val="F26B38"/>
            </a:solidFill>
          </a:ln>
        </p:spPr>
        <p:txBody>
          <a:bodyPr wrap="square" lIns="50800" tIns="50800" rIns="50800" bIns="5080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Human review</a:t>
            </a:r>
            <a:endParaRPr lang="en-US" sz="1500" dirty="0"/>
          </a:p>
        </p:txBody>
      </p:sp>
      <p:sp>
        <p:nvSpPr>
          <p:cNvPr id="44" name="Shape 33"/>
          <p:cNvSpPr/>
          <p:nvPr/>
        </p:nvSpPr>
        <p:spPr>
          <a:xfrm>
            <a:off x="8942832" y="4572000"/>
            <a:ext cx="493776" cy="493776"/>
          </a:xfrm>
          <a:prstGeom prst="ellipse">
            <a:avLst/>
          </a:prstGeom>
          <a:solidFill>
            <a:srgbClr val="2E9E5B"/>
          </a:solidFill>
          <a:ln w="12700">
            <a:solidFill>
              <a:srgbClr val="2E9E5B"/>
            </a:solidFill>
            <a:prstDash val="solid"/>
          </a:ln>
        </p:spPr>
      </p:sp>
      <p:pic>
        <p:nvPicPr>
          <p:cNvPr id="45" name="Image 9" descr="preencoded.png">    </p:cNvPr>
          <p:cNvPicPr>
            <a:picLocks noChangeAspect="1"/>
          </p:cNvPicPr>
          <p:nvPr/>
        </p:nvPicPr>
        <p:blipFill>
          <a:blip r:embed="rId10"/>
          <a:stretch>
            <a:fillRect/>
          </a:stretch>
        </p:blipFill>
        <p:spPr>
          <a:xfrm>
            <a:off x="9061338" y="4690506"/>
            <a:ext cx="256764" cy="256764"/>
          </a:xfrm>
          <a:prstGeom prst="rect">
            <a:avLst/>
          </a:prstGeom>
        </p:spPr>
      </p:pic>
      <p:sp>
        <p:nvSpPr>
          <p:cNvPr id="46" name="Text 34"/>
          <p:cNvSpPr txBox="1"/>
          <p:nvPr/>
        </p:nvSpPr>
        <p:spPr>
          <a:xfrm>
            <a:off x="8549640" y="5138928"/>
            <a:ext cx="1280160" cy="274320"/>
          </a:xfrm>
          <a:prstGeom prst="rect">
            <a:avLst/>
          </a:prstGeom>
          <a:noFill/>
          <a:ln/>
        </p:spPr>
        <p:txBody>
          <a:bodyPr wrap="square" lIns="0" tIns="0" rIns="0" bIns="0" rtlCol="0" anchor="t"/>
          <a:lstStyle/>
          <a:p>
            <a:pPr algn="ctr" indent="0" marL="0">
              <a:buNone/>
            </a:pPr>
            <a:r>
              <a:rPr lang="en-US" sz="1200" dirty="0">
                <a:solidFill>
                  <a:srgbClr val="C9D2E3"/>
                </a:solidFill>
                <a:latin typeface="Arial" pitchFamily="34" charset="0"/>
                <a:ea typeface="Arial" pitchFamily="34" charset="-122"/>
                <a:cs typeface="Arial" pitchFamily="34" charset="-120"/>
              </a:rPr>
              <a:t>merged</a:t>
            </a:r>
            <a:endParaRPr lang="en-US" sz="1200" dirty="0"/>
          </a:p>
        </p:txBody>
      </p:sp>
      <p:sp>
        <p:nvSpPr>
          <p:cNvPr id="47" name="Text 35"/>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7F8BA8"/>
                </a:solidFill>
                <a:latin typeface="Arial" pitchFamily="34" charset="0"/>
                <a:ea typeface="Arial" pitchFamily="34" charset="-122"/>
                <a:cs typeface="Arial" pitchFamily="34" charset="-120"/>
              </a:rPr>
              <a:t>Source: Matt Pocock, 'Fixing the PR bottleneck', AI Engineer Paris 2026</a:t>
            </a:r>
            <a:endParaRPr lang="en-US" sz="900" dirty="0"/>
          </a:p>
        </p:txBody>
      </p:sp>
      <p:sp>
        <p:nvSpPr>
          <p:cNvPr id="48" name="Text 36"/>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7F8BA8"/>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9184"/>
            <a:ext cx="1089965" cy="274320"/>
          </a:xfrm>
          <a:prstGeom prst="roundRect">
            <a:avLst>
              <a:gd name="adj" fmla="val 50000"/>
            </a:avLst>
          </a:prstGeom>
          <a:solidFill>
            <a:srgbClr val="14213D"/>
          </a:solidFill>
          <a:ln>
            <a:solidFill>
              <a:srgbClr val="14213D"/>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THE FLOW</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The flow, and what each part gives us</a:t>
            </a:r>
            <a:endParaRPr lang="en-US" sz="2800" dirty="0"/>
          </a:p>
        </p:txBody>
      </p:sp>
      <p:sp>
        <p:nvSpPr>
          <p:cNvPr id="4" name="Text 2"/>
          <p:cNvSpPr/>
          <p:nvPr/>
        </p:nvSpPr>
        <p:spPr>
          <a:xfrm>
            <a:off x="1210666" y="1600200"/>
            <a:ext cx="1847088" cy="566928"/>
          </a:xfrm>
          <a:prstGeom prst="roundRect">
            <a:avLst>
              <a:gd name="adj" fmla="val 12903"/>
            </a:avLst>
          </a:prstGeom>
          <a:solidFill>
            <a:srgbClr val="7C4DDB"/>
          </a:solidFill>
          <a:ln>
            <a:solidFill>
              <a:srgbClr val="7C4DDB"/>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/grill-with-docs</a:t>
            </a:r>
            <a:endParaRPr lang="en-US" sz="1250" dirty="0"/>
          </a:p>
        </p:txBody>
      </p:sp>
      <p:sp>
        <p:nvSpPr>
          <p:cNvPr id="5" name="Shape 3"/>
          <p:cNvSpPr/>
          <p:nvPr/>
        </p:nvSpPr>
        <p:spPr>
          <a:xfrm>
            <a:off x="3121762" y="1883664"/>
            <a:ext cx="256032" cy="0"/>
          </a:xfrm>
          <a:prstGeom prst="line">
            <a:avLst/>
          </a:prstGeom>
          <a:noFill/>
          <a:ln w="19050">
            <a:solidFill>
              <a:srgbClr val="8D99B3"/>
            </a:solidFill>
            <a:prstDash val="solid"/>
            <a:tailEnd type="triangle"/>
          </a:ln>
        </p:spPr>
      </p:sp>
      <p:sp>
        <p:nvSpPr>
          <p:cNvPr id="6" name="Text 4"/>
          <p:cNvSpPr/>
          <p:nvPr/>
        </p:nvSpPr>
        <p:spPr>
          <a:xfrm>
            <a:off x="3441802" y="1600200"/>
            <a:ext cx="1078992" cy="566928"/>
          </a:xfrm>
          <a:prstGeom prst="roundRect">
            <a:avLst>
              <a:gd name="adj" fmla="val 12903"/>
            </a:avLst>
          </a:prstGeom>
          <a:solidFill>
            <a:srgbClr val="F26B38"/>
          </a:solidFill>
          <a:ln>
            <a:solidFill>
              <a:srgbClr val="F26B38"/>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/to-spec</a:t>
            </a:r>
            <a:endParaRPr lang="en-US" sz="1250" dirty="0"/>
          </a:p>
        </p:txBody>
      </p:sp>
      <p:sp>
        <p:nvSpPr>
          <p:cNvPr id="7" name="Shape 5"/>
          <p:cNvSpPr/>
          <p:nvPr/>
        </p:nvSpPr>
        <p:spPr>
          <a:xfrm>
            <a:off x="4584802" y="1883664"/>
            <a:ext cx="256032" cy="0"/>
          </a:xfrm>
          <a:prstGeom prst="line">
            <a:avLst/>
          </a:prstGeom>
          <a:noFill/>
          <a:ln w="19050">
            <a:solidFill>
              <a:srgbClr val="8D99B3"/>
            </a:solidFill>
            <a:prstDash val="solid"/>
            <a:tailEnd type="triangle"/>
          </a:ln>
        </p:spPr>
      </p:sp>
      <p:sp>
        <p:nvSpPr>
          <p:cNvPr id="8" name="Text 6"/>
          <p:cNvSpPr/>
          <p:nvPr/>
        </p:nvSpPr>
        <p:spPr>
          <a:xfrm>
            <a:off x="4904842" y="1600200"/>
            <a:ext cx="1367028" cy="566928"/>
          </a:xfrm>
          <a:prstGeom prst="roundRect">
            <a:avLst>
              <a:gd name="adj" fmla="val 12903"/>
            </a:avLst>
          </a:prstGeom>
          <a:solidFill>
            <a:srgbClr val="F26B38"/>
          </a:solidFill>
          <a:ln>
            <a:solidFill>
              <a:srgbClr val="F26B38"/>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/to-tickets</a:t>
            </a:r>
            <a:endParaRPr lang="en-US" sz="1250" dirty="0"/>
          </a:p>
        </p:txBody>
      </p:sp>
      <p:sp>
        <p:nvSpPr>
          <p:cNvPr id="9" name="Shape 7"/>
          <p:cNvSpPr/>
          <p:nvPr/>
        </p:nvSpPr>
        <p:spPr>
          <a:xfrm>
            <a:off x="6335878" y="1883664"/>
            <a:ext cx="256032" cy="0"/>
          </a:xfrm>
          <a:prstGeom prst="line">
            <a:avLst/>
          </a:prstGeom>
          <a:noFill/>
          <a:ln w="19050">
            <a:solidFill>
              <a:srgbClr val="8D99B3"/>
            </a:solidFill>
            <a:prstDash val="solid"/>
            <a:tailEnd type="triangle"/>
          </a:ln>
        </p:spPr>
      </p:sp>
      <p:sp>
        <p:nvSpPr>
          <p:cNvPr id="10" name="Text 8"/>
          <p:cNvSpPr/>
          <p:nvPr/>
        </p:nvSpPr>
        <p:spPr>
          <a:xfrm>
            <a:off x="6655918" y="1600200"/>
            <a:ext cx="1271016" cy="566928"/>
          </a:xfrm>
          <a:prstGeom prst="roundRect">
            <a:avLst>
              <a:gd name="adj" fmla="val 12903"/>
            </a:avLst>
          </a:prstGeom>
          <a:solidFill>
            <a:srgbClr val="1F9E89"/>
          </a:solidFill>
          <a:ln>
            <a:solidFill>
              <a:srgbClr val="1F9E89"/>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/implement</a:t>
            </a:r>
            <a:endParaRPr lang="en-US" sz="1250" dirty="0"/>
          </a:p>
        </p:txBody>
      </p:sp>
      <p:sp>
        <p:nvSpPr>
          <p:cNvPr id="11" name="Shape 9"/>
          <p:cNvSpPr/>
          <p:nvPr/>
        </p:nvSpPr>
        <p:spPr>
          <a:xfrm>
            <a:off x="7990942" y="1883664"/>
            <a:ext cx="256032" cy="0"/>
          </a:xfrm>
          <a:prstGeom prst="line">
            <a:avLst/>
          </a:prstGeom>
          <a:noFill/>
          <a:ln w="19050">
            <a:solidFill>
              <a:srgbClr val="8D99B3"/>
            </a:solidFill>
            <a:prstDash val="solid"/>
            <a:tailEnd type="triangle"/>
          </a:ln>
        </p:spPr>
      </p:sp>
      <p:sp>
        <p:nvSpPr>
          <p:cNvPr id="12" name="Text 10"/>
          <p:cNvSpPr/>
          <p:nvPr/>
        </p:nvSpPr>
        <p:spPr>
          <a:xfrm>
            <a:off x="8310982" y="1600200"/>
            <a:ext cx="1463040" cy="566928"/>
          </a:xfrm>
          <a:prstGeom prst="roundRect">
            <a:avLst>
              <a:gd name="adj" fmla="val 12903"/>
            </a:avLst>
          </a:prstGeom>
          <a:solidFill>
            <a:srgbClr val="4F5BD5"/>
          </a:solidFill>
          <a:ln>
            <a:solidFill>
              <a:srgbClr val="4F5BD5"/>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/code-review</a:t>
            </a:r>
            <a:endParaRPr lang="en-US" sz="1250" dirty="0"/>
          </a:p>
        </p:txBody>
      </p:sp>
      <p:sp>
        <p:nvSpPr>
          <p:cNvPr id="13" name="Shape 11"/>
          <p:cNvSpPr/>
          <p:nvPr/>
        </p:nvSpPr>
        <p:spPr>
          <a:xfrm>
            <a:off x="9838030" y="1883664"/>
            <a:ext cx="256032" cy="0"/>
          </a:xfrm>
          <a:prstGeom prst="line">
            <a:avLst/>
          </a:prstGeom>
          <a:noFill/>
          <a:ln w="19050">
            <a:solidFill>
              <a:srgbClr val="8D99B3"/>
            </a:solidFill>
            <a:prstDash val="solid"/>
            <a:tailEnd type="triangle"/>
          </a:ln>
        </p:spPr>
      </p:sp>
      <p:sp>
        <p:nvSpPr>
          <p:cNvPr id="14" name="Text 12"/>
          <p:cNvSpPr/>
          <p:nvPr/>
        </p:nvSpPr>
        <p:spPr>
          <a:xfrm>
            <a:off x="10158070" y="1600200"/>
            <a:ext cx="822960" cy="566928"/>
          </a:xfrm>
          <a:prstGeom prst="roundRect">
            <a:avLst>
              <a:gd name="adj" fmla="val 12903"/>
            </a:avLst>
          </a:prstGeom>
          <a:solidFill>
            <a:srgbClr val="4F5BD5"/>
          </a:solidFill>
          <a:ln>
            <a:solidFill>
              <a:srgbClr val="4F5BD5"/>
            </a:solidFill>
          </a:ln>
        </p:spPr>
        <p:txBody>
          <a:bodyPr wrap="square" lIns="25400" tIns="25400" rIns="25400" bIns="2540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merge</a:t>
            </a:r>
            <a:endParaRPr lang="en-US" sz="1250" dirty="0"/>
          </a:p>
        </p:txBody>
      </p:sp>
      <p:sp>
        <p:nvSpPr>
          <p:cNvPr id="15" name="Shape 13"/>
          <p:cNvSpPr/>
          <p:nvPr/>
        </p:nvSpPr>
        <p:spPr>
          <a:xfrm>
            <a:off x="548640" y="2514600"/>
            <a:ext cx="2697480" cy="2331720"/>
          </a:xfrm>
          <a:prstGeom prst="roundRect">
            <a:avLst>
              <a:gd name="adj" fmla="val 3922"/>
            </a:avLst>
          </a:prstGeom>
          <a:solidFill>
            <a:srgbClr val="EEE7FE"/>
          </a:solidFill>
          <a:ln w="12700">
            <a:solidFill>
              <a:srgbClr val="EEE7FE"/>
            </a:solidFill>
            <a:prstDash val="solid"/>
          </a:ln>
        </p:spPr>
      </p:sp>
      <p:sp>
        <p:nvSpPr>
          <p:cNvPr id="16" name="Text 14"/>
          <p:cNvSpPr txBox="1"/>
          <p:nvPr/>
        </p:nvSpPr>
        <p:spPr>
          <a:xfrm>
            <a:off x="749808" y="2670048"/>
            <a:ext cx="2331720" cy="365760"/>
          </a:xfrm>
          <a:prstGeom prst="rect">
            <a:avLst/>
          </a:prstGeom>
          <a:noFill/>
          <a:ln/>
        </p:spPr>
        <p:txBody>
          <a:bodyPr wrap="square" lIns="0" tIns="0" rIns="0" bIns="0" rtlCol="0" anchor="t"/>
          <a:lstStyle/>
          <a:p>
            <a:pPr indent="0" marL="0">
              <a:buNone/>
            </a:pPr>
            <a:r>
              <a:rPr lang="en-US" sz="1600" b="1" dirty="0">
                <a:solidFill>
                  <a:srgbClr val="7C4DDB"/>
                </a:solidFill>
                <a:latin typeface="Arial" pitchFamily="34" charset="0"/>
                <a:ea typeface="Arial" pitchFamily="34" charset="-122"/>
                <a:cs typeface="Arial" pitchFamily="34" charset="-120"/>
              </a:rPr>
              <a:t>Shared knowledge</a:t>
            </a:r>
            <a:endParaRPr lang="en-US" sz="1600" dirty="0"/>
          </a:p>
        </p:txBody>
      </p:sp>
      <p:sp>
        <p:nvSpPr>
          <p:cNvPr id="17" name="Text 15"/>
          <p:cNvSpPr txBox="1"/>
          <p:nvPr/>
        </p:nvSpPr>
        <p:spPr>
          <a:xfrm>
            <a:off x="749808" y="3054096"/>
            <a:ext cx="2331720" cy="502920"/>
          </a:xfrm>
          <a:prstGeom prst="rect">
            <a:avLst/>
          </a:prstGeom>
          <a:noFill/>
          <a:ln/>
        </p:spPr>
        <p:txBody>
          <a:bodyPr wrap="square" lIns="0" tIns="0" rIns="0" bIns="0" rtlCol="0" anchor="t"/>
          <a:lstStyle/>
          <a:p>
            <a:pPr indent="0" marL="0">
              <a:buNone/>
            </a:pPr>
            <a:r>
              <a:rPr lang="en-US" sz="1050" b="1" dirty="0">
                <a:solidFill>
                  <a:srgbClr val="4A5468"/>
                </a:solidFill>
                <a:latin typeface="Courier New" pitchFamily="34" charset="0"/>
                <a:ea typeface="Courier New" pitchFamily="34" charset="-122"/>
                <a:cs typeface="Courier New" pitchFamily="34" charset="-120"/>
              </a:rPr>
              <a:t>/grill-with-docs, steering files</a:t>
            </a:r>
            <a:endParaRPr lang="en-US" sz="1050" dirty="0"/>
          </a:p>
        </p:txBody>
      </p:sp>
      <p:sp>
        <p:nvSpPr>
          <p:cNvPr id="18" name="Text 16"/>
          <p:cNvSpPr txBox="1"/>
          <p:nvPr/>
        </p:nvSpPr>
        <p:spPr>
          <a:xfrm>
            <a:off x="749808" y="3611880"/>
            <a:ext cx="2331720" cy="109728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What one developer learns, every agent knows.</a:t>
            </a:r>
            <a:endParaRPr lang="en-US" sz="1400" dirty="0"/>
          </a:p>
        </p:txBody>
      </p:sp>
      <p:sp>
        <p:nvSpPr>
          <p:cNvPr id="19" name="Shape 17"/>
          <p:cNvSpPr/>
          <p:nvPr/>
        </p:nvSpPr>
        <p:spPr>
          <a:xfrm>
            <a:off x="3364992" y="2514600"/>
            <a:ext cx="2697480" cy="2331720"/>
          </a:xfrm>
          <a:prstGeom prst="roundRect">
            <a:avLst>
              <a:gd name="adj" fmla="val 3922"/>
            </a:avLst>
          </a:prstGeom>
          <a:solidFill>
            <a:srgbClr val="FDE7DD"/>
          </a:solidFill>
          <a:ln w="12700">
            <a:solidFill>
              <a:srgbClr val="FDE7DD"/>
            </a:solidFill>
            <a:prstDash val="solid"/>
          </a:ln>
        </p:spPr>
      </p:sp>
      <p:sp>
        <p:nvSpPr>
          <p:cNvPr id="20" name="Text 18"/>
          <p:cNvSpPr txBox="1"/>
          <p:nvPr/>
        </p:nvSpPr>
        <p:spPr>
          <a:xfrm>
            <a:off x="3566160" y="2670048"/>
            <a:ext cx="2331720" cy="365760"/>
          </a:xfrm>
          <a:prstGeom prst="rect">
            <a:avLst/>
          </a:prstGeom>
          <a:noFill/>
          <a:ln/>
        </p:spPr>
        <p:txBody>
          <a:bodyPr wrap="square" lIns="0" tIns="0" rIns="0" bIns="0" rtlCol="0" anchor="t"/>
          <a:lstStyle/>
          <a:p>
            <a:pPr indent="0" marL="0">
              <a:buNone/>
            </a:pPr>
            <a:r>
              <a:rPr lang="en-US" sz="1600" b="1" dirty="0">
                <a:solidFill>
                  <a:srgbClr val="F26B38"/>
                </a:solidFill>
                <a:latin typeface="Arial" pitchFamily="34" charset="0"/>
                <a:ea typeface="Arial" pitchFamily="34" charset="-122"/>
                <a:cs typeface="Arial" pitchFamily="34" charset="-120"/>
              </a:rPr>
              <a:t>Automation</a:t>
            </a:r>
            <a:endParaRPr lang="en-US" sz="1600" dirty="0"/>
          </a:p>
        </p:txBody>
      </p:sp>
      <p:sp>
        <p:nvSpPr>
          <p:cNvPr id="21" name="Text 19"/>
          <p:cNvSpPr txBox="1"/>
          <p:nvPr/>
        </p:nvSpPr>
        <p:spPr>
          <a:xfrm>
            <a:off x="3566160" y="3054096"/>
            <a:ext cx="2331720" cy="502920"/>
          </a:xfrm>
          <a:prstGeom prst="rect">
            <a:avLst/>
          </a:prstGeom>
          <a:noFill/>
          <a:ln/>
        </p:spPr>
        <p:txBody>
          <a:bodyPr wrap="square" lIns="0" tIns="0" rIns="0" bIns="0" rtlCol="0" anchor="t"/>
          <a:lstStyle/>
          <a:p>
            <a:pPr indent="0" marL="0">
              <a:buNone/>
            </a:pPr>
            <a:r>
              <a:rPr lang="en-US" sz="1050" b="1" dirty="0">
                <a:solidFill>
                  <a:srgbClr val="4A5468"/>
                </a:solidFill>
                <a:latin typeface="Courier New" pitchFamily="34" charset="0"/>
                <a:ea typeface="Courier New" pitchFamily="34" charset="-122"/>
                <a:cs typeface="Courier New" pitchFamily="34" charset="-120"/>
              </a:rPr>
              <a:t>/to-spec, /to-tickets, triage labels</a:t>
            </a:r>
            <a:endParaRPr lang="en-US" sz="1050" dirty="0"/>
          </a:p>
        </p:txBody>
      </p:sp>
      <p:sp>
        <p:nvSpPr>
          <p:cNvPr id="22" name="Text 20"/>
          <p:cNvSpPr txBox="1"/>
          <p:nvPr/>
        </p:nvSpPr>
        <p:spPr>
          <a:xfrm>
            <a:off x="3566160" y="3611880"/>
            <a:ext cx="2331720" cy="109728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Agents take work on their own; people keep what needs judgment.</a:t>
            </a:r>
            <a:endParaRPr lang="en-US" sz="1400" dirty="0"/>
          </a:p>
        </p:txBody>
      </p:sp>
      <p:sp>
        <p:nvSpPr>
          <p:cNvPr id="23" name="Shape 21"/>
          <p:cNvSpPr/>
          <p:nvPr/>
        </p:nvSpPr>
        <p:spPr>
          <a:xfrm>
            <a:off x="6181344" y="2514600"/>
            <a:ext cx="2697480" cy="2331720"/>
          </a:xfrm>
          <a:prstGeom prst="roundRect">
            <a:avLst>
              <a:gd name="adj" fmla="val 3922"/>
            </a:avLst>
          </a:prstGeom>
          <a:solidFill>
            <a:srgbClr val="DDF2EE"/>
          </a:solidFill>
          <a:ln w="12700">
            <a:solidFill>
              <a:srgbClr val="DDF2EE"/>
            </a:solidFill>
            <a:prstDash val="solid"/>
          </a:ln>
        </p:spPr>
      </p:sp>
      <p:sp>
        <p:nvSpPr>
          <p:cNvPr id="24" name="Text 22"/>
          <p:cNvSpPr txBox="1"/>
          <p:nvPr/>
        </p:nvSpPr>
        <p:spPr>
          <a:xfrm>
            <a:off x="6382512" y="2670048"/>
            <a:ext cx="2331720" cy="365760"/>
          </a:xfrm>
          <a:prstGeom prst="rect">
            <a:avLst/>
          </a:prstGeom>
          <a:noFill/>
          <a:ln/>
        </p:spPr>
        <p:txBody>
          <a:bodyPr wrap="square" lIns="0" tIns="0" rIns="0" bIns="0" rtlCol="0" anchor="t"/>
          <a:lstStyle/>
          <a:p>
            <a:pPr indent="0" marL="0">
              <a:buNone/>
            </a:pPr>
            <a:r>
              <a:rPr lang="en-US" sz="1600" b="1" dirty="0">
                <a:solidFill>
                  <a:srgbClr val="1F9E89"/>
                </a:solidFill>
                <a:latin typeface="Arial" pitchFamily="34" charset="0"/>
                <a:ea typeface="Arial" pitchFamily="34" charset="-122"/>
                <a:cs typeface="Arial" pitchFamily="34" charset="-120"/>
              </a:rPr>
              <a:t>Honest tests</a:t>
            </a:r>
            <a:endParaRPr lang="en-US" sz="1600" dirty="0"/>
          </a:p>
        </p:txBody>
      </p:sp>
      <p:sp>
        <p:nvSpPr>
          <p:cNvPr id="25" name="Text 23"/>
          <p:cNvSpPr txBox="1"/>
          <p:nvPr/>
        </p:nvSpPr>
        <p:spPr>
          <a:xfrm>
            <a:off x="6382512" y="3054096"/>
            <a:ext cx="2331720" cy="502920"/>
          </a:xfrm>
          <a:prstGeom prst="rect">
            <a:avLst/>
          </a:prstGeom>
          <a:noFill/>
          <a:ln/>
        </p:spPr>
        <p:txBody>
          <a:bodyPr wrap="square" lIns="0" tIns="0" rIns="0" bIns="0" rtlCol="0" anchor="t"/>
          <a:lstStyle/>
          <a:p>
            <a:pPr indent="0" marL="0">
              <a:buNone/>
            </a:pPr>
            <a:r>
              <a:rPr lang="en-US" sz="1050" b="1" dirty="0">
                <a:solidFill>
                  <a:srgbClr val="4A5468"/>
                </a:solidFill>
                <a:latin typeface="Courier New" pitchFamily="34" charset="0"/>
                <a:ea typeface="Courier New" pitchFamily="34" charset="-122"/>
                <a:cs typeface="Courier New" pitchFamily="34" charset="-120"/>
              </a:rPr>
              <a:t>/implement, /improve-codebase-architecture</a:t>
            </a:r>
            <a:endParaRPr lang="en-US" sz="1050" dirty="0"/>
          </a:p>
        </p:txBody>
      </p:sp>
      <p:sp>
        <p:nvSpPr>
          <p:cNvPr id="26" name="Text 24"/>
          <p:cNvSpPr txBox="1"/>
          <p:nvPr/>
        </p:nvSpPr>
        <p:spPr>
          <a:xfrm>
            <a:off x="6382512" y="3611880"/>
            <a:ext cx="2331720" cy="109728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Tests pin behaviour, so modules stay free to change.</a:t>
            </a:r>
            <a:endParaRPr lang="en-US" sz="1400" dirty="0"/>
          </a:p>
        </p:txBody>
      </p:sp>
      <p:sp>
        <p:nvSpPr>
          <p:cNvPr id="27" name="Shape 25"/>
          <p:cNvSpPr/>
          <p:nvPr/>
        </p:nvSpPr>
        <p:spPr>
          <a:xfrm>
            <a:off x="8997696" y="2514600"/>
            <a:ext cx="2697480" cy="2331720"/>
          </a:xfrm>
          <a:prstGeom prst="roundRect">
            <a:avLst>
              <a:gd name="adj" fmla="val 3922"/>
            </a:avLst>
          </a:prstGeom>
          <a:solidFill>
            <a:srgbClr val="E4E7FB"/>
          </a:solidFill>
          <a:ln w="12700">
            <a:solidFill>
              <a:srgbClr val="E4E7FB"/>
            </a:solidFill>
            <a:prstDash val="solid"/>
          </a:ln>
        </p:spPr>
      </p:sp>
      <p:sp>
        <p:nvSpPr>
          <p:cNvPr id="28" name="Text 26"/>
          <p:cNvSpPr txBox="1"/>
          <p:nvPr/>
        </p:nvSpPr>
        <p:spPr>
          <a:xfrm>
            <a:off x="9198864" y="2670048"/>
            <a:ext cx="2331720" cy="365760"/>
          </a:xfrm>
          <a:prstGeom prst="rect">
            <a:avLst/>
          </a:prstGeom>
          <a:noFill/>
          <a:ln/>
        </p:spPr>
        <p:txBody>
          <a:bodyPr wrap="square" lIns="0" tIns="0" rIns="0" bIns="0" rtlCol="0" anchor="t"/>
          <a:lstStyle/>
          <a:p>
            <a:pPr indent="0" marL="0">
              <a:buNone/>
            </a:pPr>
            <a:r>
              <a:rPr lang="en-US" sz="1600" b="1" dirty="0">
                <a:solidFill>
                  <a:srgbClr val="4F5BD5"/>
                </a:solidFill>
                <a:latin typeface="Arial" pitchFamily="34" charset="0"/>
                <a:ea typeface="Arial" pitchFamily="34" charset="-122"/>
                <a:cs typeface="Arial" pitchFamily="34" charset="-120"/>
              </a:rPr>
              <a:t>One standard</a:t>
            </a:r>
            <a:endParaRPr lang="en-US" sz="1600" dirty="0"/>
          </a:p>
        </p:txBody>
      </p:sp>
      <p:sp>
        <p:nvSpPr>
          <p:cNvPr id="29" name="Text 27"/>
          <p:cNvSpPr txBox="1"/>
          <p:nvPr/>
        </p:nvSpPr>
        <p:spPr>
          <a:xfrm>
            <a:off x="9198864" y="3054096"/>
            <a:ext cx="2331720" cy="502920"/>
          </a:xfrm>
          <a:prstGeom prst="rect">
            <a:avLst/>
          </a:prstGeom>
          <a:noFill/>
          <a:ln/>
        </p:spPr>
        <p:txBody>
          <a:bodyPr wrap="square" lIns="0" tIns="0" rIns="0" bIns="0" rtlCol="0" anchor="t"/>
          <a:lstStyle/>
          <a:p>
            <a:pPr indent="0" marL="0">
              <a:buNone/>
            </a:pPr>
            <a:r>
              <a:rPr lang="en-US" sz="1050" b="1" dirty="0">
                <a:solidFill>
                  <a:srgbClr val="4A5468"/>
                </a:solidFill>
                <a:latin typeface="Courier New" pitchFamily="34" charset="0"/>
                <a:ea typeface="Courier New" pitchFamily="34" charset="-122"/>
                <a:cs typeface="Courier New" pitchFamily="34" charset="-120"/>
              </a:rPr>
              <a:t>/code-review, push hook, merge rules</a:t>
            </a:r>
            <a:endParaRPr lang="en-US" sz="1050" dirty="0"/>
          </a:p>
        </p:txBody>
      </p:sp>
      <p:sp>
        <p:nvSpPr>
          <p:cNvPr id="30" name="Text 28"/>
          <p:cNvSpPr txBox="1"/>
          <p:nvPr/>
        </p:nvSpPr>
        <p:spPr>
          <a:xfrm>
            <a:off x="9198864" y="3611880"/>
            <a:ext cx="2331720" cy="1097280"/>
          </a:xfrm>
          <a:prstGeom prst="rect">
            <a:avLst/>
          </a:prstGeom>
          <a:noFill/>
          <a:ln/>
        </p:spPr>
        <p:txBody>
          <a:bodyPr wrap="square" lIns="0" tIns="0" rIns="0" bIns="0" rtlCol="0" anchor="t"/>
          <a:lstStyle/>
          <a:p>
            <a:pPr indent="0" marL="0">
              <a:buNone/>
            </a:pPr>
            <a:r>
              <a:rPr lang="en-US" sz="1400" b="1" dirty="0">
                <a:solidFill>
                  <a:srgbClr val="14213D"/>
                </a:solidFill>
                <a:latin typeface="Arial" pitchFamily="34" charset="0"/>
                <a:ea typeface="Arial" pitchFamily="34" charset="-122"/>
                <a:cs typeface="Arial" pitchFamily="34" charset="-120"/>
              </a:rPr>
              <a:t>Every PR is judged by the same rules.</a:t>
            </a:r>
            <a:endParaRPr lang="en-US" sz="1400" dirty="0"/>
          </a:p>
        </p:txBody>
      </p:sp>
      <p:sp>
        <p:nvSpPr>
          <p:cNvPr id="31" name="Shape 29"/>
          <p:cNvSpPr/>
          <p:nvPr/>
        </p:nvSpPr>
        <p:spPr>
          <a:xfrm>
            <a:off x="548640" y="5074920"/>
            <a:ext cx="5486400" cy="1097280"/>
          </a:xfrm>
          <a:prstGeom prst="roundRect">
            <a:avLst>
              <a:gd name="adj" fmla="val 8333"/>
            </a:avLst>
          </a:prstGeom>
          <a:solidFill>
            <a:srgbClr val="F1F4F9"/>
          </a:solidFill>
          <a:ln w="12700">
            <a:solidFill>
              <a:srgbClr val="F1F4F9"/>
            </a:solidFill>
            <a:prstDash val="solid"/>
          </a:ln>
        </p:spPr>
      </p:sp>
      <p:sp>
        <p:nvSpPr>
          <p:cNvPr id="32" name="Shape 30"/>
          <p:cNvSpPr/>
          <p:nvPr/>
        </p:nvSpPr>
        <p:spPr>
          <a:xfrm>
            <a:off x="749808" y="5349240"/>
            <a:ext cx="548640" cy="548640"/>
          </a:xfrm>
          <a:prstGeom prst="ellipse">
            <a:avLst/>
          </a:prstGeom>
          <a:solidFill>
            <a:srgbClr val="1F9E89"/>
          </a:solidFill>
          <a:ln w="12700">
            <a:solidFill>
              <a:srgbClr val="1F9E89"/>
            </a:solidFill>
            <a:prstDash val="solid"/>
          </a:ln>
        </p:spPr>
      </p:sp>
      <p:pic>
        <p:nvPicPr>
          <p:cNvPr id="33" name="Image 0" descr="preencoded.png">    </p:cNvPr>
          <p:cNvPicPr>
            <a:picLocks noChangeAspect="1"/>
          </p:cNvPicPr>
          <p:nvPr/>
        </p:nvPicPr>
        <p:blipFill>
          <a:blip r:embed="rId1"/>
          <a:stretch>
            <a:fillRect/>
          </a:stretch>
        </p:blipFill>
        <p:spPr>
          <a:xfrm>
            <a:off x="881482" y="5480914"/>
            <a:ext cx="285293" cy="285293"/>
          </a:xfrm>
          <a:prstGeom prst="rect">
            <a:avLst/>
          </a:prstGeom>
        </p:spPr>
      </p:pic>
      <p:sp>
        <p:nvSpPr>
          <p:cNvPr id="34" name="Text 31"/>
          <p:cNvSpPr txBox="1"/>
          <p:nvPr/>
        </p:nvSpPr>
        <p:spPr>
          <a:xfrm>
            <a:off x="1463040" y="5074920"/>
            <a:ext cx="4434840" cy="1097280"/>
          </a:xfrm>
          <a:prstGeom prst="rect">
            <a:avLst/>
          </a:prstGeom>
          <a:noFill/>
          <a:ln/>
        </p:spPr>
        <p:txBody>
          <a:bodyPr wrap="square" lIns="0" tIns="0" rIns="0" bIns="0" rtlCol="0" anchor="ctr"/>
          <a:lstStyle/>
          <a:p>
            <a:pPr indent="0" marL="0">
              <a:buNone/>
            </a:pPr>
            <a:r>
              <a:rPr lang="en-US" sz="1250" b="1" dirty="0">
                <a:solidFill>
                  <a:srgbClr val="14213D"/>
                </a:solidFill>
                <a:latin typeface="Arial" pitchFamily="34" charset="0"/>
                <a:ea typeface="Arial" pitchFamily="34" charset="-122"/>
                <a:cs typeface="Arial" pitchFamily="34" charset="-120"/>
              </a:rPr>
              <a:t>Alongside: </a:t>
            </a:r>
            <a:pPr indent="0" marL="0">
              <a:buNone/>
            </a:pPr>
            <a:r>
              <a:rPr lang="en-US" sz="1250" b="1" dirty="0">
                <a:solidFill>
                  <a:srgbClr val="1F9E89"/>
                </a:solidFill>
                <a:latin typeface="Courier New" pitchFamily="34" charset="0"/>
                <a:ea typeface="Courier New" pitchFamily="34" charset="-122"/>
                <a:cs typeface="Courier New" pitchFamily="34" charset="-120"/>
              </a:rPr>
              <a:t>/improve-codebase-architecture</a:t>
            </a:r>
            <a:pPr indent="0" marL="0">
              <a:buNone/>
            </a:pPr>
            <a:r>
              <a:rPr lang="en-US" sz="1250" dirty="0">
                <a:solidFill>
                  <a:srgbClr val="14213D"/>
                </a:solidFill>
                <a:latin typeface="Arial" pitchFamily="34" charset="0"/>
                <a:ea typeface="Arial" pitchFamily="34" charset="-122"/>
                <a:cs typeface="Arial" pitchFamily="34" charset="-120"/>
              </a:rPr>
              <a:t> deepens one module at a time. A hook reminds the team when no review ran for a while.</a:t>
            </a:r>
            <a:endParaRPr lang="en-US" sz="1250" dirty="0"/>
          </a:p>
        </p:txBody>
      </p:sp>
      <p:sp>
        <p:nvSpPr>
          <p:cNvPr id="35" name="Shape 32"/>
          <p:cNvSpPr/>
          <p:nvPr/>
        </p:nvSpPr>
        <p:spPr>
          <a:xfrm>
            <a:off x="6153912" y="5074920"/>
            <a:ext cx="5486400" cy="1097280"/>
          </a:xfrm>
          <a:prstGeom prst="roundRect">
            <a:avLst>
              <a:gd name="adj" fmla="val 8333"/>
            </a:avLst>
          </a:prstGeom>
          <a:solidFill>
            <a:srgbClr val="FFFFFF"/>
          </a:solidFill>
          <a:ln w="19050">
            <a:solidFill>
              <a:srgbClr val="7C4DDB"/>
            </a:solidFill>
            <a:prstDash val="dash"/>
          </a:ln>
        </p:spPr>
      </p:sp>
      <p:sp>
        <p:nvSpPr>
          <p:cNvPr id="36" name="Shape 33"/>
          <p:cNvSpPr/>
          <p:nvPr/>
        </p:nvSpPr>
        <p:spPr>
          <a:xfrm>
            <a:off x="6355080" y="5349240"/>
            <a:ext cx="548640" cy="548640"/>
          </a:xfrm>
          <a:prstGeom prst="ellipse">
            <a:avLst/>
          </a:prstGeom>
          <a:solidFill>
            <a:srgbClr val="7C4DDB"/>
          </a:solidFill>
          <a:ln w="12700">
            <a:solidFill>
              <a:srgbClr val="7C4DDB"/>
            </a:solidFill>
            <a:prstDash val="solid"/>
          </a:ln>
        </p:spPr>
      </p:sp>
      <p:pic>
        <p:nvPicPr>
          <p:cNvPr id="37" name="Image 1" descr="preencoded.png">    </p:cNvPr>
          <p:cNvPicPr>
            <a:picLocks noChangeAspect="1"/>
          </p:cNvPicPr>
          <p:nvPr/>
        </p:nvPicPr>
        <p:blipFill>
          <a:blip r:embed="rId2"/>
          <a:stretch>
            <a:fillRect/>
          </a:stretch>
        </p:blipFill>
        <p:spPr>
          <a:xfrm>
            <a:off x="6486754" y="5480914"/>
            <a:ext cx="285293" cy="285293"/>
          </a:xfrm>
          <a:prstGeom prst="rect">
            <a:avLst/>
          </a:prstGeom>
        </p:spPr>
      </p:pic>
      <p:sp>
        <p:nvSpPr>
          <p:cNvPr id="38" name="Text 34"/>
          <p:cNvSpPr txBox="1"/>
          <p:nvPr/>
        </p:nvSpPr>
        <p:spPr>
          <a:xfrm>
            <a:off x="7068312" y="5074920"/>
            <a:ext cx="4434840" cy="1097280"/>
          </a:xfrm>
          <a:prstGeom prst="rect">
            <a:avLst/>
          </a:prstGeom>
          <a:noFill/>
          <a:ln/>
        </p:spPr>
        <p:txBody>
          <a:bodyPr wrap="square" lIns="0" tIns="0" rIns="0" bIns="0" rtlCol="0" anchor="ctr"/>
          <a:lstStyle/>
          <a:p>
            <a:pPr indent="0" marL="0">
              <a:buNone/>
            </a:pPr>
            <a:r>
              <a:rPr lang="en-US" sz="1250" b="1" dirty="0">
                <a:solidFill>
                  <a:srgbClr val="14213D"/>
                </a:solidFill>
                <a:latin typeface="Arial" pitchFamily="34" charset="0"/>
                <a:ea typeface="Arial" pitchFamily="34" charset="-122"/>
                <a:cs typeface="Arial" pitchFamily="34" charset="-120"/>
              </a:rPr>
              <a:t>Next: </a:t>
            </a:r>
            <a:pPr indent="0" marL="0">
              <a:buNone/>
            </a:pPr>
            <a:r>
              <a:rPr lang="en-US" sz="1250" b="1" dirty="0">
                <a:solidFill>
                  <a:srgbClr val="7C4DDB"/>
                </a:solidFill>
                <a:latin typeface="Courier New" pitchFamily="34" charset="0"/>
                <a:ea typeface="Courier New" pitchFamily="34" charset="-122"/>
                <a:cs typeface="Courier New" pitchFamily="34" charset="-120"/>
              </a:rPr>
              <a:t>/retro</a:t>
            </a:r>
            <a:pPr indent="0" marL="0">
              <a:buNone/>
            </a:pPr>
            <a:r>
              <a:rPr lang="en-US" sz="1250" dirty="0">
                <a:solidFill>
                  <a:srgbClr val="14213D"/>
                </a:solidFill>
                <a:latin typeface="Arial" pitchFamily="34" charset="0"/>
                <a:ea typeface="Arial" pitchFamily="34" charset="-122"/>
                <a:cs typeface="Arial" pitchFamily="34" charset="-120"/>
              </a:rPr>
              <a:t> turns fixes we repeat by hand into checks and rules. In beta at Pocock today.</a:t>
            </a:r>
            <a:endParaRPr lang="en-US" sz="1250" dirty="0"/>
          </a:p>
        </p:txBody>
      </p:sp>
      <p:sp>
        <p:nvSpPr>
          <p:cNvPr id="39" name="Text 35"/>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Sources: obra/superpowers v6.4.2 (2026-09-25), mattpocock/skills v1.2.3, agent-ready main (2026-09-27)</a:t>
            </a:r>
            <a:endParaRPr lang="en-US" sz="900" dirty="0"/>
          </a:p>
        </p:txBody>
      </p:sp>
      <p:sp>
        <p:nvSpPr>
          <p:cNvPr id="40" name="Text 36"/>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9184"/>
            <a:ext cx="1850746" cy="274320"/>
          </a:xfrm>
          <a:prstGeom prst="roundRect">
            <a:avLst>
              <a:gd name="adj" fmla="val 50000"/>
            </a:avLst>
          </a:prstGeom>
          <a:solidFill>
            <a:srgbClr val="7C4DDB"/>
          </a:solidFill>
          <a:ln>
            <a:solidFill>
              <a:srgbClr val="7C4DDB"/>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SHARED KNOWLEDGE</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Knowledge the whole team shares</a:t>
            </a:r>
            <a:endParaRPr lang="en-US" sz="2800" dirty="0"/>
          </a:p>
        </p:txBody>
      </p:sp>
      <p:sp>
        <p:nvSpPr>
          <p:cNvPr id="4" name="Shape 2"/>
          <p:cNvSpPr/>
          <p:nvPr/>
        </p:nvSpPr>
        <p:spPr>
          <a:xfrm>
            <a:off x="548640" y="1572768"/>
            <a:ext cx="6400800" cy="2011680"/>
          </a:xfrm>
          <a:prstGeom prst="roundRect">
            <a:avLst>
              <a:gd name="adj" fmla="val 4545"/>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777240" y="1773936"/>
            <a:ext cx="1847088" cy="457200"/>
          </a:xfrm>
          <a:prstGeom prst="roundRect">
            <a:avLst>
              <a:gd name="adj" fmla="val 16000"/>
            </a:avLst>
          </a:prstGeom>
          <a:solidFill>
            <a:srgbClr val="7C4DDB"/>
          </a:solidFill>
          <a:ln>
            <a:solidFill>
              <a:srgbClr val="7C4DDB"/>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/grill-with-docs</a:t>
            </a:r>
            <a:endParaRPr lang="en-US" sz="1250" dirty="0"/>
          </a:p>
        </p:txBody>
      </p:sp>
      <p:sp>
        <p:nvSpPr>
          <p:cNvPr id="6" name="Text 4"/>
          <p:cNvSpPr txBox="1"/>
          <p:nvPr/>
        </p:nvSpPr>
        <p:spPr>
          <a:xfrm>
            <a:off x="777240" y="2322576"/>
            <a:ext cx="5943600" cy="1143000"/>
          </a:xfrm>
          <a:prstGeom prst="rect">
            <a:avLst/>
          </a:prstGeom>
          <a:noFill/>
          <a:ln/>
        </p:spPr>
        <p:txBody>
          <a:bodyPr wrap="square" lIns="0" tIns="0" rIns="0" bIns="0" rtlCol="0" anchor="t"/>
          <a:lstStyle/>
          <a:p>
            <a:pPr indent="0" marL="0">
              <a:buNone/>
            </a:pPr>
            <a:r>
              <a:rPr lang="en-US" sz="1400" dirty="0">
                <a:solidFill>
                  <a:srgbClr val="14213D"/>
                </a:solidFill>
                <a:latin typeface="Arial" pitchFamily="34" charset="0"/>
                <a:ea typeface="Arial" pitchFamily="34" charset="-122"/>
                <a:cs typeface="Arial" pitchFamily="34" charset="-120"/>
              </a:rPr>
              <a:t>Interviews you about an idea until it is sharp. New domain words go into CONTEXT.md, hard decisions into docs/adr/. Every later session reads both.</a:t>
            </a:r>
            <a:endParaRPr lang="en-US" sz="1400" dirty="0"/>
          </a:p>
        </p:txBody>
      </p:sp>
      <p:sp>
        <p:nvSpPr>
          <p:cNvPr id="7" name="Shape 5"/>
          <p:cNvSpPr/>
          <p:nvPr/>
        </p:nvSpPr>
        <p:spPr>
          <a:xfrm>
            <a:off x="548640" y="3721608"/>
            <a:ext cx="6400800" cy="2011680"/>
          </a:xfrm>
          <a:prstGeom prst="roundRect">
            <a:avLst>
              <a:gd name="adj" fmla="val 4545"/>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8" name="Text 6"/>
          <p:cNvSpPr/>
          <p:nvPr/>
        </p:nvSpPr>
        <p:spPr>
          <a:xfrm>
            <a:off x="777240" y="3922776"/>
            <a:ext cx="1399032" cy="457200"/>
          </a:xfrm>
          <a:prstGeom prst="roundRect">
            <a:avLst>
              <a:gd name="adj" fmla="val 16000"/>
            </a:avLst>
          </a:prstGeom>
          <a:solidFill>
            <a:srgbClr val="7C4DDB"/>
          </a:solidFill>
          <a:ln>
            <a:solidFill>
              <a:srgbClr val="7C4DDB"/>
            </a:solidFill>
          </a:ln>
        </p:spPr>
        <p:txBody>
          <a:bodyPr wrap="square" lIns="25400" tIns="25400" rIns="25400" bIns="2540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steering files</a:t>
            </a:r>
            <a:endParaRPr lang="en-US" sz="1250" dirty="0"/>
          </a:p>
        </p:txBody>
      </p:sp>
      <p:sp>
        <p:nvSpPr>
          <p:cNvPr id="9" name="Text 7"/>
          <p:cNvSpPr txBox="1"/>
          <p:nvPr/>
        </p:nvSpPr>
        <p:spPr>
          <a:xfrm>
            <a:off x="777240" y="4471416"/>
            <a:ext cx="5943600" cy="1143000"/>
          </a:xfrm>
          <a:prstGeom prst="rect">
            <a:avLst/>
          </a:prstGeom>
          <a:noFill/>
          <a:ln/>
        </p:spPr>
        <p:txBody>
          <a:bodyPr wrap="square" lIns="0" tIns="0" rIns="0" bIns="0" rtlCol="0" anchor="t"/>
          <a:lstStyle/>
          <a:p>
            <a:pPr indent="0" marL="0">
              <a:buNone/>
            </a:pPr>
            <a:r>
              <a:rPr lang="en-US" sz="1400" dirty="0">
                <a:solidFill>
                  <a:srgbClr val="14213D"/>
                </a:solidFill>
                <a:latin typeface="Arial" pitchFamily="34" charset="0"/>
                <a:ea typeface="Arial" pitchFamily="34" charset="-122"/>
                <a:cs typeface="Arial" pitchFamily="34" charset="-120"/>
              </a:rPr>
              <a:t>AGENTS.md, CODING_STANDARDS.md and the skills live in the repo. Every change to them is a PR that we discuss, and a human merges it. A hook stops agents from merging it.</a:t>
            </a:r>
            <a:endParaRPr lang="en-US" sz="1400" dirty="0"/>
          </a:p>
        </p:txBody>
      </p:sp>
      <p:sp>
        <p:nvSpPr>
          <p:cNvPr id="10" name="Shape 8"/>
          <p:cNvSpPr/>
          <p:nvPr/>
        </p:nvSpPr>
        <p:spPr>
          <a:xfrm>
            <a:off x="7178040" y="1572768"/>
            <a:ext cx="4462272" cy="2651760"/>
          </a:xfrm>
          <a:prstGeom prst="roundRect">
            <a:avLst>
              <a:gd name="adj" fmla="val 3448"/>
            </a:avLst>
          </a:prstGeom>
          <a:solidFill>
            <a:srgbClr val="7C4DDB"/>
          </a:solidFill>
          <a:ln w="12700">
            <a:solidFill>
              <a:srgbClr val="7C4DDB"/>
            </a:solidFill>
            <a:prstDash val="solid"/>
          </a:ln>
        </p:spPr>
      </p:sp>
      <p:sp>
        <p:nvSpPr>
          <p:cNvPr id="11" name="Text 9"/>
          <p:cNvSpPr txBox="1"/>
          <p:nvPr/>
        </p:nvSpPr>
        <p:spPr>
          <a:xfrm>
            <a:off x="7406640" y="1755648"/>
            <a:ext cx="4023360" cy="274320"/>
          </a:xfrm>
          <a:prstGeom prst="rect">
            <a:avLst/>
          </a:prstGeom>
          <a:noFill/>
          <a:ln/>
        </p:spPr>
        <p:txBody>
          <a:bodyPr wrap="square" lIns="0" tIns="0" rIns="0" bIns="0" rtlCol="0" anchor="t"/>
          <a:lstStyle/>
          <a:p>
            <a:pPr indent="0" marL="0">
              <a:buNone/>
            </a:pPr>
            <a:r>
              <a:rPr lang="en-US" sz="1100" b="1" spc="150" kern="0" dirty="0">
                <a:solidFill>
                  <a:srgbClr val="FFFFFF"/>
                </a:solidFill>
                <a:latin typeface="Arial" pitchFamily="34" charset="0"/>
                <a:ea typeface="Arial" pitchFamily="34" charset="-122"/>
                <a:cs typeface="Arial" pitchFamily="34" charset="-120"/>
              </a:rPr>
              <a:t>WHAT WE GET</a:t>
            </a:r>
            <a:endParaRPr lang="en-US" sz="1100" dirty="0"/>
          </a:p>
        </p:txBody>
      </p:sp>
      <p:sp>
        <p:nvSpPr>
          <p:cNvPr id="12" name="Text 10"/>
          <p:cNvSpPr txBox="1"/>
          <p:nvPr/>
        </p:nvSpPr>
        <p:spPr>
          <a:xfrm>
            <a:off x="7406640" y="2103120"/>
            <a:ext cx="4023360" cy="19659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What one developer learns, every agent knows.</a:t>
            </a:r>
            <a:endParaRPr lang="en-US" sz="2200" dirty="0"/>
          </a:p>
        </p:txBody>
      </p:sp>
      <p:sp>
        <p:nvSpPr>
          <p:cNvPr id="13" name="Shape 11"/>
          <p:cNvSpPr/>
          <p:nvPr/>
        </p:nvSpPr>
        <p:spPr>
          <a:xfrm>
            <a:off x="7178040" y="4361688"/>
            <a:ext cx="4462272" cy="1810512"/>
          </a:xfrm>
          <a:prstGeom prst="roundRect">
            <a:avLst>
              <a:gd name="adj" fmla="val 5051"/>
            </a:avLst>
          </a:prstGeom>
          <a:solidFill>
            <a:srgbClr val="F1F4F9"/>
          </a:solidFill>
          <a:ln w="12700">
            <a:solidFill>
              <a:srgbClr val="F1F4F9"/>
            </a:solidFill>
            <a:prstDash val="solid"/>
          </a:ln>
        </p:spPr>
      </p:sp>
      <p:sp>
        <p:nvSpPr>
          <p:cNvPr id="14" name="Text 12"/>
          <p:cNvSpPr txBox="1"/>
          <p:nvPr/>
        </p:nvSpPr>
        <p:spPr>
          <a:xfrm>
            <a:off x="7406640" y="4526280"/>
            <a:ext cx="4023360" cy="274320"/>
          </a:xfrm>
          <a:prstGeom prst="rect">
            <a:avLst/>
          </a:prstGeom>
          <a:noFill/>
          <a:ln/>
        </p:spPr>
        <p:txBody>
          <a:bodyPr wrap="square" lIns="0" tIns="0" rIns="0" bIns="0" rtlCol="0" anchor="t"/>
          <a:lstStyle/>
          <a:p>
            <a:pPr indent="0" marL="0">
              <a:buNone/>
            </a:pPr>
            <a:r>
              <a:rPr lang="en-US" sz="1100" b="1" spc="150" kern="0" dirty="0">
                <a:solidFill>
                  <a:srgbClr val="8D99B3"/>
                </a:solidFill>
                <a:latin typeface="Arial" pitchFamily="34" charset="0"/>
                <a:ea typeface="Arial" pitchFamily="34" charset="-122"/>
                <a:cs typeface="Arial" pitchFamily="34" charset="-120"/>
              </a:rPr>
              <a:t>WITH SUPERPOWERS TODAY</a:t>
            </a:r>
            <a:endParaRPr lang="en-US" sz="1100" dirty="0"/>
          </a:p>
        </p:txBody>
      </p:sp>
      <p:sp>
        <p:nvSpPr>
          <p:cNvPr id="15" name="Text 13"/>
          <p:cNvSpPr txBox="1"/>
          <p:nvPr/>
        </p:nvSpPr>
        <p:spPr>
          <a:xfrm>
            <a:off x="7406640" y="4846320"/>
            <a:ext cx="4023360" cy="1234440"/>
          </a:xfrm>
          <a:prstGeom prst="rect">
            <a:avLst/>
          </a:prstGeom>
          <a:noFill/>
          <a:ln/>
        </p:spPr>
        <p:txBody>
          <a:bodyPr wrap="square" lIns="0" tIns="0" rIns="0" bIns="0" rtlCol="0" anchor="t"/>
          <a:lstStyle/>
          <a:p>
            <a:pPr indent="0" marL="0">
              <a:buNone/>
            </a:pPr>
            <a:r>
              <a:rPr lang="en-US" sz="1350" dirty="0">
                <a:solidFill>
                  <a:srgbClr val="4A5468"/>
                </a:solidFill>
                <a:latin typeface="Arial" pitchFamily="34" charset="0"/>
                <a:ea typeface="Arial" pitchFamily="34" charset="-122"/>
                <a:cs typeface="Arial" pitchFamily="34" charset="-120"/>
              </a:rPr>
              <a:t>Process and conventions sit in each person's plugin and personal setup. A plugin update changes how agents work, and nobody sees a diff.</a:t>
            </a:r>
            <a:endParaRPr lang="en-US" sz="1350" dirty="0"/>
          </a:p>
        </p:txBody>
      </p:sp>
      <p:sp>
        <p:nvSpPr>
          <p:cNvPr id="16" name="Text 14"/>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Sources: obra/superpowers v6.4.2 (2026-09-25), mattpocock/skills v1.2.3, agent-ready main (2026-09-27)</a:t>
            </a:r>
            <a:endParaRPr lang="en-US" sz="900" dirty="0"/>
          </a:p>
        </p:txBody>
      </p:sp>
      <p:sp>
        <p:nvSpPr>
          <p:cNvPr id="17" name="Text 15"/>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9184"/>
            <a:ext cx="1280160" cy="274320"/>
          </a:xfrm>
          <a:prstGeom prst="roundRect">
            <a:avLst>
              <a:gd name="adj" fmla="val 50000"/>
            </a:avLst>
          </a:prstGeom>
          <a:solidFill>
            <a:srgbClr val="F26B38"/>
          </a:solidFill>
          <a:ln>
            <a:solidFill>
              <a:srgbClr val="F26B38"/>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AUTOMATION</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Agents take work on their own</a:t>
            </a:r>
            <a:endParaRPr lang="en-US" sz="2800" dirty="0"/>
          </a:p>
        </p:txBody>
      </p:sp>
      <p:sp>
        <p:nvSpPr>
          <p:cNvPr id="4" name="Shape 2"/>
          <p:cNvSpPr/>
          <p:nvPr/>
        </p:nvSpPr>
        <p:spPr>
          <a:xfrm>
            <a:off x="548640" y="1572768"/>
            <a:ext cx="6400800" cy="1371600"/>
          </a:xfrm>
          <a:prstGeom prst="roundRect">
            <a:avLst>
              <a:gd name="adj" fmla="val 6667"/>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777240" y="1773936"/>
            <a:ext cx="1078992" cy="457200"/>
          </a:xfrm>
          <a:prstGeom prst="roundRect">
            <a:avLst>
              <a:gd name="adj" fmla="val 16000"/>
            </a:avLst>
          </a:prstGeom>
          <a:solidFill>
            <a:srgbClr val="F26B38"/>
          </a:solidFill>
          <a:ln>
            <a:solidFill>
              <a:srgbClr val="F26B38"/>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/to-spec</a:t>
            </a:r>
            <a:endParaRPr lang="en-US" sz="1250" dirty="0"/>
          </a:p>
        </p:txBody>
      </p:sp>
      <p:sp>
        <p:nvSpPr>
          <p:cNvPr id="6" name="Text 4"/>
          <p:cNvSpPr txBox="1"/>
          <p:nvPr/>
        </p:nvSpPr>
        <p:spPr>
          <a:xfrm>
            <a:off x="777240" y="2322576"/>
            <a:ext cx="5943600" cy="502920"/>
          </a:xfrm>
          <a:prstGeom prst="rect">
            <a:avLst/>
          </a:prstGeom>
          <a:noFill/>
          <a:ln/>
        </p:spPr>
        <p:txBody>
          <a:bodyPr wrap="square" lIns="0" tIns="0" rIns="0" bIns="0" rtlCol="0" anchor="t"/>
          <a:lstStyle/>
          <a:p>
            <a:pPr indent="0" marL="0">
              <a:buNone/>
            </a:pPr>
            <a:r>
              <a:rPr lang="en-US" sz="1400" dirty="0">
                <a:solidFill>
                  <a:srgbClr val="14213D"/>
                </a:solidFill>
                <a:latin typeface="Arial" pitchFamily="34" charset="0"/>
                <a:ea typeface="Arial" pitchFamily="34" charset="-122"/>
                <a:cs typeface="Arial" pitchFamily="34" charset="-120"/>
              </a:rPr>
              <a:t>Turns the grilled idea into a spec, filed as an issue.</a:t>
            </a:r>
            <a:endParaRPr lang="en-US" sz="1400" dirty="0"/>
          </a:p>
        </p:txBody>
      </p:sp>
      <p:sp>
        <p:nvSpPr>
          <p:cNvPr id="7" name="Shape 5"/>
          <p:cNvSpPr/>
          <p:nvPr/>
        </p:nvSpPr>
        <p:spPr>
          <a:xfrm>
            <a:off x="548640" y="3081528"/>
            <a:ext cx="6400800" cy="1371600"/>
          </a:xfrm>
          <a:prstGeom prst="roundRect">
            <a:avLst>
              <a:gd name="adj" fmla="val 6667"/>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8" name="Text 6"/>
          <p:cNvSpPr/>
          <p:nvPr/>
        </p:nvSpPr>
        <p:spPr>
          <a:xfrm>
            <a:off x="777240" y="3282696"/>
            <a:ext cx="1367028" cy="457200"/>
          </a:xfrm>
          <a:prstGeom prst="roundRect">
            <a:avLst>
              <a:gd name="adj" fmla="val 16000"/>
            </a:avLst>
          </a:prstGeom>
          <a:solidFill>
            <a:srgbClr val="F26B38"/>
          </a:solidFill>
          <a:ln>
            <a:solidFill>
              <a:srgbClr val="F26B38"/>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/to-tickets</a:t>
            </a:r>
            <a:endParaRPr lang="en-US" sz="1250" dirty="0"/>
          </a:p>
        </p:txBody>
      </p:sp>
      <p:sp>
        <p:nvSpPr>
          <p:cNvPr id="9" name="Text 7"/>
          <p:cNvSpPr txBox="1"/>
          <p:nvPr/>
        </p:nvSpPr>
        <p:spPr>
          <a:xfrm>
            <a:off x="777240" y="3831336"/>
            <a:ext cx="5943600" cy="502920"/>
          </a:xfrm>
          <a:prstGeom prst="rect">
            <a:avLst/>
          </a:prstGeom>
          <a:noFill/>
          <a:ln/>
        </p:spPr>
        <p:txBody>
          <a:bodyPr wrap="square" lIns="0" tIns="0" rIns="0" bIns="0" rtlCol="0" anchor="t"/>
          <a:lstStyle/>
          <a:p>
            <a:pPr indent="0" marL="0">
              <a:buNone/>
            </a:pPr>
            <a:r>
              <a:rPr lang="en-US" sz="1400" dirty="0">
                <a:solidFill>
                  <a:srgbClr val="14213D"/>
                </a:solidFill>
                <a:latin typeface="Arial" pitchFamily="34" charset="0"/>
                <a:ea typeface="Arial" pitchFamily="34" charset="-122"/>
                <a:cs typeface="Arial" pitchFamily="34" charset="-120"/>
              </a:rPr>
              <a:t>Cuts the spec into tickets one agent session can finish, each labelled ready-for-agent or ready-for-human.</a:t>
            </a:r>
            <a:endParaRPr lang="en-US" sz="1400" dirty="0"/>
          </a:p>
        </p:txBody>
      </p:sp>
      <p:sp>
        <p:nvSpPr>
          <p:cNvPr id="10" name="Shape 8"/>
          <p:cNvSpPr/>
          <p:nvPr/>
        </p:nvSpPr>
        <p:spPr>
          <a:xfrm>
            <a:off x="548640" y="4590288"/>
            <a:ext cx="6400800" cy="1371600"/>
          </a:xfrm>
          <a:prstGeom prst="roundRect">
            <a:avLst>
              <a:gd name="adj" fmla="val 6667"/>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11" name="Text 9"/>
          <p:cNvSpPr/>
          <p:nvPr/>
        </p:nvSpPr>
        <p:spPr>
          <a:xfrm>
            <a:off x="777240" y="4791456"/>
            <a:ext cx="982980" cy="457200"/>
          </a:xfrm>
          <a:prstGeom prst="roundRect">
            <a:avLst>
              <a:gd name="adj" fmla="val 16000"/>
            </a:avLst>
          </a:prstGeom>
          <a:solidFill>
            <a:srgbClr val="F26B38"/>
          </a:solidFill>
          <a:ln>
            <a:solidFill>
              <a:srgbClr val="F26B38"/>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/triage</a:t>
            </a:r>
            <a:endParaRPr lang="en-US" sz="1250" dirty="0"/>
          </a:p>
        </p:txBody>
      </p:sp>
      <p:sp>
        <p:nvSpPr>
          <p:cNvPr id="12" name="Text 10"/>
          <p:cNvSpPr txBox="1"/>
          <p:nvPr/>
        </p:nvSpPr>
        <p:spPr>
          <a:xfrm>
            <a:off x="777240" y="5340096"/>
            <a:ext cx="5943600" cy="502920"/>
          </a:xfrm>
          <a:prstGeom prst="rect">
            <a:avLst/>
          </a:prstGeom>
          <a:noFill/>
          <a:ln/>
        </p:spPr>
        <p:txBody>
          <a:bodyPr wrap="square" lIns="0" tIns="0" rIns="0" bIns="0" rtlCol="0" anchor="t"/>
          <a:lstStyle/>
          <a:p>
            <a:pPr indent="0" marL="0">
              <a:buNone/>
            </a:pPr>
            <a:r>
              <a:rPr lang="en-US" sz="1400" dirty="0">
                <a:solidFill>
                  <a:srgbClr val="14213D"/>
                </a:solidFill>
                <a:latin typeface="Arial" pitchFamily="34" charset="0"/>
                <a:ea typeface="Arial" pitchFamily="34" charset="-122"/>
                <a:cs typeface="Arial" pitchFamily="34" charset="-120"/>
              </a:rPr>
              <a:t>Sorts incoming issues into the same labels, the same in every repo.</a:t>
            </a:r>
            <a:endParaRPr lang="en-US" sz="1400" dirty="0"/>
          </a:p>
        </p:txBody>
      </p:sp>
      <p:sp>
        <p:nvSpPr>
          <p:cNvPr id="13" name="Shape 11"/>
          <p:cNvSpPr/>
          <p:nvPr/>
        </p:nvSpPr>
        <p:spPr>
          <a:xfrm>
            <a:off x="7178040" y="1572768"/>
            <a:ext cx="4462272" cy="2651760"/>
          </a:xfrm>
          <a:prstGeom prst="roundRect">
            <a:avLst>
              <a:gd name="adj" fmla="val 3448"/>
            </a:avLst>
          </a:prstGeom>
          <a:solidFill>
            <a:srgbClr val="F26B38"/>
          </a:solidFill>
          <a:ln w="12700">
            <a:solidFill>
              <a:srgbClr val="F26B38"/>
            </a:solidFill>
            <a:prstDash val="solid"/>
          </a:ln>
        </p:spPr>
      </p:sp>
      <p:sp>
        <p:nvSpPr>
          <p:cNvPr id="14" name="Text 12"/>
          <p:cNvSpPr txBox="1"/>
          <p:nvPr/>
        </p:nvSpPr>
        <p:spPr>
          <a:xfrm>
            <a:off x="7406640" y="1755648"/>
            <a:ext cx="4023360" cy="274320"/>
          </a:xfrm>
          <a:prstGeom prst="rect">
            <a:avLst/>
          </a:prstGeom>
          <a:noFill/>
          <a:ln/>
        </p:spPr>
        <p:txBody>
          <a:bodyPr wrap="square" lIns="0" tIns="0" rIns="0" bIns="0" rtlCol="0" anchor="t"/>
          <a:lstStyle/>
          <a:p>
            <a:pPr indent="0" marL="0">
              <a:buNone/>
            </a:pPr>
            <a:r>
              <a:rPr lang="en-US" sz="1100" b="1" spc="150" kern="0" dirty="0">
                <a:solidFill>
                  <a:srgbClr val="FFFFFF"/>
                </a:solidFill>
                <a:latin typeface="Arial" pitchFamily="34" charset="0"/>
                <a:ea typeface="Arial" pitchFamily="34" charset="-122"/>
                <a:cs typeface="Arial" pitchFamily="34" charset="-120"/>
              </a:rPr>
              <a:t>WHAT WE GET</a:t>
            </a:r>
            <a:endParaRPr lang="en-US" sz="1100" dirty="0"/>
          </a:p>
        </p:txBody>
      </p:sp>
      <p:sp>
        <p:nvSpPr>
          <p:cNvPr id="15" name="Text 13"/>
          <p:cNvSpPr txBox="1"/>
          <p:nvPr/>
        </p:nvSpPr>
        <p:spPr>
          <a:xfrm>
            <a:off x="7406640" y="2103120"/>
            <a:ext cx="4023360" cy="19659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Agents take work on their own; people keep what needs judgment.</a:t>
            </a:r>
            <a:endParaRPr lang="en-US" sz="2200" dirty="0"/>
          </a:p>
        </p:txBody>
      </p:sp>
      <p:sp>
        <p:nvSpPr>
          <p:cNvPr id="16" name="Shape 14"/>
          <p:cNvSpPr/>
          <p:nvPr/>
        </p:nvSpPr>
        <p:spPr>
          <a:xfrm>
            <a:off x="7178040" y="4361688"/>
            <a:ext cx="4462272" cy="1810512"/>
          </a:xfrm>
          <a:prstGeom prst="roundRect">
            <a:avLst>
              <a:gd name="adj" fmla="val 5051"/>
            </a:avLst>
          </a:prstGeom>
          <a:solidFill>
            <a:srgbClr val="F1F4F9"/>
          </a:solidFill>
          <a:ln w="12700">
            <a:solidFill>
              <a:srgbClr val="F1F4F9"/>
            </a:solidFill>
            <a:prstDash val="solid"/>
          </a:ln>
        </p:spPr>
      </p:sp>
      <p:sp>
        <p:nvSpPr>
          <p:cNvPr id="17" name="Text 15"/>
          <p:cNvSpPr txBox="1"/>
          <p:nvPr/>
        </p:nvSpPr>
        <p:spPr>
          <a:xfrm>
            <a:off x="7406640" y="4526280"/>
            <a:ext cx="4023360" cy="274320"/>
          </a:xfrm>
          <a:prstGeom prst="rect">
            <a:avLst/>
          </a:prstGeom>
          <a:noFill/>
          <a:ln/>
        </p:spPr>
        <p:txBody>
          <a:bodyPr wrap="square" lIns="0" tIns="0" rIns="0" bIns="0" rtlCol="0" anchor="t"/>
          <a:lstStyle/>
          <a:p>
            <a:pPr indent="0" marL="0">
              <a:buNone/>
            </a:pPr>
            <a:r>
              <a:rPr lang="en-US" sz="1100" b="1" spc="150" kern="0" dirty="0">
                <a:solidFill>
                  <a:srgbClr val="8D99B3"/>
                </a:solidFill>
                <a:latin typeface="Arial" pitchFamily="34" charset="0"/>
                <a:ea typeface="Arial" pitchFamily="34" charset="-122"/>
                <a:cs typeface="Arial" pitchFamily="34" charset="-120"/>
              </a:rPr>
              <a:t>WITH SUPERPOWERS TODAY</a:t>
            </a:r>
            <a:endParaRPr lang="en-US" sz="1100" dirty="0"/>
          </a:p>
        </p:txBody>
      </p:sp>
      <p:sp>
        <p:nvSpPr>
          <p:cNvPr id="18" name="Text 16"/>
          <p:cNvSpPr txBox="1"/>
          <p:nvPr/>
        </p:nvSpPr>
        <p:spPr>
          <a:xfrm>
            <a:off x="7406640" y="4846320"/>
            <a:ext cx="4023360" cy="1234440"/>
          </a:xfrm>
          <a:prstGeom prst="rect">
            <a:avLst/>
          </a:prstGeom>
          <a:noFill/>
          <a:ln/>
        </p:spPr>
        <p:txBody>
          <a:bodyPr wrap="square" lIns="0" tIns="0" rIns="0" bIns="0" rtlCol="0" anchor="t"/>
          <a:lstStyle/>
          <a:p>
            <a:pPr indent="0" marL="0">
              <a:buNone/>
            </a:pPr>
            <a:r>
              <a:rPr lang="en-US" sz="1350" dirty="0">
                <a:solidFill>
                  <a:srgbClr val="4A5468"/>
                </a:solidFill>
                <a:latin typeface="Arial" pitchFamily="34" charset="0"/>
                <a:ea typeface="Arial" pitchFamily="34" charset="-122"/>
                <a:cs typeface="Arial" pitchFamily="34" charset="-120"/>
              </a:rPr>
              <a:t>Plan files in the repo. Nothing tells an agent which work it may take on its own.</a:t>
            </a:r>
            <a:endParaRPr lang="en-US" sz="1350" dirty="0"/>
          </a:p>
        </p:txBody>
      </p:sp>
      <p:sp>
        <p:nvSpPr>
          <p:cNvPr id="19" name="Text 17"/>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Sources: obra/superpowers v6.4.2 (2026-09-25), mattpocock/skills v1.2.3, agent-ready main (2026-09-27)</a:t>
            </a:r>
            <a:endParaRPr lang="en-US" sz="900" dirty="0"/>
          </a:p>
        </p:txBody>
      </p:sp>
      <p:sp>
        <p:nvSpPr>
          <p:cNvPr id="20" name="Text 18"/>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9184"/>
            <a:ext cx="1470355" cy="274320"/>
          </a:xfrm>
          <a:prstGeom prst="roundRect">
            <a:avLst>
              <a:gd name="adj" fmla="val 50000"/>
            </a:avLst>
          </a:prstGeom>
          <a:solidFill>
            <a:srgbClr val="1F9E89"/>
          </a:solidFill>
          <a:ln>
            <a:solidFill>
              <a:srgbClr val="1F9E89"/>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HONEST TESTS</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Tests that leave modules free to change</a:t>
            </a:r>
            <a:endParaRPr lang="en-US" sz="2800" dirty="0"/>
          </a:p>
        </p:txBody>
      </p:sp>
      <p:sp>
        <p:nvSpPr>
          <p:cNvPr id="4" name="Shape 2"/>
          <p:cNvSpPr/>
          <p:nvPr/>
        </p:nvSpPr>
        <p:spPr>
          <a:xfrm>
            <a:off x="548640" y="1572768"/>
            <a:ext cx="6400800" cy="2011680"/>
          </a:xfrm>
          <a:prstGeom prst="roundRect">
            <a:avLst>
              <a:gd name="adj" fmla="val 4545"/>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777240" y="1773936"/>
            <a:ext cx="1271016" cy="457200"/>
          </a:xfrm>
          <a:prstGeom prst="roundRect">
            <a:avLst>
              <a:gd name="adj" fmla="val 16000"/>
            </a:avLst>
          </a:prstGeom>
          <a:solidFill>
            <a:srgbClr val="1F9E89"/>
          </a:solidFill>
          <a:ln>
            <a:solidFill>
              <a:srgbClr val="1F9E89"/>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/implement</a:t>
            </a:r>
            <a:endParaRPr lang="en-US" sz="1250" dirty="0"/>
          </a:p>
        </p:txBody>
      </p:sp>
      <p:sp>
        <p:nvSpPr>
          <p:cNvPr id="6" name="Text 4"/>
          <p:cNvSpPr txBox="1"/>
          <p:nvPr/>
        </p:nvSpPr>
        <p:spPr>
          <a:xfrm>
            <a:off x="777240" y="2322576"/>
            <a:ext cx="5943600" cy="1143000"/>
          </a:xfrm>
          <a:prstGeom prst="rect">
            <a:avLst/>
          </a:prstGeom>
          <a:noFill/>
          <a:ln/>
        </p:spPr>
        <p:txBody>
          <a:bodyPr wrap="square" lIns="0" tIns="0" rIns="0" bIns="0" rtlCol="0" anchor="t"/>
          <a:lstStyle/>
          <a:p>
            <a:pPr indent="0" marL="0">
              <a:buNone/>
            </a:pPr>
            <a:r>
              <a:rPr lang="en-US" sz="1400" dirty="0">
                <a:solidFill>
                  <a:srgbClr val="14213D"/>
                </a:solidFill>
                <a:latin typeface="Arial" pitchFamily="34" charset="0"/>
                <a:ea typeface="Arial" pitchFamily="34" charset="-122"/>
                <a:cs typeface="Arial" pitchFamily="34" charset="-120"/>
              </a:rPr>
              <a:t>Builds one ticket test-first. It writes tests only at seams agreed up front, so they pin what a module does, not how.</a:t>
            </a:r>
            <a:endParaRPr lang="en-US" sz="1400" dirty="0"/>
          </a:p>
        </p:txBody>
      </p:sp>
      <p:sp>
        <p:nvSpPr>
          <p:cNvPr id="7" name="Shape 5"/>
          <p:cNvSpPr/>
          <p:nvPr/>
        </p:nvSpPr>
        <p:spPr>
          <a:xfrm>
            <a:off x="548640" y="3721608"/>
            <a:ext cx="6400800" cy="2011680"/>
          </a:xfrm>
          <a:prstGeom prst="roundRect">
            <a:avLst>
              <a:gd name="adj" fmla="val 4545"/>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8" name="Text 6"/>
          <p:cNvSpPr/>
          <p:nvPr/>
        </p:nvSpPr>
        <p:spPr>
          <a:xfrm>
            <a:off x="777240" y="3922776"/>
            <a:ext cx="3191256" cy="457200"/>
          </a:xfrm>
          <a:prstGeom prst="roundRect">
            <a:avLst>
              <a:gd name="adj" fmla="val 16000"/>
            </a:avLst>
          </a:prstGeom>
          <a:solidFill>
            <a:srgbClr val="1F9E89"/>
          </a:solidFill>
          <a:ln>
            <a:solidFill>
              <a:srgbClr val="1F9E89"/>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/improve-codebase-architecture</a:t>
            </a:r>
            <a:endParaRPr lang="en-US" sz="1250" dirty="0"/>
          </a:p>
        </p:txBody>
      </p:sp>
      <p:sp>
        <p:nvSpPr>
          <p:cNvPr id="9" name="Text 7"/>
          <p:cNvSpPr txBox="1"/>
          <p:nvPr/>
        </p:nvSpPr>
        <p:spPr>
          <a:xfrm>
            <a:off x="777240" y="4471416"/>
            <a:ext cx="5943600" cy="1143000"/>
          </a:xfrm>
          <a:prstGeom prst="rect">
            <a:avLst/>
          </a:prstGeom>
          <a:noFill/>
          <a:ln/>
        </p:spPr>
        <p:txBody>
          <a:bodyPr wrap="square" lIns="0" tIns="0" rIns="0" bIns="0" rtlCol="0" anchor="t"/>
          <a:lstStyle/>
          <a:p>
            <a:pPr indent="0" marL="0">
              <a:buNone/>
            </a:pPr>
            <a:r>
              <a:rPr lang="en-US" sz="1400" dirty="0">
                <a:solidFill>
                  <a:srgbClr val="14213D"/>
                </a:solidFill>
                <a:latin typeface="Arial" pitchFamily="34" charset="0"/>
                <a:ea typeface="Arial" pitchFamily="34" charset="-122"/>
                <a:cs typeface="Arial" pitchFamily="34" charset="-120"/>
              </a:rPr>
              <a:t>Finds modules worth deepening and walks you through one. A hook reminds the team when no architecture review ran for a while.</a:t>
            </a:r>
            <a:endParaRPr lang="en-US" sz="1400" dirty="0"/>
          </a:p>
        </p:txBody>
      </p:sp>
      <p:sp>
        <p:nvSpPr>
          <p:cNvPr id="10" name="Shape 8"/>
          <p:cNvSpPr/>
          <p:nvPr/>
        </p:nvSpPr>
        <p:spPr>
          <a:xfrm>
            <a:off x="7178040" y="1572768"/>
            <a:ext cx="4462272" cy="2651760"/>
          </a:xfrm>
          <a:prstGeom prst="roundRect">
            <a:avLst>
              <a:gd name="adj" fmla="val 3448"/>
            </a:avLst>
          </a:prstGeom>
          <a:solidFill>
            <a:srgbClr val="1F9E89"/>
          </a:solidFill>
          <a:ln w="12700">
            <a:solidFill>
              <a:srgbClr val="1F9E89"/>
            </a:solidFill>
            <a:prstDash val="solid"/>
          </a:ln>
        </p:spPr>
      </p:sp>
      <p:sp>
        <p:nvSpPr>
          <p:cNvPr id="11" name="Text 9"/>
          <p:cNvSpPr txBox="1"/>
          <p:nvPr/>
        </p:nvSpPr>
        <p:spPr>
          <a:xfrm>
            <a:off x="7406640" y="1755648"/>
            <a:ext cx="4023360" cy="274320"/>
          </a:xfrm>
          <a:prstGeom prst="rect">
            <a:avLst/>
          </a:prstGeom>
          <a:noFill/>
          <a:ln/>
        </p:spPr>
        <p:txBody>
          <a:bodyPr wrap="square" lIns="0" tIns="0" rIns="0" bIns="0" rtlCol="0" anchor="t"/>
          <a:lstStyle/>
          <a:p>
            <a:pPr indent="0" marL="0">
              <a:buNone/>
            </a:pPr>
            <a:r>
              <a:rPr lang="en-US" sz="1100" b="1" spc="150" kern="0" dirty="0">
                <a:solidFill>
                  <a:srgbClr val="FFFFFF"/>
                </a:solidFill>
                <a:latin typeface="Arial" pitchFamily="34" charset="0"/>
                <a:ea typeface="Arial" pitchFamily="34" charset="-122"/>
                <a:cs typeface="Arial" pitchFamily="34" charset="-120"/>
              </a:rPr>
              <a:t>WHAT WE GET</a:t>
            </a:r>
            <a:endParaRPr lang="en-US" sz="1100" dirty="0"/>
          </a:p>
        </p:txBody>
      </p:sp>
      <p:sp>
        <p:nvSpPr>
          <p:cNvPr id="12" name="Text 10"/>
          <p:cNvSpPr txBox="1"/>
          <p:nvPr/>
        </p:nvSpPr>
        <p:spPr>
          <a:xfrm>
            <a:off x="7406640" y="2103120"/>
            <a:ext cx="4023360" cy="19659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Tests pin behaviour, so modules stay free to change.</a:t>
            </a:r>
            <a:endParaRPr lang="en-US" sz="2200" dirty="0"/>
          </a:p>
        </p:txBody>
      </p:sp>
      <p:sp>
        <p:nvSpPr>
          <p:cNvPr id="13" name="Shape 11"/>
          <p:cNvSpPr/>
          <p:nvPr/>
        </p:nvSpPr>
        <p:spPr>
          <a:xfrm>
            <a:off x="7178040" y="4361688"/>
            <a:ext cx="4462272" cy="1810512"/>
          </a:xfrm>
          <a:prstGeom prst="roundRect">
            <a:avLst>
              <a:gd name="adj" fmla="val 5051"/>
            </a:avLst>
          </a:prstGeom>
          <a:solidFill>
            <a:srgbClr val="F1F4F9"/>
          </a:solidFill>
          <a:ln w="12700">
            <a:solidFill>
              <a:srgbClr val="F1F4F9"/>
            </a:solidFill>
            <a:prstDash val="solid"/>
          </a:ln>
        </p:spPr>
      </p:sp>
      <p:sp>
        <p:nvSpPr>
          <p:cNvPr id="14" name="Text 12"/>
          <p:cNvSpPr txBox="1"/>
          <p:nvPr/>
        </p:nvSpPr>
        <p:spPr>
          <a:xfrm>
            <a:off x="7406640" y="4526280"/>
            <a:ext cx="4023360" cy="274320"/>
          </a:xfrm>
          <a:prstGeom prst="rect">
            <a:avLst/>
          </a:prstGeom>
          <a:noFill/>
          <a:ln/>
        </p:spPr>
        <p:txBody>
          <a:bodyPr wrap="square" lIns="0" tIns="0" rIns="0" bIns="0" rtlCol="0" anchor="t"/>
          <a:lstStyle/>
          <a:p>
            <a:pPr indent="0" marL="0">
              <a:buNone/>
            </a:pPr>
            <a:r>
              <a:rPr lang="en-US" sz="1100" b="1" spc="150" kern="0" dirty="0">
                <a:solidFill>
                  <a:srgbClr val="8D99B3"/>
                </a:solidFill>
                <a:latin typeface="Arial" pitchFamily="34" charset="0"/>
                <a:ea typeface="Arial" pitchFamily="34" charset="-122"/>
                <a:cs typeface="Arial" pitchFamily="34" charset="-120"/>
              </a:rPr>
              <a:t>WITH SUPERPOWERS TODAY</a:t>
            </a:r>
            <a:endParaRPr lang="en-US" sz="1100" dirty="0"/>
          </a:p>
        </p:txBody>
      </p:sp>
      <p:sp>
        <p:nvSpPr>
          <p:cNvPr id="15" name="Text 13"/>
          <p:cNvSpPr txBox="1"/>
          <p:nvPr/>
        </p:nvSpPr>
        <p:spPr>
          <a:xfrm>
            <a:off x="7406640" y="4846320"/>
            <a:ext cx="4023360" cy="1234440"/>
          </a:xfrm>
          <a:prstGeom prst="rect">
            <a:avLst/>
          </a:prstGeom>
          <a:noFill/>
          <a:ln/>
        </p:spPr>
        <p:txBody>
          <a:bodyPr wrap="square" lIns="0" tIns="0" rIns="0" bIns="0" rtlCol="0" anchor="t"/>
          <a:lstStyle/>
          <a:p>
            <a:pPr indent="0" marL="0">
              <a:buNone/>
            </a:pPr>
            <a:r>
              <a:rPr lang="en-US" sz="1350" dirty="0">
                <a:solidFill>
                  <a:srgbClr val="4A5468"/>
                </a:solidFill>
                <a:latin typeface="Arial" pitchFamily="34" charset="0"/>
                <a:ea typeface="Arial" pitchFamily="34" charset="-122"/>
                <a:cs typeface="Arial" pitchFamily="34" charset="-120"/>
              </a:rPr>
              <a:t>No design skill. Agent-written tests couple to internals and get merged unread. The next agent treats them as rules nobody chose.</a:t>
            </a:r>
            <a:endParaRPr lang="en-US" sz="1350" dirty="0"/>
          </a:p>
        </p:txBody>
      </p:sp>
      <p:sp>
        <p:nvSpPr>
          <p:cNvPr id="16" name="Text 14"/>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Sources: obra/superpowers v6.4.2 (2026-09-25), mattpocock/skills v1.2.3, agent-ready main (2026-09-27)</a:t>
            </a:r>
            <a:endParaRPr lang="en-US" sz="900" dirty="0"/>
          </a:p>
        </p:txBody>
      </p:sp>
      <p:sp>
        <p:nvSpPr>
          <p:cNvPr id="17" name="Text 15"/>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9184"/>
            <a:ext cx="1470355" cy="274320"/>
          </a:xfrm>
          <a:prstGeom prst="roundRect">
            <a:avLst>
              <a:gd name="adj" fmla="val 50000"/>
            </a:avLst>
          </a:prstGeom>
          <a:solidFill>
            <a:srgbClr val="4F5BD5"/>
          </a:solidFill>
          <a:ln>
            <a:solidFill>
              <a:srgbClr val="4F5BD5"/>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ONE STANDARD</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One standard for every PR</a:t>
            </a:r>
            <a:endParaRPr lang="en-US" sz="2800" dirty="0"/>
          </a:p>
        </p:txBody>
      </p:sp>
      <p:sp>
        <p:nvSpPr>
          <p:cNvPr id="4" name="Shape 2"/>
          <p:cNvSpPr/>
          <p:nvPr/>
        </p:nvSpPr>
        <p:spPr>
          <a:xfrm>
            <a:off x="548640" y="1572768"/>
            <a:ext cx="6400800" cy="1371600"/>
          </a:xfrm>
          <a:prstGeom prst="roundRect">
            <a:avLst>
              <a:gd name="adj" fmla="val 6667"/>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5" name="Text 3"/>
          <p:cNvSpPr/>
          <p:nvPr/>
        </p:nvSpPr>
        <p:spPr>
          <a:xfrm>
            <a:off x="777240" y="1773936"/>
            <a:ext cx="1463040" cy="457200"/>
          </a:xfrm>
          <a:prstGeom prst="roundRect">
            <a:avLst>
              <a:gd name="adj" fmla="val 16000"/>
            </a:avLst>
          </a:prstGeom>
          <a:solidFill>
            <a:srgbClr val="4F5BD5"/>
          </a:solidFill>
          <a:ln>
            <a:solidFill>
              <a:srgbClr val="4F5BD5"/>
            </a:solidFill>
          </a:ln>
        </p:spPr>
        <p:txBody>
          <a:bodyPr wrap="square" lIns="25400" tIns="25400" rIns="25400" bIns="2540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/code-review</a:t>
            </a:r>
            <a:endParaRPr lang="en-US" sz="1250" dirty="0"/>
          </a:p>
        </p:txBody>
      </p:sp>
      <p:sp>
        <p:nvSpPr>
          <p:cNvPr id="6" name="Text 4"/>
          <p:cNvSpPr txBox="1"/>
          <p:nvPr/>
        </p:nvSpPr>
        <p:spPr>
          <a:xfrm>
            <a:off x="777240" y="2322576"/>
            <a:ext cx="5943600" cy="502920"/>
          </a:xfrm>
          <a:prstGeom prst="rect">
            <a:avLst/>
          </a:prstGeom>
          <a:noFill/>
          <a:ln/>
        </p:spPr>
        <p:txBody>
          <a:bodyPr wrap="square" lIns="0" tIns="0" rIns="0" bIns="0" rtlCol="0" anchor="t"/>
          <a:lstStyle/>
          <a:p>
            <a:pPr indent="0" marL="0">
              <a:buNone/>
            </a:pPr>
            <a:r>
              <a:rPr lang="en-US" sz="1400" dirty="0">
                <a:solidFill>
                  <a:srgbClr val="14213D"/>
                </a:solidFill>
                <a:latin typeface="Arial" pitchFamily="34" charset="0"/>
                <a:ea typeface="Arial" pitchFamily="34" charset="-122"/>
                <a:cs typeface="Arial" pitchFamily="34" charset="-120"/>
              </a:rPr>
              <a:t>Checks the diff against docs/CODING_STANDARDS.md and against the ticket, each in a fresh sub-agent.</a:t>
            </a:r>
            <a:endParaRPr lang="en-US" sz="1400" dirty="0"/>
          </a:p>
        </p:txBody>
      </p:sp>
      <p:sp>
        <p:nvSpPr>
          <p:cNvPr id="7" name="Shape 5"/>
          <p:cNvSpPr/>
          <p:nvPr/>
        </p:nvSpPr>
        <p:spPr>
          <a:xfrm>
            <a:off x="548640" y="3081528"/>
            <a:ext cx="6400800" cy="1371600"/>
          </a:xfrm>
          <a:prstGeom prst="roundRect">
            <a:avLst>
              <a:gd name="adj" fmla="val 6667"/>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8" name="Text 6"/>
          <p:cNvSpPr/>
          <p:nvPr/>
        </p:nvSpPr>
        <p:spPr>
          <a:xfrm>
            <a:off x="777240" y="3282696"/>
            <a:ext cx="1010412" cy="457200"/>
          </a:xfrm>
          <a:prstGeom prst="roundRect">
            <a:avLst>
              <a:gd name="adj" fmla="val 16000"/>
            </a:avLst>
          </a:prstGeom>
          <a:solidFill>
            <a:srgbClr val="4F5BD5"/>
          </a:solidFill>
          <a:ln>
            <a:solidFill>
              <a:srgbClr val="4F5BD5"/>
            </a:solidFill>
          </a:ln>
        </p:spPr>
        <p:txBody>
          <a:bodyPr wrap="square" lIns="25400" tIns="25400" rIns="25400" bIns="2540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push hook</a:t>
            </a:r>
            <a:endParaRPr lang="en-US" sz="1250" dirty="0"/>
          </a:p>
        </p:txBody>
      </p:sp>
      <p:sp>
        <p:nvSpPr>
          <p:cNvPr id="9" name="Text 7"/>
          <p:cNvSpPr txBox="1"/>
          <p:nvPr/>
        </p:nvSpPr>
        <p:spPr>
          <a:xfrm>
            <a:off x="777240" y="3831336"/>
            <a:ext cx="5943600" cy="502920"/>
          </a:xfrm>
          <a:prstGeom prst="rect">
            <a:avLst/>
          </a:prstGeom>
          <a:noFill/>
          <a:ln/>
        </p:spPr>
        <p:txBody>
          <a:bodyPr wrap="square" lIns="0" tIns="0" rIns="0" bIns="0" rtlCol="0" anchor="t"/>
          <a:lstStyle/>
          <a:p>
            <a:pPr indent="0" marL="0">
              <a:buNone/>
            </a:pPr>
            <a:r>
              <a:rPr lang="en-US" sz="1400" dirty="0">
                <a:solidFill>
                  <a:srgbClr val="14213D"/>
                </a:solidFill>
                <a:latin typeface="Arial" pitchFamily="34" charset="0"/>
                <a:ea typeface="Arial" pitchFamily="34" charset="-122"/>
                <a:cs typeface="Arial" pitchFamily="34" charset="-120"/>
              </a:rPr>
              <a:t>Blocks every push until the new comments are reviewed.</a:t>
            </a:r>
            <a:endParaRPr lang="en-US" sz="1400" dirty="0"/>
          </a:p>
        </p:txBody>
      </p:sp>
      <p:sp>
        <p:nvSpPr>
          <p:cNvPr id="10" name="Shape 8"/>
          <p:cNvSpPr/>
          <p:nvPr/>
        </p:nvSpPr>
        <p:spPr>
          <a:xfrm>
            <a:off x="548640" y="4590288"/>
            <a:ext cx="6400800" cy="1371600"/>
          </a:xfrm>
          <a:prstGeom prst="roundRect">
            <a:avLst>
              <a:gd name="adj" fmla="val 6667"/>
            </a:avLst>
          </a:prstGeom>
          <a:solidFill>
            <a:srgbClr val="FFFFFF"/>
          </a:solidFill>
          <a:ln w="12700">
            <a:solidFill>
              <a:srgbClr val="D7DDE8"/>
            </a:solidFill>
            <a:prstDash val="solid"/>
          </a:ln>
          <a:effectLst>
            <a:outerShdw sx="100000" sy="100000" kx="0" ky="0" algn="bl" rotWithShape="0" blurRad="101600" dist="25400" dir="5400000">
              <a:srgbClr val="000000">
                <a:alpha val="12000"/>
              </a:srgbClr>
            </a:outerShdw>
          </a:effectLst>
        </p:spPr>
      </p:sp>
      <p:sp>
        <p:nvSpPr>
          <p:cNvPr id="11" name="Text 9"/>
          <p:cNvSpPr/>
          <p:nvPr/>
        </p:nvSpPr>
        <p:spPr>
          <a:xfrm>
            <a:off x="777240" y="4791456"/>
            <a:ext cx="822960" cy="457200"/>
          </a:xfrm>
          <a:prstGeom prst="roundRect">
            <a:avLst>
              <a:gd name="adj" fmla="val 16000"/>
            </a:avLst>
          </a:prstGeom>
          <a:solidFill>
            <a:srgbClr val="4F5BD5"/>
          </a:solidFill>
          <a:ln>
            <a:solidFill>
              <a:srgbClr val="4F5BD5"/>
            </a:solidFill>
          </a:ln>
        </p:spPr>
        <p:txBody>
          <a:bodyPr wrap="square" lIns="25400" tIns="25400" rIns="25400" bIns="2540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merge</a:t>
            </a:r>
            <a:endParaRPr lang="en-US" sz="1250" dirty="0"/>
          </a:p>
        </p:txBody>
      </p:sp>
      <p:sp>
        <p:nvSpPr>
          <p:cNvPr id="12" name="Text 10"/>
          <p:cNvSpPr txBox="1"/>
          <p:nvPr/>
        </p:nvSpPr>
        <p:spPr>
          <a:xfrm>
            <a:off x="777240" y="5340096"/>
            <a:ext cx="5943600" cy="502920"/>
          </a:xfrm>
          <a:prstGeom prst="rect">
            <a:avLst/>
          </a:prstGeom>
          <a:noFill/>
          <a:ln/>
        </p:spPr>
        <p:txBody>
          <a:bodyPr wrap="square" lIns="0" tIns="0" rIns="0" bIns="0" rtlCol="0" anchor="t"/>
          <a:lstStyle/>
          <a:p>
            <a:pPr indent="0" marL="0">
              <a:buNone/>
            </a:pPr>
            <a:r>
              <a:rPr lang="en-US" sz="1400" dirty="0">
                <a:solidFill>
                  <a:srgbClr val="14213D"/>
                </a:solidFill>
                <a:latin typeface="Arial" pitchFamily="34" charset="0"/>
                <a:ea typeface="Arial" pitchFamily="34" charset="-122"/>
                <a:cs typeface="Arial" pitchFamily="34" charset="-120"/>
              </a:rPr>
              <a:t>Agents merge safe cleanup PRs themselves. Changes to the rules always go to a human.</a:t>
            </a:r>
            <a:endParaRPr lang="en-US" sz="1400" dirty="0"/>
          </a:p>
        </p:txBody>
      </p:sp>
      <p:sp>
        <p:nvSpPr>
          <p:cNvPr id="13" name="Shape 11"/>
          <p:cNvSpPr/>
          <p:nvPr/>
        </p:nvSpPr>
        <p:spPr>
          <a:xfrm>
            <a:off x="7178040" y="1572768"/>
            <a:ext cx="4462272" cy="2651760"/>
          </a:xfrm>
          <a:prstGeom prst="roundRect">
            <a:avLst>
              <a:gd name="adj" fmla="val 3448"/>
            </a:avLst>
          </a:prstGeom>
          <a:solidFill>
            <a:srgbClr val="4F5BD5"/>
          </a:solidFill>
          <a:ln w="12700">
            <a:solidFill>
              <a:srgbClr val="4F5BD5"/>
            </a:solidFill>
            <a:prstDash val="solid"/>
          </a:ln>
        </p:spPr>
      </p:sp>
      <p:sp>
        <p:nvSpPr>
          <p:cNvPr id="14" name="Text 12"/>
          <p:cNvSpPr txBox="1"/>
          <p:nvPr/>
        </p:nvSpPr>
        <p:spPr>
          <a:xfrm>
            <a:off x="7406640" y="1755648"/>
            <a:ext cx="4023360" cy="274320"/>
          </a:xfrm>
          <a:prstGeom prst="rect">
            <a:avLst/>
          </a:prstGeom>
          <a:noFill/>
          <a:ln/>
        </p:spPr>
        <p:txBody>
          <a:bodyPr wrap="square" lIns="0" tIns="0" rIns="0" bIns="0" rtlCol="0" anchor="t"/>
          <a:lstStyle/>
          <a:p>
            <a:pPr indent="0" marL="0">
              <a:buNone/>
            </a:pPr>
            <a:r>
              <a:rPr lang="en-US" sz="1100" b="1" spc="150" kern="0" dirty="0">
                <a:solidFill>
                  <a:srgbClr val="FFFFFF"/>
                </a:solidFill>
                <a:latin typeface="Arial" pitchFamily="34" charset="0"/>
                <a:ea typeface="Arial" pitchFamily="34" charset="-122"/>
                <a:cs typeface="Arial" pitchFamily="34" charset="-120"/>
              </a:rPr>
              <a:t>WHAT WE GET</a:t>
            </a:r>
            <a:endParaRPr lang="en-US" sz="1100" dirty="0"/>
          </a:p>
        </p:txBody>
      </p:sp>
      <p:sp>
        <p:nvSpPr>
          <p:cNvPr id="15" name="Text 13"/>
          <p:cNvSpPr txBox="1"/>
          <p:nvPr/>
        </p:nvSpPr>
        <p:spPr>
          <a:xfrm>
            <a:off x="7406640" y="2103120"/>
            <a:ext cx="4023360" cy="19659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Every PR is judged by the same rules.</a:t>
            </a:r>
            <a:endParaRPr lang="en-US" sz="2200" dirty="0"/>
          </a:p>
        </p:txBody>
      </p:sp>
      <p:sp>
        <p:nvSpPr>
          <p:cNvPr id="16" name="Shape 14"/>
          <p:cNvSpPr/>
          <p:nvPr/>
        </p:nvSpPr>
        <p:spPr>
          <a:xfrm>
            <a:off x="7178040" y="4361688"/>
            <a:ext cx="4462272" cy="1810512"/>
          </a:xfrm>
          <a:prstGeom prst="roundRect">
            <a:avLst>
              <a:gd name="adj" fmla="val 5051"/>
            </a:avLst>
          </a:prstGeom>
          <a:solidFill>
            <a:srgbClr val="F1F4F9"/>
          </a:solidFill>
          <a:ln w="12700">
            <a:solidFill>
              <a:srgbClr val="F1F4F9"/>
            </a:solidFill>
            <a:prstDash val="solid"/>
          </a:ln>
        </p:spPr>
      </p:sp>
      <p:sp>
        <p:nvSpPr>
          <p:cNvPr id="17" name="Text 15"/>
          <p:cNvSpPr txBox="1"/>
          <p:nvPr/>
        </p:nvSpPr>
        <p:spPr>
          <a:xfrm>
            <a:off x="7406640" y="4526280"/>
            <a:ext cx="4023360" cy="274320"/>
          </a:xfrm>
          <a:prstGeom prst="rect">
            <a:avLst/>
          </a:prstGeom>
          <a:noFill/>
          <a:ln/>
        </p:spPr>
        <p:txBody>
          <a:bodyPr wrap="square" lIns="0" tIns="0" rIns="0" bIns="0" rtlCol="0" anchor="t"/>
          <a:lstStyle/>
          <a:p>
            <a:pPr indent="0" marL="0">
              <a:buNone/>
            </a:pPr>
            <a:r>
              <a:rPr lang="en-US" sz="1100" b="1" spc="150" kern="0" dirty="0">
                <a:solidFill>
                  <a:srgbClr val="8D99B3"/>
                </a:solidFill>
                <a:latin typeface="Arial" pitchFamily="34" charset="0"/>
                <a:ea typeface="Arial" pitchFamily="34" charset="-122"/>
                <a:cs typeface="Arial" pitchFamily="34" charset="-120"/>
              </a:rPr>
              <a:t>WITH SUPERPOWERS TODAY</a:t>
            </a:r>
            <a:endParaRPr lang="en-US" sz="1100" dirty="0"/>
          </a:p>
        </p:txBody>
      </p:sp>
      <p:sp>
        <p:nvSpPr>
          <p:cNvPr id="18" name="Text 16"/>
          <p:cNvSpPr txBox="1"/>
          <p:nvPr/>
        </p:nvSpPr>
        <p:spPr>
          <a:xfrm>
            <a:off x="7406640" y="4846320"/>
            <a:ext cx="4023360" cy="1234440"/>
          </a:xfrm>
          <a:prstGeom prst="rect">
            <a:avLst/>
          </a:prstGeom>
          <a:noFill/>
          <a:ln/>
        </p:spPr>
        <p:txBody>
          <a:bodyPr wrap="square" lIns="0" tIns="0" rIns="0" bIns="0" rtlCol="0" anchor="t"/>
          <a:lstStyle/>
          <a:p>
            <a:pPr indent="0" marL="0">
              <a:buNone/>
            </a:pPr>
            <a:r>
              <a:rPr lang="en-US" sz="1350" dirty="0">
                <a:solidFill>
                  <a:srgbClr val="4A5468"/>
                </a:solidFill>
                <a:latin typeface="Arial" pitchFamily="34" charset="0"/>
                <a:ea typeface="Arial" pitchFamily="34" charset="-122"/>
                <a:cs typeface="Arial" pitchFamily="34" charset="-120"/>
              </a:rPr>
              <a:t>The reviewer checks a generic list from the plugin. The guardrails are text the agent may skip.</a:t>
            </a:r>
            <a:endParaRPr lang="en-US" sz="1350" dirty="0"/>
          </a:p>
        </p:txBody>
      </p:sp>
      <p:sp>
        <p:nvSpPr>
          <p:cNvPr id="19" name="Text 17"/>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Sources: obra/superpowers v6.4.2 (2026-09-25), mattpocock/skills v1.2.3, agent-ready main (2026-09-27)</a:t>
            </a:r>
            <a:endParaRPr lang="en-US" sz="900" dirty="0"/>
          </a:p>
        </p:txBody>
      </p:sp>
      <p:sp>
        <p:nvSpPr>
          <p:cNvPr id="20" name="Text 18"/>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9184"/>
            <a:ext cx="1755648" cy="274320"/>
          </a:xfrm>
          <a:prstGeom prst="roundRect">
            <a:avLst>
              <a:gd name="adj" fmla="val 50000"/>
            </a:avLst>
          </a:prstGeom>
          <a:solidFill>
            <a:srgbClr val="D64545"/>
          </a:solidFill>
          <a:ln>
            <a:solidFill>
              <a:srgbClr val="D64545"/>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THE HONEST PART</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What we give up, and what the switch costs</a:t>
            </a:r>
            <a:endParaRPr lang="en-US" sz="2800" dirty="0"/>
          </a:p>
        </p:txBody>
      </p:sp>
      <p:sp>
        <p:nvSpPr>
          <p:cNvPr id="4" name="Shape 2"/>
          <p:cNvSpPr/>
          <p:nvPr/>
        </p:nvSpPr>
        <p:spPr>
          <a:xfrm>
            <a:off x="548640" y="1508760"/>
            <a:ext cx="5486400" cy="4663440"/>
          </a:xfrm>
          <a:prstGeom prst="roundRect">
            <a:avLst>
              <a:gd name="adj" fmla="val 1961"/>
            </a:avLst>
          </a:prstGeom>
          <a:solidFill>
            <a:srgbClr val="F1F4F9"/>
          </a:solidFill>
          <a:ln w="12700">
            <a:solidFill>
              <a:srgbClr val="F1F4F9"/>
            </a:solidFill>
            <a:prstDash val="solid"/>
          </a:ln>
        </p:spPr>
      </p:sp>
      <p:sp>
        <p:nvSpPr>
          <p:cNvPr id="5" name="Shape 3"/>
          <p:cNvSpPr/>
          <p:nvPr/>
        </p:nvSpPr>
        <p:spPr>
          <a:xfrm>
            <a:off x="822960" y="1737360"/>
            <a:ext cx="548640" cy="548640"/>
          </a:xfrm>
          <a:prstGeom prst="ellipse">
            <a:avLst/>
          </a:prstGeom>
          <a:solidFill>
            <a:srgbClr val="4A5468"/>
          </a:solidFill>
          <a:ln w="12700">
            <a:solidFill>
              <a:srgbClr val="4A5468"/>
            </a:solidFill>
            <a:prstDash val="solid"/>
          </a:ln>
        </p:spPr>
      </p:sp>
      <p:pic>
        <p:nvPicPr>
          <p:cNvPr id="6" name="Image 0" descr="preencoded.png">    </p:cNvPr>
          <p:cNvPicPr>
            <a:picLocks noChangeAspect="1"/>
          </p:cNvPicPr>
          <p:nvPr/>
        </p:nvPicPr>
        <p:blipFill>
          <a:blip r:embed="rId1"/>
          <a:stretch>
            <a:fillRect/>
          </a:stretch>
        </p:blipFill>
        <p:spPr>
          <a:xfrm>
            <a:off x="954634" y="1869034"/>
            <a:ext cx="285293" cy="285293"/>
          </a:xfrm>
          <a:prstGeom prst="rect">
            <a:avLst/>
          </a:prstGeom>
        </p:spPr>
      </p:pic>
      <p:sp>
        <p:nvSpPr>
          <p:cNvPr id="7" name="Text 4"/>
          <p:cNvSpPr txBox="1"/>
          <p:nvPr/>
        </p:nvSpPr>
        <p:spPr>
          <a:xfrm>
            <a:off x="1554480" y="1737360"/>
            <a:ext cx="4297680" cy="548640"/>
          </a:xfrm>
          <a:prstGeom prst="rect">
            <a:avLst/>
          </a:prstGeom>
          <a:noFill/>
          <a:ln/>
        </p:spPr>
        <p:txBody>
          <a:bodyPr wrap="square" lIns="0" tIns="0" rIns="0" bIns="0" rtlCol="0" anchor="ctr"/>
          <a:lstStyle/>
          <a:p>
            <a:pPr indent="0" marL="0">
              <a:buNone/>
            </a:pPr>
            <a:r>
              <a:rPr lang="en-US" sz="1800" b="1" dirty="0">
                <a:solidFill>
                  <a:srgbClr val="14213D"/>
                </a:solidFill>
                <a:latin typeface="Arial" pitchFamily="34" charset="0"/>
                <a:ea typeface="Arial" pitchFamily="34" charset="-122"/>
                <a:cs typeface="Arial" pitchFamily="34" charset="-120"/>
              </a:rPr>
              <a:t>What Superpowers still does better</a:t>
            </a:r>
            <a:endParaRPr lang="en-US" sz="1800" dirty="0"/>
          </a:p>
        </p:txBody>
      </p:sp>
      <p:sp>
        <p:nvSpPr>
          <p:cNvPr id="8" name="Shape 5"/>
          <p:cNvSpPr/>
          <p:nvPr/>
        </p:nvSpPr>
        <p:spPr>
          <a:xfrm>
            <a:off x="896112" y="2651760"/>
            <a:ext cx="128016" cy="128016"/>
          </a:xfrm>
          <a:prstGeom prst="ellipse">
            <a:avLst/>
          </a:prstGeom>
          <a:solidFill>
            <a:srgbClr val="4A5468"/>
          </a:solidFill>
          <a:ln w="12700">
            <a:solidFill>
              <a:srgbClr val="4A5468"/>
            </a:solidFill>
            <a:prstDash val="solid"/>
          </a:ln>
        </p:spPr>
      </p:sp>
      <p:sp>
        <p:nvSpPr>
          <p:cNvPr id="9" name="Text 6"/>
          <p:cNvSpPr txBox="1"/>
          <p:nvPr/>
        </p:nvSpPr>
        <p:spPr>
          <a:xfrm>
            <a:off x="1188720" y="2560320"/>
            <a:ext cx="4617720" cy="1051560"/>
          </a:xfrm>
          <a:prstGeom prst="rect">
            <a:avLst/>
          </a:prstGeom>
          <a:noFill/>
          <a:ln/>
        </p:spPr>
        <p:txBody>
          <a:bodyPr wrap="square" lIns="0" tIns="0" rIns="0" bIns="0" rtlCol="0" anchor="t"/>
          <a:lstStyle/>
          <a:p>
            <a:pPr indent="0" marL="0">
              <a:buNone/>
            </a:pPr>
            <a:r>
              <a:rPr lang="en-US" sz="1500" dirty="0">
                <a:solidFill>
                  <a:srgbClr val="14213D"/>
                </a:solidFill>
                <a:latin typeface="Arial" pitchFamily="34" charset="0"/>
                <a:ea typeface="Arial" pitchFamily="34" charset="-122"/>
                <a:cs typeface="Arial" pitchFamily="34" charset="-120"/>
              </a:rPr>
              <a:t>More written rules against tests that lie, checked at review too. Its writing-good-tests.md is worth copying into our review rules.</a:t>
            </a:r>
            <a:endParaRPr lang="en-US" sz="1500" dirty="0"/>
          </a:p>
        </p:txBody>
      </p:sp>
      <p:sp>
        <p:nvSpPr>
          <p:cNvPr id="10" name="Shape 7"/>
          <p:cNvSpPr/>
          <p:nvPr/>
        </p:nvSpPr>
        <p:spPr>
          <a:xfrm>
            <a:off x="896112" y="3794760"/>
            <a:ext cx="128016" cy="128016"/>
          </a:xfrm>
          <a:prstGeom prst="ellipse">
            <a:avLst/>
          </a:prstGeom>
          <a:solidFill>
            <a:srgbClr val="4A5468"/>
          </a:solidFill>
          <a:ln w="12700">
            <a:solidFill>
              <a:srgbClr val="4A5468"/>
            </a:solidFill>
            <a:prstDash val="solid"/>
          </a:ln>
        </p:spPr>
      </p:sp>
      <p:sp>
        <p:nvSpPr>
          <p:cNvPr id="11" name="Text 8"/>
          <p:cNvSpPr txBox="1"/>
          <p:nvPr/>
        </p:nvSpPr>
        <p:spPr>
          <a:xfrm>
            <a:off x="1188720" y="3703320"/>
            <a:ext cx="4617720" cy="1051560"/>
          </a:xfrm>
          <a:prstGeom prst="rect">
            <a:avLst/>
          </a:prstGeom>
          <a:noFill/>
          <a:ln/>
        </p:spPr>
        <p:txBody>
          <a:bodyPr wrap="square" lIns="0" tIns="0" rIns="0" bIns="0" rtlCol="0" anchor="t"/>
          <a:lstStyle/>
          <a:p>
            <a:pPr indent="0" marL="0">
              <a:buNone/>
            </a:pPr>
            <a:r>
              <a:rPr lang="en-US" sz="1500" dirty="0">
                <a:solidFill>
                  <a:srgbClr val="14213D"/>
                </a:solidFill>
                <a:latin typeface="Arial" pitchFamily="34" charset="0"/>
                <a:ea typeface="Arial" pitchFamily="34" charset="-122"/>
                <a:cs typeface="Arial" pitchFamily="34" charset="-120"/>
              </a:rPr>
              <a:t>Not ready to let go? The Stay Stubborn tier keeps its plan-and-execute loop and sends design, specs, tickets and review to Pocock skills.</a:t>
            </a:r>
            <a:endParaRPr lang="en-US" sz="1500" dirty="0"/>
          </a:p>
        </p:txBody>
      </p:sp>
      <p:sp>
        <p:nvSpPr>
          <p:cNvPr id="12" name="Shape 9"/>
          <p:cNvSpPr/>
          <p:nvPr/>
        </p:nvSpPr>
        <p:spPr>
          <a:xfrm>
            <a:off x="6144768" y="1508760"/>
            <a:ext cx="5486400" cy="4663440"/>
          </a:xfrm>
          <a:prstGeom prst="roundRect">
            <a:avLst>
              <a:gd name="adj" fmla="val 1961"/>
            </a:avLst>
          </a:prstGeom>
          <a:solidFill>
            <a:srgbClr val="F1F4F9"/>
          </a:solidFill>
          <a:ln w="12700">
            <a:solidFill>
              <a:srgbClr val="F1F4F9"/>
            </a:solidFill>
            <a:prstDash val="solid"/>
          </a:ln>
        </p:spPr>
      </p:sp>
      <p:sp>
        <p:nvSpPr>
          <p:cNvPr id="13" name="Shape 10"/>
          <p:cNvSpPr/>
          <p:nvPr/>
        </p:nvSpPr>
        <p:spPr>
          <a:xfrm>
            <a:off x="6419088" y="1737360"/>
            <a:ext cx="548640" cy="548640"/>
          </a:xfrm>
          <a:prstGeom prst="ellipse">
            <a:avLst/>
          </a:prstGeom>
          <a:solidFill>
            <a:srgbClr val="E0962B"/>
          </a:solidFill>
          <a:ln w="12700">
            <a:solidFill>
              <a:srgbClr val="E0962B"/>
            </a:solidFill>
            <a:prstDash val="solid"/>
          </a:ln>
        </p:spPr>
      </p:sp>
      <p:pic>
        <p:nvPicPr>
          <p:cNvPr id="14" name="Image 1" descr="preencoded.png">    </p:cNvPr>
          <p:cNvPicPr>
            <a:picLocks noChangeAspect="1"/>
          </p:cNvPicPr>
          <p:nvPr/>
        </p:nvPicPr>
        <p:blipFill>
          <a:blip r:embed="rId2"/>
          <a:stretch>
            <a:fillRect/>
          </a:stretch>
        </p:blipFill>
        <p:spPr>
          <a:xfrm>
            <a:off x="6550762" y="1869034"/>
            <a:ext cx="285293" cy="285293"/>
          </a:xfrm>
          <a:prstGeom prst="rect">
            <a:avLst/>
          </a:prstGeom>
        </p:spPr>
      </p:pic>
      <p:sp>
        <p:nvSpPr>
          <p:cNvPr id="15" name="Text 11"/>
          <p:cNvSpPr txBox="1"/>
          <p:nvPr/>
        </p:nvSpPr>
        <p:spPr>
          <a:xfrm>
            <a:off x="7150608" y="1737360"/>
            <a:ext cx="4297680" cy="548640"/>
          </a:xfrm>
          <a:prstGeom prst="rect">
            <a:avLst/>
          </a:prstGeom>
          <a:noFill/>
          <a:ln/>
        </p:spPr>
        <p:txBody>
          <a:bodyPr wrap="square" lIns="0" tIns="0" rIns="0" bIns="0" rtlCol="0" anchor="ctr"/>
          <a:lstStyle/>
          <a:p>
            <a:pPr indent="0" marL="0">
              <a:buNone/>
            </a:pPr>
            <a:r>
              <a:rPr lang="en-US" sz="1800" b="1" dirty="0">
                <a:solidFill>
                  <a:srgbClr val="14213D"/>
                </a:solidFill>
                <a:latin typeface="Arial" pitchFamily="34" charset="0"/>
                <a:ea typeface="Arial" pitchFamily="34" charset="-122"/>
                <a:cs typeface="Arial" pitchFamily="34" charset="-120"/>
              </a:rPr>
              <a:t>What the switch costs</a:t>
            </a:r>
            <a:endParaRPr lang="en-US" sz="1800" dirty="0"/>
          </a:p>
        </p:txBody>
      </p:sp>
      <p:sp>
        <p:nvSpPr>
          <p:cNvPr id="16" name="Shape 12"/>
          <p:cNvSpPr/>
          <p:nvPr/>
        </p:nvSpPr>
        <p:spPr>
          <a:xfrm>
            <a:off x="6492240" y="2651760"/>
            <a:ext cx="128016" cy="128016"/>
          </a:xfrm>
          <a:prstGeom prst="ellipse">
            <a:avLst/>
          </a:prstGeom>
          <a:solidFill>
            <a:srgbClr val="E0962B"/>
          </a:solidFill>
          <a:ln w="12700">
            <a:solidFill>
              <a:srgbClr val="E0962B"/>
            </a:solidFill>
            <a:prstDash val="solid"/>
          </a:ln>
        </p:spPr>
      </p:sp>
      <p:sp>
        <p:nvSpPr>
          <p:cNvPr id="17" name="Text 13"/>
          <p:cNvSpPr txBox="1"/>
          <p:nvPr/>
        </p:nvSpPr>
        <p:spPr>
          <a:xfrm>
            <a:off x="6784848" y="2560320"/>
            <a:ext cx="4617720" cy="1051560"/>
          </a:xfrm>
          <a:prstGeom prst="rect">
            <a:avLst/>
          </a:prstGeom>
          <a:noFill/>
          <a:ln/>
        </p:spPr>
        <p:txBody>
          <a:bodyPr wrap="square" lIns="0" tIns="0" rIns="0" bIns="0" rtlCol="0" anchor="t"/>
          <a:lstStyle/>
          <a:p>
            <a:pPr indent="0" marL="0">
              <a:buNone/>
            </a:pPr>
            <a:r>
              <a:rPr lang="en-US" sz="1500" dirty="0">
                <a:solidFill>
                  <a:srgbClr val="14213D"/>
                </a:solidFill>
                <a:latin typeface="Arial" pitchFamily="34" charset="0"/>
                <a:ea typeface="Arial" pitchFamily="34" charset="-122"/>
                <a:cs typeface="Arial" pitchFamily="34" charset="-120"/>
              </a:rPr>
              <a:t>Setup: about 99k tokens and 9 minutes. Scan: about 103k tokens and 6.5 minutes. One trial on a repo with 2,333 files.</a:t>
            </a:r>
            <a:endParaRPr lang="en-US" sz="1500" dirty="0"/>
          </a:p>
        </p:txBody>
      </p:sp>
      <p:sp>
        <p:nvSpPr>
          <p:cNvPr id="18" name="Shape 14"/>
          <p:cNvSpPr/>
          <p:nvPr/>
        </p:nvSpPr>
        <p:spPr>
          <a:xfrm>
            <a:off x="6492240" y="3794760"/>
            <a:ext cx="128016" cy="128016"/>
          </a:xfrm>
          <a:prstGeom prst="ellipse">
            <a:avLst/>
          </a:prstGeom>
          <a:solidFill>
            <a:srgbClr val="E0962B"/>
          </a:solidFill>
          <a:ln w="12700">
            <a:solidFill>
              <a:srgbClr val="E0962B"/>
            </a:solidFill>
            <a:prstDash val="solid"/>
          </a:ln>
        </p:spPr>
      </p:sp>
      <p:sp>
        <p:nvSpPr>
          <p:cNvPr id="19" name="Text 15"/>
          <p:cNvSpPr txBox="1"/>
          <p:nvPr/>
        </p:nvSpPr>
        <p:spPr>
          <a:xfrm>
            <a:off x="6784848" y="3703320"/>
            <a:ext cx="4617720" cy="1051560"/>
          </a:xfrm>
          <a:prstGeom prst="rect">
            <a:avLst/>
          </a:prstGeom>
          <a:noFill/>
          <a:ln/>
        </p:spPr>
        <p:txBody>
          <a:bodyPr wrap="square" lIns="0" tIns="0" rIns="0" bIns="0" rtlCol="0" anchor="t"/>
          <a:lstStyle/>
          <a:p>
            <a:pPr indent="0" marL="0">
              <a:buNone/>
            </a:pPr>
            <a:r>
              <a:rPr lang="en-US" sz="1500" dirty="0">
                <a:solidFill>
                  <a:srgbClr val="14213D"/>
                </a:solidFill>
                <a:latin typeface="Arial" pitchFamily="34" charset="0"/>
                <a:ea typeface="Arial" pitchFamily="34" charset="-122"/>
                <a:cs typeface="Arial" pitchFamily="34" charset="-120"/>
              </a:rPr>
              <a:t>The migration needs a person to approve glossary entries and merge one PR. Its token cost is not measured yet.</a:t>
            </a:r>
            <a:endParaRPr lang="en-US" sz="1500" dirty="0"/>
          </a:p>
        </p:txBody>
      </p:sp>
      <p:sp>
        <p:nvSpPr>
          <p:cNvPr id="20" name="Shape 16"/>
          <p:cNvSpPr/>
          <p:nvPr/>
        </p:nvSpPr>
        <p:spPr>
          <a:xfrm>
            <a:off x="6492240" y="4937760"/>
            <a:ext cx="128016" cy="128016"/>
          </a:xfrm>
          <a:prstGeom prst="ellipse">
            <a:avLst/>
          </a:prstGeom>
          <a:solidFill>
            <a:srgbClr val="E0962B"/>
          </a:solidFill>
          <a:ln w="12700">
            <a:solidFill>
              <a:srgbClr val="E0962B"/>
            </a:solidFill>
            <a:prstDash val="solid"/>
          </a:ln>
        </p:spPr>
      </p:sp>
      <p:sp>
        <p:nvSpPr>
          <p:cNvPr id="21" name="Text 17"/>
          <p:cNvSpPr txBox="1"/>
          <p:nvPr/>
        </p:nvSpPr>
        <p:spPr>
          <a:xfrm>
            <a:off x="6784848" y="4846320"/>
            <a:ext cx="4617720" cy="1051560"/>
          </a:xfrm>
          <a:prstGeom prst="rect">
            <a:avLst/>
          </a:prstGeom>
          <a:noFill/>
          <a:ln/>
        </p:spPr>
        <p:txBody>
          <a:bodyPr wrap="square" lIns="0" tIns="0" rIns="0" bIns="0" rtlCol="0" anchor="t"/>
          <a:lstStyle/>
          <a:p>
            <a:pPr indent="0" marL="0">
              <a:buNone/>
            </a:pPr>
            <a:r>
              <a:rPr lang="en-US" sz="1500" dirty="0">
                <a:solidFill>
                  <a:srgbClr val="14213D"/>
                </a:solidFill>
                <a:latin typeface="Arial" pitchFamily="34" charset="0"/>
                <a:ea typeface="Arial" pitchFamily="34" charset="-122"/>
                <a:cs typeface="Arial" pitchFamily="34" charset="-120"/>
              </a:rPr>
              <a:t>Pocock's skills for PR bodies and retros are in beta, so the plugin does not ship them yet.</a:t>
            </a:r>
            <a:endParaRPr lang="en-US" sz="1500" dirty="0"/>
          </a:p>
        </p:txBody>
      </p:sp>
      <p:sp>
        <p:nvSpPr>
          <p:cNvPr id="22" name="Text 18"/>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Sources: obra/superpowers v6.4.2 (2026-09-25), mattpocock/skills v1.2.3, agent-ready main (2026-09-27)</a:t>
            </a:r>
            <a:endParaRPr lang="en-US" sz="900" dirty="0"/>
          </a:p>
        </p:txBody>
      </p:sp>
      <p:sp>
        <p:nvSpPr>
          <p:cNvPr id="23" name="Text 19"/>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9184"/>
            <a:ext cx="1565453" cy="274320"/>
          </a:xfrm>
          <a:prstGeom prst="roundRect">
            <a:avLst>
              <a:gd name="adj" fmla="val 50000"/>
            </a:avLst>
          </a:prstGeom>
          <a:solidFill>
            <a:srgbClr val="14213D"/>
          </a:solidFill>
          <a:ln>
            <a:solidFill>
              <a:srgbClr val="14213D"/>
            </a:solidFill>
          </a:ln>
        </p:spPr>
        <p:txBody>
          <a:bodyPr wrap="square" lIns="0" tIns="0" rIns="0" bIns="0" rtlCol="0" anchor="ctr"/>
          <a:lstStyle/>
          <a:p>
            <a:pPr algn="ctr" indent="0" marL="0">
              <a:buNone/>
            </a:pPr>
            <a:r>
              <a:rPr lang="en-US" sz="1000" b="1" spc="150" kern="0" dirty="0">
                <a:solidFill>
                  <a:srgbClr val="FFFFFF"/>
                </a:solidFill>
                <a:latin typeface="Arial" pitchFamily="34" charset="0"/>
                <a:ea typeface="Arial" pitchFamily="34" charset="-122"/>
                <a:cs typeface="Arial" pitchFamily="34" charset="-120"/>
              </a:rPr>
              <a:t>HOW TO SWITCH</a:t>
            </a:r>
            <a:endParaRPr lang="en-US" sz="1000" dirty="0"/>
          </a:p>
        </p:txBody>
      </p:sp>
      <p:sp>
        <p:nvSpPr>
          <p:cNvPr id="3" name="Text 1"/>
          <p:cNvSpPr txBox="1"/>
          <p:nvPr/>
        </p:nvSpPr>
        <p:spPr>
          <a:xfrm>
            <a:off x="548640" y="713232"/>
            <a:ext cx="11094415" cy="566928"/>
          </a:xfrm>
          <a:prstGeom prst="rect">
            <a:avLst/>
          </a:prstGeom>
          <a:noFill/>
          <a:ln/>
        </p:spPr>
        <p:txBody>
          <a:bodyPr wrap="square" lIns="0" tIns="0" rIns="0" bIns="0" rtlCol="0" anchor="ctr"/>
          <a:lstStyle/>
          <a:p>
            <a:pPr indent="0" marL="0">
              <a:buNone/>
            </a:pPr>
            <a:r>
              <a:rPr lang="en-US" sz="2800" b="1" dirty="0">
                <a:solidFill>
                  <a:srgbClr val="14213D"/>
                </a:solidFill>
                <a:latin typeface="Arial" pitchFamily="34" charset="0"/>
                <a:ea typeface="Arial" pitchFamily="34" charset="-122"/>
                <a:cs typeface="Arial" pitchFamily="34" charset="-120"/>
              </a:rPr>
              <a:t>Three steps to switch a repo</a:t>
            </a:r>
            <a:endParaRPr lang="en-US" sz="2800" dirty="0"/>
          </a:p>
        </p:txBody>
      </p:sp>
      <p:sp>
        <p:nvSpPr>
          <p:cNvPr id="4" name="Shape 2"/>
          <p:cNvSpPr/>
          <p:nvPr/>
        </p:nvSpPr>
        <p:spPr>
          <a:xfrm>
            <a:off x="548640" y="1572768"/>
            <a:ext cx="3611880" cy="2926080"/>
          </a:xfrm>
          <a:prstGeom prst="roundRect">
            <a:avLst>
              <a:gd name="adj" fmla="val 3125"/>
            </a:avLst>
          </a:prstGeom>
          <a:solidFill>
            <a:srgbClr val="F1F4F9"/>
          </a:solidFill>
          <a:ln w="12700">
            <a:solidFill>
              <a:srgbClr val="F1F4F9"/>
            </a:solidFill>
            <a:prstDash val="solid"/>
          </a:ln>
        </p:spPr>
      </p:sp>
      <p:sp>
        <p:nvSpPr>
          <p:cNvPr id="5" name="Text 3"/>
          <p:cNvSpPr/>
          <p:nvPr/>
        </p:nvSpPr>
        <p:spPr>
          <a:xfrm>
            <a:off x="777240" y="1783080"/>
            <a:ext cx="502920" cy="502920"/>
          </a:xfrm>
          <a:prstGeom prst="roundRect">
            <a:avLst>
              <a:gd name="adj" fmla="val 49091"/>
            </a:avLst>
          </a:prstGeom>
          <a:solidFill>
            <a:srgbClr val="14213D"/>
          </a:solidFill>
          <a:ln>
            <a:solidFill>
              <a:srgbClr val="14213D"/>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417320" y="1783080"/>
            <a:ext cx="2606040" cy="502920"/>
          </a:xfrm>
          <a:prstGeom prst="rect">
            <a:avLst/>
          </a:prstGeom>
          <a:noFill/>
          <a:ln/>
        </p:spPr>
        <p:txBody>
          <a:bodyPr wrap="square" lIns="0" tIns="0" rIns="0" bIns="0" rtlCol="0" anchor="ctr"/>
          <a:lstStyle/>
          <a:p>
            <a:pPr indent="0" marL="0">
              <a:buNone/>
            </a:pPr>
            <a:r>
              <a:rPr lang="en-US" sz="1600" b="1" dirty="0">
                <a:solidFill>
                  <a:srgbClr val="14213D"/>
                </a:solidFill>
                <a:latin typeface="Arial" pitchFamily="34" charset="0"/>
                <a:ea typeface="Arial" pitchFamily="34" charset="-122"/>
                <a:cs typeface="Arial" pitchFamily="34" charset="-120"/>
              </a:rPr>
              <a:t>Install the plugin</a:t>
            </a:r>
            <a:endParaRPr lang="en-US" sz="1600" dirty="0"/>
          </a:p>
        </p:txBody>
      </p:sp>
      <p:sp>
        <p:nvSpPr>
          <p:cNvPr id="7" name="Shape 5"/>
          <p:cNvSpPr/>
          <p:nvPr/>
        </p:nvSpPr>
        <p:spPr>
          <a:xfrm>
            <a:off x="777240" y="2560320"/>
            <a:ext cx="3154680" cy="1078992"/>
          </a:xfrm>
          <a:prstGeom prst="roundRect">
            <a:avLst>
              <a:gd name="adj" fmla="val 5085"/>
            </a:avLst>
          </a:prstGeom>
          <a:solidFill>
            <a:srgbClr val="1B2440"/>
          </a:solidFill>
          <a:ln w="12700">
            <a:solidFill>
              <a:srgbClr val="1B2440"/>
            </a:solidFill>
            <a:prstDash val="solid"/>
          </a:ln>
        </p:spPr>
      </p:sp>
      <p:sp>
        <p:nvSpPr>
          <p:cNvPr id="8" name="Text 6"/>
          <p:cNvSpPr txBox="1"/>
          <p:nvPr/>
        </p:nvSpPr>
        <p:spPr>
          <a:xfrm>
            <a:off x="777240" y="2560320"/>
            <a:ext cx="3154680" cy="1078992"/>
          </a:xfrm>
          <a:prstGeom prst="rect">
            <a:avLst/>
          </a:prstGeom>
          <a:noFill/>
          <a:ln/>
        </p:spPr>
        <p:txBody>
          <a:bodyPr wrap="square" lIns="101600" tIns="127000" rIns="127000" bIns="101600" rtlCol="0" anchor="t"/>
          <a:lstStyle/>
          <a:p>
            <a:pPr indent="0" marL="0">
              <a:lnSpc>
                <a:spcPct val="105000"/>
              </a:lnSpc>
              <a:buNone/>
            </a:pPr>
            <a:r>
              <a:rPr lang="en-US" sz="1100" b="1" dirty="0">
                <a:solidFill>
                  <a:srgbClr val="E6EAF2"/>
                </a:solidFill>
                <a:latin typeface="Courier New" pitchFamily="34" charset="0"/>
                <a:ea typeface="Courier New" pitchFamily="34" charset="-122"/>
                <a:cs typeface="Courier New" pitchFamily="34" charset="-120"/>
              </a:rPr>
              <a:t>claude plugin marketplace add</a:t>
            </a:r>
            <a:endParaRPr lang="en-US" sz="1100" dirty="0"/>
          </a:p>
          <a:p>
            <a:pPr indent="0" marL="0">
              <a:lnSpc>
                <a:spcPct val="105000"/>
              </a:lnSpc>
              <a:buNone/>
            </a:pPr>
            <a:r>
              <a:rPr lang="en-US" sz="1100" b="1" dirty="0">
                <a:solidFill>
                  <a:srgbClr val="E6EAF2"/>
                </a:solidFill>
                <a:latin typeface="Courier New" pitchFamily="34" charset="0"/>
                <a:ea typeface="Courier New" pitchFamily="34" charset="-122"/>
                <a:cs typeface="Courier New" pitchFamily="34" charset="-120"/>
              </a:rPr>
              <a:t>  felixt-teclead/agent-ready</a:t>
            </a:r>
            <a:endParaRPr lang="en-US" sz="1100" dirty="0"/>
          </a:p>
          <a:p>
            <a:pPr indent="0" marL="0">
              <a:lnSpc>
                <a:spcPct val="105000"/>
              </a:lnSpc>
              <a:buNone/>
            </a:pPr>
            <a:r>
              <a:rPr lang="en-US" sz="1100" b="1" dirty="0">
                <a:solidFill>
                  <a:srgbClr val="E6EAF2"/>
                </a:solidFill>
                <a:latin typeface="Courier New" pitchFamily="34" charset="0"/>
                <a:ea typeface="Courier New" pitchFamily="34" charset="-122"/>
                <a:cs typeface="Courier New" pitchFamily="34" charset="-120"/>
              </a:rPr>
              <a:t>claude plugin install</a:t>
            </a:r>
            <a:endParaRPr lang="en-US" sz="1100" dirty="0"/>
          </a:p>
          <a:p>
            <a:pPr indent="0" marL="0">
              <a:lnSpc>
                <a:spcPct val="105000"/>
              </a:lnSpc>
              <a:buNone/>
            </a:pPr>
            <a:r>
              <a:rPr lang="en-US" sz="1100" b="1" dirty="0">
                <a:solidFill>
                  <a:srgbClr val="E6EAF2"/>
                </a:solidFill>
                <a:latin typeface="Courier New" pitchFamily="34" charset="0"/>
                <a:ea typeface="Courier New" pitchFamily="34" charset="-122"/>
                <a:cs typeface="Courier New" pitchFamily="34" charset="-120"/>
              </a:rPr>
              <a:t>  agent-ready@teclead</a:t>
            </a:r>
            <a:endParaRPr lang="en-US" sz="1100" dirty="0"/>
          </a:p>
        </p:txBody>
      </p:sp>
      <p:sp>
        <p:nvSpPr>
          <p:cNvPr id="9" name="Shape 7"/>
          <p:cNvSpPr/>
          <p:nvPr/>
        </p:nvSpPr>
        <p:spPr>
          <a:xfrm>
            <a:off x="4315968" y="1572768"/>
            <a:ext cx="3611880" cy="2926080"/>
          </a:xfrm>
          <a:prstGeom prst="roundRect">
            <a:avLst>
              <a:gd name="adj" fmla="val 3125"/>
            </a:avLst>
          </a:prstGeom>
          <a:solidFill>
            <a:srgbClr val="F1F4F9"/>
          </a:solidFill>
          <a:ln w="12700">
            <a:solidFill>
              <a:srgbClr val="F1F4F9"/>
            </a:solidFill>
            <a:prstDash val="solid"/>
          </a:ln>
        </p:spPr>
      </p:sp>
      <p:sp>
        <p:nvSpPr>
          <p:cNvPr id="10" name="Text 8"/>
          <p:cNvSpPr/>
          <p:nvPr/>
        </p:nvSpPr>
        <p:spPr>
          <a:xfrm>
            <a:off x="4544568" y="1783080"/>
            <a:ext cx="502920" cy="502920"/>
          </a:xfrm>
          <a:prstGeom prst="roundRect">
            <a:avLst>
              <a:gd name="adj" fmla="val 49091"/>
            </a:avLst>
          </a:prstGeom>
          <a:solidFill>
            <a:srgbClr val="14213D"/>
          </a:solidFill>
          <a:ln>
            <a:solidFill>
              <a:srgbClr val="14213D"/>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1" name="Text 9"/>
          <p:cNvSpPr txBox="1"/>
          <p:nvPr/>
        </p:nvSpPr>
        <p:spPr>
          <a:xfrm>
            <a:off x="5184648" y="1783080"/>
            <a:ext cx="2606040" cy="502920"/>
          </a:xfrm>
          <a:prstGeom prst="rect">
            <a:avLst/>
          </a:prstGeom>
          <a:noFill/>
          <a:ln/>
        </p:spPr>
        <p:txBody>
          <a:bodyPr wrap="square" lIns="0" tIns="0" rIns="0" bIns="0" rtlCol="0" anchor="ctr"/>
          <a:lstStyle/>
          <a:p>
            <a:pPr indent="0" marL="0">
              <a:buNone/>
            </a:pPr>
            <a:r>
              <a:rPr lang="en-US" sz="1600" b="1" dirty="0">
                <a:solidFill>
                  <a:srgbClr val="14213D"/>
                </a:solidFill>
                <a:latin typeface="Arial" pitchFamily="34" charset="0"/>
                <a:ea typeface="Arial" pitchFamily="34" charset="-122"/>
                <a:cs typeface="Arial" pitchFamily="34" charset="-120"/>
              </a:rPr>
              <a:t>Ask where the repo stands</a:t>
            </a:r>
            <a:endParaRPr lang="en-US" sz="1600" dirty="0"/>
          </a:p>
        </p:txBody>
      </p:sp>
      <p:sp>
        <p:nvSpPr>
          <p:cNvPr id="12" name="Shape 10"/>
          <p:cNvSpPr/>
          <p:nvPr/>
        </p:nvSpPr>
        <p:spPr>
          <a:xfrm>
            <a:off x="4544568" y="2560320"/>
            <a:ext cx="3154680" cy="475488"/>
          </a:xfrm>
          <a:prstGeom prst="roundRect">
            <a:avLst>
              <a:gd name="adj" fmla="val 11538"/>
            </a:avLst>
          </a:prstGeom>
          <a:solidFill>
            <a:srgbClr val="1B2440"/>
          </a:solidFill>
          <a:ln w="12700">
            <a:solidFill>
              <a:srgbClr val="1B2440"/>
            </a:solidFill>
            <a:prstDash val="solid"/>
          </a:ln>
        </p:spPr>
      </p:sp>
      <p:sp>
        <p:nvSpPr>
          <p:cNvPr id="13" name="Text 11"/>
          <p:cNvSpPr txBox="1"/>
          <p:nvPr/>
        </p:nvSpPr>
        <p:spPr>
          <a:xfrm>
            <a:off x="4544568" y="2560320"/>
            <a:ext cx="3154680" cy="475488"/>
          </a:xfrm>
          <a:prstGeom prst="rect">
            <a:avLst/>
          </a:prstGeom>
          <a:noFill/>
          <a:ln/>
        </p:spPr>
        <p:txBody>
          <a:bodyPr wrap="square" lIns="101600" tIns="127000" rIns="127000" bIns="101600" rtlCol="0" anchor="t"/>
          <a:lstStyle/>
          <a:p>
            <a:pPr indent="0" marL="0">
              <a:lnSpc>
                <a:spcPct val="105000"/>
              </a:lnSpc>
              <a:buNone/>
            </a:pPr>
            <a:r>
              <a:rPr lang="en-US" sz="1100" b="1" dirty="0">
                <a:solidFill>
                  <a:srgbClr val="E6EAF2"/>
                </a:solidFill>
                <a:latin typeface="Courier New" pitchFamily="34" charset="0"/>
                <a:ea typeface="Courier New" pitchFamily="34" charset="-122"/>
                <a:cs typeface="Courier New" pitchFamily="34" charset="-120"/>
              </a:rPr>
              <a:t>/agent-ready:what-to-do</a:t>
            </a:r>
            <a:endParaRPr lang="en-US" sz="1100" dirty="0"/>
          </a:p>
        </p:txBody>
      </p:sp>
      <p:sp>
        <p:nvSpPr>
          <p:cNvPr id="14" name="Text 12"/>
          <p:cNvSpPr txBox="1"/>
          <p:nvPr/>
        </p:nvSpPr>
        <p:spPr>
          <a:xfrm>
            <a:off x="4544568" y="3172968"/>
            <a:ext cx="3154680" cy="1463040"/>
          </a:xfrm>
          <a:prstGeom prst="rect">
            <a:avLst/>
          </a:prstGeom>
          <a:noFill/>
          <a:ln/>
        </p:spPr>
        <p:txBody>
          <a:bodyPr wrap="square" lIns="0" tIns="0" rIns="0" bIns="0" rtlCol="0" anchor="t"/>
          <a:lstStyle/>
          <a:p>
            <a:pPr indent="0" marL="0">
              <a:buNone/>
            </a:pPr>
            <a:r>
              <a:rPr lang="en-US" sz="1300" dirty="0">
                <a:solidFill>
                  <a:srgbClr val="4A5468"/>
                </a:solidFill>
                <a:latin typeface="Arial" pitchFamily="34" charset="0"/>
                <a:ea typeface="Arial" pitchFamily="34" charset="-122"/>
                <a:cs typeface="Arial" pitchFamily="34" charset="-120"/>
              </a:rPr>
              <a:t>It reads the repo, names one next step and explains the options.</a:t>
            </a:r>
            <a:endParaRPr lang="en-US" sz="1300" dirty="0"/>
          </a:p>
        </p:txBody>
      </p:sp>
      <p:sp>
        <p:nvSpPr>
          <p:cNvPr id="15" name="Shape 13"/>
          <p:cNvSpPr/>
          <p:nvPr/>
        </p:nvSpPr>
        <p:spPr>
          <a:xfrm>
            <a:off x="8083296" y="1572768"/>
            <a:ext cx="3611880" cy="2926080"/>
          </a:xfrm>
          <a:prstGeom prst="roundRect">
            <a:avLst>
              <a:gd name="adj" fmla="val 3125"/>
            </a:avLst>
          </a:prstGeom>
          <a:solidFill>
            <a:srgbClr val="F1F4F9"/>
          </a:solidFill>
          <a:ln w="12700">
            <a:solidFill>
              <a:srgbClr val="F1F4F9"/>
            </a:solidFill>
            <a:prstDash val="solid"/>
          </a:ln>
        </p:spPr>
      </p:sp>
      <p:sp>
        <p:nvSpPr>
          <p:cNvPr id="16" name="Text 14"/>
          <p:cNvSpPr/>
          <p:nvPr/>
        </p:nvSpPr>
        <p:spPr>
          <a:xfrm>
            <a:off x="8311896" y="1783080"/>
            <a:ext cx="502920" cy="502920"/>
          </a:xfrm>
          <a:prstGeom prst="roundRect">
            <a:avLst>
              <a:gd name="adj" fmla="val 49091"/>
            </a:avLst>
          </a:prstGeom>
          <a:solidFill>
            <a:srgbClr val="14213D"/>
          </a:solidFill>
          <a:ln>
            <a:solidFill>
              <a:srgbClr val="14213D"/>
            </a:solid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7" name="Text 15"/>
          <p:cNvSpPr txBox="1"/>
          <p:nvPr/>
        </p:nvSpPr>
        <p:spPr>
          <a:xfrm>
            <a:off x="8951976" y="1783080"/>
            <a:ext cx="2606040" cy="502920"/>
          </a:xfrm>
          <a:prstGeom prst="rect">
            <a:avLst/>
          </a:prstGeom>
          <a:noFill/>
          <a:ln/>
        </p:spPr>
        <p:txBody>
          <a:bodyPr wrap="square" lIns="0" tIns="0" rIns="0" bIns="0" rtlCol="0" anchor="ctr"/>
          <a:lstStyle/>
          <a:p>
            <a:pPr indent="0" marL="0">
              <a:buNone/>
            </a:pPr>
            <a:r>
              <a:rPr lang="en-US" sz="1600" b="1" dirty="0">
                <a:solidFill>
                  <a:srgbClr val="14213D"/>
                </a:solidFill>
                <a:latin typeface="Arial" pitchFamily="34" charset="0"/>
                <a:ea typeface="Arial" pitchFamily="34" charset="-122"/>
                <a:cs typeface="Arial" pitchFamily="34" charset="-120"/>
              </a:rPr>
              <a:t>Migrate</a:t>
            </a:r>
            <a:endParaRPr lang="en-US" sz="1600" dirty="0"/>
          </a:p>
        </p:txBody>
      </p:sp>
      <p:sp>
        <p:nvSpPr>
          <p:cNvPr id="18" name="Shape 16"/>
          <p:cNvSpPr/>
          <p:nvPr/>
        </p:nvSpPr>
        <p:spPr>
          <a:xfrm>
            <a:off x="8311896" y="2560320"/>
            <a:ext cx="3154680" cy="676656"/>
          </a:xfrm>
          <a:prstGeom prst="roundRect">
            <a:avLst>
              <a:gd name="adj" fmla="val 8108"/>
            </a:avLst>
          </a:prstGeom>
          <a:solidFill>
            <a:srgbClr val="1B2440"/>
          </a:solidFill>
          <a:ln w="12700">
            <a:solidFill>
              <a:srgbClr val="1B2440"/>
            </a:solidFill>
            <a:prstDash val="solid"/>
          </a:ln>
        </p:spPr>
      </p:sp>
      <p:sp>
        <p:nvSpPr>
          <p:cNvPr id="19" name="Text 17"/>
          <p:cNvSpPr txBox="1"/>
          <p:nvPr/>
        </p:nvSpPr>
        <p:spPr>
          <a:xfrm>
            <a:off x="8311896" y="2560320"/>
            <a:ext cx="3154680" cy="676656"/>
          </a:xfrm>
          <a:prstGeom prst="rect">
            <a:avLst/>
          </a:prstGeom>
          <a:noFill/>
          <a:ln/>
        </p:spPr>
        <p:txBody>
          <a:bodyPr wrap="square" lIns="101600" tIns="127000" rIns="127000" bIns="101600" rtlCol="0" anchor="t"/>
          <a:lstStyle/>
          <a:p>
            <a:pPr indent="0" marL="0">
              <a:lnSpc>
                <a:spcPct val="105000"/>
              </a:lnSpc>
              <a:buNone/>
            </a:pPr>
            <a:r>
              <a:rPr lang="en-US" sz="1100" b="1" dirty="0">
                <a:solidFill>
                  <a:srgbClr val="E6EAF2"/>
                </a:solidFill>
                <a:latin typeface="Courier New" pitchFamily="34" charset="0"/>
                <a:ea typeface="Courier New" pitchFamily="34" charset="-122"/>
                <a:cs typeface="Courier New" pitchFamily="34" charset="-120"/>
              </a:rPr>
              <a:t>/agent-ready:adopt-pocock-</a:t>
            </a:r>
            <a:endParaRPr lang="en-US" sz="1100" dirty="0"/>
          </a:p>
          <a:p>
            <a:pPr indent="0" marL="0">
              <a:lnSpc>
                <a:spcPct val="105000"/>
              </a:lnSpc>
              <a:buNone/>
            </a:pPr>
            <a:r>
              <a:rPr lang="en-US" sz="1100" b="1" dirty="0">
                <a:solidFill>
                  <a:srgbClr val="E6EAF2"/>
                </a:solidFill>
                <a:latin typeface="Courier New" pitchFamily="34" charset="0"/>
                <a:ea typeface="Courier New" pitchFamily="34" charset="-122"/>
                <a:cs typeface="Courier New" pitchFamily="34" charset="-120"/>
              </a:rPr>
              <a:t>  methodology</a:t>
            </a:r>
            <a:endParaRPr lang="en-US" sz="1100" dirty="0"/>
          </a:p>
        </p:txBody>
      </p:sp>
      <p:sp>
        <p:nvSpPr>
          <p:cNvPr id="20" name="Text 18"/>
          <p:cNvSpPr txBox="1"/>
          <p:nvPr/>
        </p:nvSpPr>
        <p:spPr>
          <a:xfrm>
            <a:off x="8311896" y="3374136"/>
            <a:ext cx="3154680" cy="1463040"/>
          </a:xfrm>
          <a:prstGeom prst="rect">
            <a:avLst/>
          </a:prstGeom>
          <a:noFill/>
          <a:ln/>
        </p:spPr>
        <p:txBody>
          <a:bodyPr wrap="square" lIns="0" tIns="0" rIns="0" bIns="0" rtlCol="0" anchor="t"/>
          <a:lstStyle/>
          <a:p>
            <a:pPr indent="0" marL="0">
              <a:buNone/>
            </a:pPr>
            <a:r>
              <a:rPr lang="en-US" sz="1300" dirty="0">
                <a:solidFill>
                  <a:srgbClr val="4A5468"/>
                </a:solidFill>
                <a:latin typeface="Arial" pitchFamily="34" charset="0"/>
                <a:ea typeface="Arial" pitchFamily="34" charset="-122"/>
                <a:cs typeface="Arial" pitchFamily="34" charset="-120"/>
              </a:rPr>
              <a:t>Switches Superpowers off for the repo and folds old specs and plans into CONTEXT.md, ADRs and issues. One PR, merged by a human.</a:t>
            </a:r>
            <a:endParaRPr lang="en-US" sz="1300" dirty="0"/>
          </a:p>
        </p:txBody>
      </p:sp>
      <p:sp>
        <p:nvSpPr>
          <p:cNvPr id="21" name="Text 19"/>
          <p:cNvSpPr txBox="1"/>
          <p:nvPr/>
        </p:nvSpPr>
        <p:spPr>
          <a:xfrm>
            <a:off x="548640" y="4754880"/>
            <a:ext cx="11094415" cy="548640"/>
          </a:xfrm>
          <a:prstGeom prst="rect">
            <a:avLst/>
          </a:prstGeom>
          <a:noFill/>
          <a:ln/>
        </p:spPr>
        <p:txBody>
          <a:bodyPr wrap="square" lIns="0" tIns="0" rIns="0" bIns="0" rtlCol="0" anchor="ctr"/>
          <a:lstStyle/>
          <a:p>
            <a:pPr indent="0" marL="0">
              <a:buNone/>
            </a:pPr>
            <a:r>
              <a:rPr lang="en-US" sz="1400" dirty="0">
                <a:solidFill>
                  <a:srgbClr val="4A5468"/>
                </a:solidFill>
                <a:latin typeface="Arial" pitchFamily="34" charset="0"/>
                <a:ea typeface="Arial" pitchFamily="34" charset="-122"/>
                <a:cs typeface="Arial" pitchFamily="34" charset="-120"/>
              </a:rPr>
              <a:t>Not ready to drop Superpowers? The Stay Stubborn tier keeps its plan-and-execute loop and routes design, specs, tickets and review to Pocock's skills.</a:t>
            </a:r>
            <a:endParaRPr lang="en-US" sz="1400" dirty="0"/>
          </a:p>
        </p:txBody>
      </p:sp>
      <p:sp>
        <p:nvSpPr>
          <p:cNvPr id="22" name="Text 20"/>
          <p:cNvSpPr txBox="1"/>
          <p:nvPr/>
        </p:nvSpPr>
        <p:spPr>
          <a:xfrm>
            <a:off x="548640" y="6473952"/>
            <a:ext cx="10058400" cy="219456"/>
          </a:xfrm>
          <a:prstGeom prst="rect">
            <a:avLst/>
          </a:prstGeom>
          <a:noFill/>
          <a:ln/>
        </p:spPr>
        <p:txBody>
          <a:bodyPr wrap="square" lIns="0" tIns="0" rIns="0" bIns="0" rtlCol="0" anchor="ctr"/>
          <a:lstStyle/>
          <a:p>
            <a:pPr indent="0" marL="0">
              <a:buNone/>
            </a:pPr>
            <a:r>
              <a:rPr lang="en-US" sz="900" dirty="0">
                <a:solidFill>
                  <a:srgbClr val="8D99B3"/>
                </a:solidFill>
                <a:latin typeface="Arial" pitchFamily="34" charset="0"/>
                <a:ea typeface="Arial" pitchFamily="34" charset="-122"/>
                <a:cs typeface="Arial" pitchFamily="34" charset="-120"/>
              </a:rPr>
              <a:t>Source: agent-ready README</a:t>
            </a:r>
            <a:endParaRPr lang="en-US" sz="900" dirty="0"/>
          </a:p>
        </p:txBody>
      </p:sp>
      <p:sp>
        <p:nvSpPr>
          <p:cNvPr id="23" name="Text 21"/>
          <p:cNvSpPr txBox="1"/>
          <p:nvPr/>
        </p:nvSpPr>
        <p:spPr>
          <a:xfrm>
            <a:off x="11185855" y="6473952"/>
            <a:ext cx="457200" cy="219456"/>
          </a:xfrm>
          <a:prstGeom prst="rect">
            <a:avLst/>
          </a:prstGeom>
          <a:noFill/>
          <a:ln/>
        </p:spPr>
        <p:txBody>
          <a:bodyPr wrap="square" lIns="0" tIns="0" rIns="0" bIns="0" rtlCol="0" anchor="ctr"/>
          <a:lstStyle/>
          <a:p>
            <a:pPr algn="r" indent="0" marL="0">
              <a:buNone/>
            </a:pPr>
            <a:r>
              <a:rPr lang="en-US" sz="900" dirty="0">
                <a:solidFill>
                  <a:srgbClr val="8D99B3"/>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we move from Superpowers to Pocock's skills</dc:title>
  <dc:subject>PptxGenJS Presentation</dc:subject>
  <dc:creator>PptxGenJS</dc:creator>
  <cp:lastModifiedBy>PptxGenJS</cp:lastModifiedBy>
  <cp:revision>1</cp:revision>
  <dcterms:created xsi:type="dcterms:W3CDTF">2026-09-28T11:45:39Z</dcterms:created>
  <dcterms:modified xsi:type="dcterms:W3CDTF">2026-09-28T11:45:39Z</dcterms:modified>
</cp:coreProperties>
</file>